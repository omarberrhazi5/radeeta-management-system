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page de garde est construite a partir du projet reel.
Les noms du stagiaire, de l encadrant et de l organisme d accueil n apparaissent pas dans le code.
Ils doivent donc etre completes manuellement avant la soutenance.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slide sert a annoncer une soutenance fluide et logique.
Le jury voit d abord le besoin, ensuite la conception, puis la realisation et enfin le bilan.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Dans cette introduction, il faut rappeler que le rapport n est pas theorique.
Chaque element presente ici a ete verifie dans les routes, les controllers, les modeles et le frontend.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slide doit etre adaptee avec les informations administratives reelles du stage.
En revanche, le contexte fonctionnel observe dans le code est deja exploitable pour la soutenance.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 idee ici est de montrer que le cahier des charges n est pas invente.
Il est reconstruit a partir des ecrans, des controllers et des ressources exposees par l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slide est importante pour la soutenance car elle montre la logique metier des profils.
On peut insister sur le fait que le technicien ne travaille que sur les elements qui lui sont affectes.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diagramme de cas d utilisation ne vient pas d une theorie externe.
Il a ete reconstruit a partir des routes API et des chemins React effectivement disponibles.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Ici, l objectif est de montrer la colonne vertebrale de la base.
On peut presenter d abord les tables de reference, puis la chaine metier terrain et enfin les tables de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slide detaille les tables vraiment importantes pour la comprehension du projet.
Les tables systeme comme personal_access_tokens, sessions ou password_reset_tokens peuvent etre citees a l oral si besoin.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architecture est tres lisible pour un jury.
Le frontend est une SPA React, le backend expose une API REST Laravel, et la base conserve les donnees metier.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slide met en valeur un vrai point fort du projet : la securite n est pas seulement visuelle.
Elle est effectivement appliquee au niveau des routes, des policies et des regles metier.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vous ajoutez des captures avant la soutenance, gardez cette organisation en quatre blocs.
Cela permet de presenter le parcours utilisateur sans surcharger les slides de texte.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slide permet de faire le lien entre le code et une future demonstration.
Les modules les plus parlants pour un jury sont souvent les interventions, la carte, l administration et les exports.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extraits permettent de montrer que la logique metier ne se limite pas aux formulaires.
Le backend garantit ici la coherence des donnees, meme si l interface evolue plus tard.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Ici, on peut montrer que le frontend participe aussi a la robustesse de l application.
La navigation est protegee, et les notifications rendent l outil vivant pour les utilisateurs.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slide est tres utile pour montrer une vision mature du projet.
Le but n est pas de dire qu il y avait des erreurs, mais de montrer comment elles ont ete traitees proprement.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conclusion doit rester positive et concrete.
On termine sur les acquis du stage, puis sur des pistes d amelioration deja visibles dans le code actuel.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D97706"/>
          </a:solidFill>
          <a:ln w="12700">
            <a:solidFill>
              <a:srgbClr val="D97706">
                <a:alpha val="0"/>
              </a:srgbClr>
            </a:solidFill>
            <a:prstDash val="solid"/>
          </a:ln>
        </p:spPr>
      </p:sp>
      <p:sp>
        <p:nvSpPr>
          <p:cNvPr id="3" name="Text 1"/>
          <p:cNvSpPr/>
          <p:nvPr/>
        </p:nvSpPr>
        <p:spPr>
          <a:xfrm>
            <a:off x="548640" y="329184"/>
            <a:ext cx="7498080" cy="411480"/>
          </a:xfrm>
          <a:prstGeom prst="rect">
            <a:avLst/>
          </a:prstGeom>
          <a:noFill/>
          <a:ln/>
        </p:spPr>
        <p:txBody>
          <a:bodyPr wrap="square" lIns="0" tIns="0" rIns="0" bIns="0" rtlCol="0" anchor="ctr"/>
          <a:lstStyle/>
          <a:p>
            <a:pPr indent="0" marL="0">
              <a:buNone/>
            </a:pPr>
            <a:r>
              <a:rPr lang="en-US" sz="2400" b="1" dirty="0">
                <a:solidFill>
                  <a:srgbClr val="FFFFFF"/>
                </a:solidFill>
              </a:rPr>
              <a:t>Rapport de stage professionnel</a:t>
            </a:r>
            <a:endParaRPr lang="en-US" sz="2400" dirty="0"/>
          </a:p>
        </p:txBody>
      </p:sp>
      <p:sp>
        <p:nvSpPr>
          <p:cNvPr id="4" name="Text 2"/>
          <p:cNvSpPr/>
          <p:nvPr/>
        </p:nvSpPr>
        <p:spPr>
          <a:xfrm>
            <a:off x="566928" y="768096"/>
            <a:ext cx="7863840" cy="329184"/>
          </a:xfrm>
          <a:prstGeom prst="rect">
            <a:avLst/>
          </a:prstGeom>
          <a:noFill/>
          <a:ln/>
        </p:spPr>
        <p:txBody>
          <a:bodyPr wrap="square" lIns="0" tIns="0" rIns="0" bIns="0" rtlCol="0" anchor="ctr"/>
          <a:lstStyle/>
          <a:p>
            <a:pPr indent="0" marL="0">
              <a:buNone/>
            </a:pPr>
            <a:r>
              <a:rPr lang="en-US" sz="1150" dirty="0">
                <a:solidFill>
                  <a:srgbClr val="D7E3F4"/>
                </a:solidFill>
              </a:rPr>
              <a:t>Presentation PowerPoint generee a partir du code source du projet</a:t>
            </a:r>
            <a:endParaRPr lang="en-US" sz="1150" dirty="0"/>
          </a:p>
        </p:txBody>
      </p:sp>
      <p:sp>
        <p:nvSpPr>
          <p:cNvPr id="5" name="Text 3"/>
          <p:cNvSpPr/>
          <p:nvPr/>
        </p:nvSpPr>
        <p:spPr>
          <a:xfrm>
            <a:off x="548640" y="6446520"/>
            <a:ext cx="4389120" cy="182880"/>
          </a:xfrm>
          <a:prstGeom prst="rect">
            <a:avLst/>
          </a:prstGeom>
          <a:noFill/>
          <a:ln/>
        </p:spPr>
        <p:txBody>
          <a:bodyPr wrap="square" lIns="0" tIns="0" rIns="0" bIns="0" rtlCol="0" anchor="ctr"/>
          <a:lstStyle/>
          <a:p>
            <a:pPr indent="0" marL="0">
              <a:buNone/>
            </a:pPr>
            <a:r>
              <a:rPr lang="en-US" sz="850" dirty="0">
                <a:solidFill>
                  <a:srgbClr val="E2E8F0"/>
                </a:solidFill>
              </a:rPr>
              <a:t>Analyse du code source - 10 mai 2026</a:t>
            </a:r>
            <a:endParaRPr lang="en-US" sz="850" dirty="0"/>
          </a:p>
        </p:txBody>
      </p:sp>
      <p:sp>
        <p:nvSpPr>
          <p:cNvPr id="6" name="Text 4"/>
          <p:cNvSpPr/>
          <p:nvPr/>
        </p:nvSpPr>
        <p:spPr>
          <a:xfrm>
            <a:off x="11064240" y="6419088"/>
            <a:ext cx="548640" cy="182880"/>
          </a:xfrm>
          <a:prstGeom prst="rect">
            <a:avLst/>
          </a:prstGeom>
          <a:noFill/>
          <a:ln/>
        </p:spPr>
        <p:txBody>
          <a:bodyPr wrap="square" lIns="0" tIns="0" rIns="0" bIns="0" rtlCol="0" anchor="ctr"/>
          <a:lstStyle/>
          <a:p>
            <a:pPr algn="r" indent="0" marL="0">
              <a:buNone/>
            </a:pPr>
            <a:r>
              <a:rPr lang="en-US" sz="900" b="1" dirty="0">
                <a:solidFill>
                  <a:srgbClr val="E2E8F0"/>
                </a:solidFill>
              </a:rPr>
              <a:t>1/17</a:t>
            </a:r>
            <a:endParaRPr lang="en-US" sz="900" dirty="0"/>
          </a:p>
        </p:txBody>
      </p:sp>
      <p:sp>
        <p:nvSpPr>
          <p:cNvPr id="7" name="Text 5"/>
          <p:cNvSpPr/>
          <p:nvPr/>
        </p:nvSpPr>
        <p:spPr>
          <a:xfrm>
            <a:off x="548640" y="1005840"/>
            <a:ext cx="5760720" cy="457200"/>
          </a:xfrm>
          <a:prstGeom prst="rect">
            <a:avLst/>
          </a:prstGeom>
          <a:noFill/>
          <a:ln/>
        </p:spPr>
        <p:txBody>
          <a:bodyPr wrap="square" lIns="0" tIns="0" rIns="0" bIns="0" rtlCol="0" anchor="ctr"/>
          <a:lstStyle/>
          <a:p>
            <a:pPr indent="0" marL="0">
              <a:buNone/>
            </a:pPr>
            <a:r>
              <a:rPr lang="en-US" sz="2800" b="1" dirty="0">
                <a:solidFill>
                  <a:srgbClr val="FFFFFF"/>
                </a:solidFill>
              </a:rPr>
              <a:t>RADEETA Management System</a:t>
            </a:r>
            <a:endParaRPr lang="en-US" sz="2800" dirty="0"/>
          </a:p>
        </p:txBody>
      </p:sp>
      <p:sp>
        <p:nvSpPr>
          <p:cNvPr id="8" name="Text 6"/>
          <p:cNvSpPr/>
          <p:nvPr/>
        </p:nvSpPr>
        <p:spPr>
          <a:xfrm>
            <a:off x="566928" y="1536192"/>
            <a:ext cx="5120640" cy="822960"/>
          </a:xfrm>
          <a:prstGeom prst="rect">
            <a:avLst/>
          </a:prstGeom>
          <a:noFill/>
          <a:ln/>
        </p:spPr>
        <p:txBody>
          <a:bodyPr wrap="square" lIns="0" tIns="0" rIns="0" bIns="0" rtlCol="0" anchor="ctr"/>
          <a:lstStyle/>
          <a:p>
            <a:pPr indent="0" marL="0">
              <a:buNone/>
            </a:pPr>
            <a:r>
              <a:rPr lang="en-US" sz="1300" dirty="0">
                <a:solidFill>
                  <a:srgbClr val="D7E3F4"/>
                </a:solidFill>
              </a:rPr>
              <a:t>Plateforme web de gestion des reclamations clients, des compteurs, des interventions techniques et du reporting SRM-FM Taza.</a:t>
            </a:r>
            <a:endParaRPr lang="en-US" sz="1300" dirty="0"/>
          </a:p>
        </p:txBody>
      </p:sp>
      <p:sp>
        <p:nvSpPr>
          <p:cNvPr id="9" name="Shape 7"/>
          <p:cNvSpPr/>
          <p:nvPr/>
        </p:nvSpPr>
        <p:spPr>
          <a:xfrm>
            <a:off x="566928" y="2514600"/>
            <a:ext cx="5074920" cy="2194560"/>
          </a:xfrm>
          <a:prstGeom prst="roundRect">
            <a:avLst>
              <a:gd name="adj" fmla="val 4167"/>
            </a:avLst>
          </a:prstGeom>
          <a:solidFill>
            <a:srgbClr val="111827">
              <a:alpha val="90000"/>
            </a:srgbClr>
          </a:solidFill>
          <a:ln w="12700">
            <a:solidFill>
              <a:srgbClr val="334155"/>
            </a:solidFill>
            <a:prstDash val="solid"/>
          </a:ln>
        </p:spPr>
      </p:sp>
      <p:sp>
        <p:nvSpPr>
          <p:cNvPr id="10" name="Text 8"/>
          <p:cNvSpPr/>
          <p:nvPr/>
        </p:nvSpPr>
        <p:spPr>
          <a:xfrm>
            <a:off x="804672" y="2761488"/>
            <a:ext cx="4526280" cy="1600200"/>
          </a:xfrm>
          <a:prstGeom prst="rect">
            <a:avLst/>
          </a:prstGeom>
          <a:noFill/>
          <a:ln/>
        </p:spPr>
        <p:txBody>
          <a:bodyPr wrap="square" lIns="0" tIns="0" rIns="0" bIns="0" rtlCol="0" anchor="ctr"/>
          <a:lstStyle/>
          <a:p>
            <a:pPr indent="0" marL="0">
              <a:buNone/>
            </a:pPr>
            <a:r>
              <a:rPr lang="en-US" sz="1250" dirty="0">
                <a:solidFill>
                  <a:srgbClr val="FFFFFF"/>
                </a:solidFill>
              </a:rPr>
              <a:t>Stagiaire : A completer</a:t>
            </a:r>
            <a:endParaRPr lang="en-US" sz="1250" dirty="0"/>
          </a:p>
          <a:p>
            <a:pPr indent="0" marL="0">
              <a:buNone/>
            </a:pPr>
            <a:r>
              <a:rPr lang="en-US" sz="1250" dirty="0">
                <a:solidFill>
                  <a:srgbClr val="FFFFFF"/>
                </a:solidFill>
              </a:rPr>
              <a:t>Encadrant : A completer</a:t>
            </a:r>
            <a:endParaRPr lang="en-US" sz="1250" dirty="0"/>
          </a:p>
          <a:p>
            <a:pPr indent="0" marL="0">
              <a:buNone/>
            </a:pPr>
            <a:r>
              <a:rPr lang="en-US" sz="1250" dirty="0">
                <a:solidFill>
                  <a:srgbClr val="FFFFFF"/>
                </a:solidFill>
              </a:rPr>
              <a:t>Etablissement / entreprise : A completer</a:t>
            </a:r>
            <a:endParaRPr lang="en-US" sz="1250" dirty="0"/>
          </a:p>
          <a:p>
            <a:pPr indent="0" marL="0">
              <a:buNone/>
            </a:pPr>
            <a:r>
              <a:rPr lang="en-US" sz="1250" dirty="0">
                <a:solidFill>
                  <a:srgbClr val="FFFFFF"/>
                </a:solidFill>
              </a:rPr>
              <a:t>Organisme cible observe dans le code : SRM-FM Taza</a:t>
            </a:r>
            <a:endParaRPr lang="en-US" sz="1250" dirty="0"/>
          </a:p>
          <a:p>
            <a:pPr indent="0" marL="0">
              <a:buNone/>
            </a:pPr>
            <a:r>
              <a:rPr lang="en-US" sz="1250" dirty="0">
                <a:solidFill>
                  <a:srgbClr val="FFFFFF"/>
                </a:solidFill>
              </a:rPr>
              <a:t>Annee de stage : 2025 - 2026</a:t>
            </a:r>
            <a:endParaRPr lang="en-US" sz="1250" dirty="0"/>
          </a:p>
        </p:txBody>
      </p:sp>
      <p:sp>
        <p:nvSpPr>
          <p:cNvPr id="11" name="Text 9"/>
          <p:cNvSpPr/>
          <p:nvPr/>
        </p:nvSpPr>
        <p:spPr>
          <a:xfrm>
            <a:off x="804672" y="4242816"/>
            <a:ext cx="4389120" cy="256032"/>
          </a:xfrm>
          <a:prstGeom prst="rect">
            <a:avLst/>
          </a:prstGeom>
          <a:noFill/>
          <a:ln/>
        </p:spPr>
        <p:txBody>
          <a:bodyPr wrap="square" lIns="0" tIns="0" rIns="0" bIns="0" rtlCol="0" anchor="ctr"/>
          <a:lstStyle/>
          <a:p>
            <a:pPr indent="0" marL="0">
              <a:buNone/>
            </a:pPr>
            <a:r>
              <a:rPr lang="en-US" sz="950" i="1" dirty="0">
                <a:solidFill>
                  <a:srgbClr val="CBD5E1"/>
                </a:solidFill>
              </a:rPr>
              <a:t>Les champs personnels peuvent etre completes manuellement dans PowerPoint avant la soutenance.</a:t>
            </a:r>
            <a:endParaRPr lang="en-US" sz="950" dirty="0"/>
          </a:p>
        </p:txBody>
      </p:sp>
      <p:sp>
        <p:nvSpPr>
          <p:cNvPr id="12" name="Shape 10"/>
          <p:cNvSpPr/>
          <p:nvPr/>
        </p:nvSpPr>
        <p:spPr>
          <a:xfrm>
            <a:off x="6537960" y="896112"/>
            <a:ext cx="5010912" cy="5166360"/>
          </a:xfrm>
          <a:prstGeom prst="roundRect">
            <a:avLst>
              <a:gd name="adj" fmla="val 2190"/>
            </a:avLst>
          </a:prstGeom>
          <a:solidFill>
            <a:srgbClr val="0B1220">
              <a:alpha val="97000"/>
            </a:srgbClr>
          </a:solidFill>
          <a:ln w="12700">
            <a:solidFill>
              <a:srgbClr val="334155"/>
            </a:solidFill>
            <a:prstDash val="solid"/>
          </a:ln>
        </p:spPr>
      </p:sp>
      <p:sp>
        <p:nvSpPr>
          <p:cNvPr id="13" name="Text 11"/>
          <p:cNvSpPr/>
          <p:nvPr/>
        </p:nvSpPr>
        <p:spPr>
          <a:xfrm>
            <a:off x="6839712" y="1115568"/>
            <a:ext cx="3291840" cy="256032"/>
          </a:xfrm>
          <a:prstGeom prst="rect">
            <a:avLst/>
          </a:prstGeom>
          <a:noFill/>
          <a:ln/>
        </p:spPr>
        <p:txBody>
          <a:bodyPr wrap="square" lIns="0" tIns="0" rIns="0" bIns="0" rtlCol="0" anchor="ctr"/>
          <a:lstStyle/>
          <a:p>
            <a:pPr indent="0" marL="0">
              <a:buNone/>
            </a:pPr>
            <a:r>
              <a:rPr lang="en-US" sz="1300" b="1" dirty="0">
                <a:solidFill>
                  <a:srgbClr val="FFFFFF"/>
                </a:solidFill>
              </a:rPr>
              <a:t>Indicateurs releves dans le code</a:t>
            </a:r>
            <a:endParaRPr lang="en-US" sz="1300" dirty="0"/>
          </a:p>
        </p:txBody>
      </p:sp>
      <p:sp>
        <p:nvSpPr>
          <p:cNvPr id="14" name="Shape 12"/>
          <p:cNvSpPr/>
          <p:nvPr/>
        </p:nvSpPr>
        <p:spPr>
          <a:xfrm>
            <a:off x="6812280" y="1572768"/>
            <a:ext cx="2148840" cy="1005840"/>
          </a:xfrm>
          <a:prstGeom prst="roundRect">
            <a:avLst>
              <a:gd name="adj" fmla="val 9091"/>
            </a:avLst>
          </a:prstGeom>
          <a:solidFill>
            <a:srgbClr val="111827">
              <a:alpha val="92000"/>
            </a:srgbClr>
          </a:solidFill>
          <a:ln w="12700">
            <a:solidFill>
              <a:srgbClr val="334155"/>
            </a:solidFill>
            <a:prstDash val="solid"/>
          </a:ln>
        </p:spPr>
      </p:sp>
      <p:sp>
        <p:nvSpPr>
          <p:cNvPr id="15" name="Shape 13"/>
          <p:cNvSpPr/>
          <p:nvPr/>
        </p:nvSpPr>
        <p:spPr>
          <a:xfrm>
            <a:off x="6976872" y="1737360"/>
            <a:ext cx="91440" cy="676656"/>
          </a:xfrm>
          <a:prstGeom prst="rect">
            <a:avLst/>
          </a:prstGeom>
          <a:solidFill>
            <a:srgbClr val="2563EB"/>
          </a:solidFill>
          <a:ln w="12700">
            <a:solidFill>
              <a:srgbClr val="2563EB">
                <a:alpha val="0"/>
              </a:srgbClr>
            </a:solidFill>
            <a:prstDash val="solid"/>
          </a:ln>
        </p:spPr>
      </p:sp>
      <p:sp>
        <p:nvSpPr>
          <p:cNvPr id="16" name="Text 14"/>
          <p:cNvSpPr/>
          <p:nvPr/>
        </p:nvSpPr>
        <p:spPr>
          <a:xfrm>
            <a:off x="7159752" y="1719072"/>
            <a:ext cx="1691640" cy="310896"/>
          </a:xfrm>
          <a:prstGeom prst="rect">
            <a:avLst/>
          </a:prstGeom>
          <a:noFill/>
          <a:ln/>
        </p:spPr>
        <p:txBody>
          <a:bodyPr wrap="square" lIns="0" tIns="0" rIns="0" bIns="0" rtlCol="0" anchor="ctr"/>
          <a:lstStyle/>
          <a:p>
            <a:pPr indent="0" marL="0">
              <a:buNone/>
            </a:pPr>
            <a:r>
              <a:rPr lang="en-US" sz="2000" b="1" dirty="0">
                <a:solidFill>
                  <a:srgbClr val="FFFFFF"/>
                </a:solidFill>
              </a:rPr>
              <a:t>6</a:t>
            </a:r>
            <a:endParaRPr lang="en-US" sz="2000" dirty="0"/>
          </a:p>
        </p:txBody>
      </p:sp>
      <p:sp>
        <p:nvSpPr>
          <p:cNvPr id="17" name="Text 15"/>
          <p:cNvSpPr/>
          <p:nvPr/>
        </p:nvSpPr>
        <p:spPr>
          <a:xfrm>
            <a:off x="7159752" y="2084832"/>
            <a:ext cx="1691640" cy="384048"/>
          </a:xfrm>
          <a:prstGeom prst="rect">
            <a:avLst/>
          </a:prstGeom>
          <a:noFill/>
          <a:ln/>
        </p:spPr>
        <p:txBody>
          <a:bodyPr wrap="square" lIns="0" tIns="0" rIns="0" bIns="0" rtlCol="0" anchor="ctr"/>
          <a:lstStyle/>
          <a:p>
            <a:pPr indent="0" marL="0">
              <a:buNone/>
            </a:pPr>
            <a:r>
              <a:rPr lang="en-US" sz="950" dirty="0">
                <a:solidFill>
                  <a:srgbClr val="D7E3F4"/>
                </a:solidFill>
              </a:rPr>
              <a:t>roles metier + 1 role technique</a:t>
            </a:r>
            <a:endParaRPr lang="en-US" sz="950" dirty="0"/>
          </a:p>
        </p:txBody>
      </p:sp>
      <p:sp>
        <p:nvSpPr>
          <p:cNvPr id="18" name="Shape 16"/>
          <p:cNvSpPr/>
          <p:nvPr/>
        </p:nvSpPr>
        <p:spPr>
          <a:xfrm>
            <a:off x="9107424" y="1572768"/>
            <a:ext cx="2148840" cy="1005840"/>
          </a:xfrm>
          <a:prstGeom prst="roundRect">
            <a:avLst>
              <a:gd name="adj" fmla="val 9091"/>
            </a:avLst>
          </a:prstGeom>
          <a:solidFill>
            <a:srgbClr val="111827">
              <a:alpha val="92000"/>
            </a:srgbClr>
          </a:solidFill>
          <a:ln w="12700">
            <a:solidFill>
              <a:srgbClr val="334155"/>
            </a:solidFill>
            <a:prstDash val="solid"/>
          </a:ln>
        </p:spPr>
      </p:sp>
      <p:sp>
        <p:nvSpPr>
          <p:cNvPr id="19" name="Shape 17"/>
          <p:cNvSpPr/>
          <p:nvPr/>
        </p:nvSpPr>
        <p:spPr>
          <a:xfrm>
            <a:off x="9272016" y="1737360"/>
            <a:ext cx="91440" cy="676656"/>
          </a:xfrm>
          <a:prstGeom prst="rect">
            <a:avLst/>
          </a:prstGeom>
          <a:solidFill>
            <a:srgbClr val="D97706"/>
          </a:solidFill>
          <a:ln w="12700">
            <a:solidFill>
              <a:srgbClr val="D97706">
                <a:alpha val="0"/>
              </a:srgbClr>
            </a:solidFill>
            <a:prstDash val="solid"/>
          </a:ln>
        </p:spPr>
      </p:sp>
      <p:sp>
        <p:nvSpPr>
          <p:cNvPr id="20" name="Text 18"/>
          <p:cNvSpPr/>
          <p:nvPr/>
        </p:nvSpPr>
        <p:spPr>
          <a:xfrm>
            <a:off x="9454896" y="1719072"/>
            <a:ext cx="1691640" cy="310896"/>
          </a:xfrm>
          <a:prstGeom prst="rect">
            <a:avLst/>
          </a:prstGeom>
          <a:noFill/>
          <a:ln/>
        </p:spPr>
        <p:txBody>
          <a:bodyPr wrap="square" lIns="0" tIns="0" rIns="0" bIns="0" rtlCol="0" anchor="ctr"/>
          <a:lstStyle/>
          <a:p>
            <a:pPr indent="0" marL="0">
              <a:buNone/>
            </a:pPr>
            <a:r>
              <a:rPr lang="en-US" sz="2000" b="1" dirty="0">
                <a:solidFill>
                  <a:srgbClr val="FFFFFF"/>
                </a:solidFill>
              </a:rPr>
              <a:t>11</a:t>
            </a:r>
            <a:endParaRPr lang="en-US" sz="2000" dirty="0"/>
          </a:p>
        </p:txBody>
      </p:sp>
      <p:sp>
        <p:nvSpPr>
          <p:cNvPr id="21" name="Text 19"/>
          <p:cNvSpPr/>
          <p:nvPr/>
        </p:nvSpPr>
        <p:spPr>
          <a:xfrm>
            <a:off x="9454896" y="2084832"/>
            <a:ext cx="1691640" cy="384048"/>
          </a:xfrm>
          <a:prstGeom prst="rect">
            <a:avLst/>
          </a:prstGeom>
          <a:noFill/>
          <a:ln/>
        </p:spPr>
        <p:txBody>
          <a:bodyPr wrap="square" lIns="0" tIns="0" rIns="0" bIns="0" rtlCol="0" anchor="ctr"/>
          <a:lstStyle/>
          <a:p>
            <a:pPr indent="0" marL="0">
              <a:buNone/>
            </a:pPr>
            <a:r>
              <a:rPr lang="en-US" sz="950" dirty="0">
                <a:solidFill>
                  <a:srgbClr val="D7E3F4"/>
                </a:solidFill>
              </a:rPr>
              <a:t>tables principales analysees</a:t>
            </a:r>
            <a:endParaRPr lang="en-US" sz="950" dirty="0"/>
          </a:p>
        </p:txBody>
      </p:sp>
      <p:sp>
        <p:nvSpPr>
          <p:cNvPr id="22" name="Shape 20"/>
          <p:cNvSpPr/>
          <p:nvPr/>
        </p:nvSpPr>
        <p:spPr>
          <a:xfrm>
            <a:off x="6812280" y="2724912"/>
            <a:ext cx="2148840" cy="1005840"/>
          </a:xfrm>
          <a:prstGeom prst="roundRect">
            <a:avLst>
              <a:gd name="adj" fmla="val 9091"/>
            </a:avLst>
          </a:prstGeom>
          <a:solidFill>
            <a:srgbClr val="111827">
              <a:alpha val="92000"/>
            </a:srgbClr>
          </a:solidFill>
          <a:ln w="12700">
            <a:solidFill>
              <a:srgbClr val="334155"/>
            </a:solidFill>
            <a:prstDash val="solid"/>
          </a:ln>
        </p:spPr>
      </p:sp>
      <p:sp>
        <p:nvSpPr>
          <p:cNvPr id="23" name="Shape 21"/>
          <p:cNvSpPr/>
          <p:nvPr/>
        </p:nvSpPr>
        <p:spPr>
          <a:xfrm>
            <a:off x="6976872" y="2889504"/>
            <a:ext cx="91440" cy="676656"/>
          </a:xfrm>
          <a:prstGeom prst="rect">
            <a:avLst/>
          </a:prstGeom>
          <a:solidFill>
            <a:srgbClr val="0891B2"/>
          </a:solidFill>
          <a:ln w="12700">
            <a:solidFill>
              <a:srgbClr val="0891B2">
                <a:alpha val="0"/>
              </a:srgbClr>
            </a:solidFill>
            <a:prstDash val="solid"/>
          </a:ln>
        </p:spPr>
      </p:sp>
      <p:sp>
        <p:nvSpPr>
          <p:cNvPr id="24" name="Text 22"/>
          <p:cNvSpPr/>
          <p:nvPr/>
        </p:nvSpPr>
        <p:spPr>
          <a:xfrm>
            <a:off x="7159752" y="2871216"/>
            <a:ext cx="1691640" cy="310896"/>
          </a:xfrm>
          <a:prstGeom prst="rect">
            <a:avLst/>
          </a:prstGeom>
          <a:noFill/>
          <a:ln/>
        </p:spPr>
        <p:txBody>
          <a:bodyPr wrap="square" lIns="0" tIns="0" rIns="0" bIns="0" rtlCol="0" anchor="ctr"/>
          <a:lstStyle/>
          <a:p>
            <a:pPr indent="0" marL="0">
              <a:buNone/>
            </a:pPr>
            <a:r>
              <a:rPr lang="en-US" sz="2000" b="1" dirty="0">
                <a:solidFill>
                  <a:srgbClr val="FFFFFF"/>
                </a:solidFill>
              </a:rPr>
              <a:t>53</a:t>
            </a:r>
            <a:endParaRPr lang="en-US" sz="2000" dirty="0"/>
          </a:p>
        </p:txBody>
      </p:sp>
      <p:sp>
        <p:nvSpPr>
          <p:cNvPr id="25" name="Text 23"/>
          <p:cNvSpPr/>
          <p:nvPr/>
        </p:nvSpPr>
        <p:spPr>
          <a:xfrm>
            <a:off x="7159752" y="3236976"/>
            <a:ext cx="1691640" cy="384048"/>
          </a:xfrm>
          <a:prstGeom prst="rect">
            <a:avLst/>
          </a:prstGeom>
          <a:noFill/>
          <a:ln/>
        </p:spPr>
        <p:txBody>
          <a:bodyPr wrap="square" lIns="0" tIns="0" rIns="0" bIns="0" rtlCol="0" anchor="ctr"/>
          <a:lstStyle/>
          <a:p>
            <a:pPr indent="0" marL="0">
              <a:buNone/>
            </a:pPr>
            <a:r>
              <a:rPr lang="en-US" sz="950" dirty="0">
                <a:solidFill>
                  <a:srgbClr val="D7E3F4"/>
                </a:solidFill>
              </a:rPr>
              <a:t>routes API Laravel</a:t>
            </a:r>
            <a:endParaRPr lang="en-US" sz="950" dirty="0"/>
          </a:p>
        </p:txBody>
      </p:sp>
      <p:sp>
        <p:nvSpPr>
          <p:cNvPr id="26" name="Shape 24"/>
          <p:cNvSpPr/>
          <p:nvPr/>
        </p:nvSpPr>
        <p:spPr>
          <a:xfrm>
            <a:off x="9107424" y="2724912"/>
            <a:ext cx="2148840" cy="1005840"/>
          </a:xfrm>
          <a:prstGeom prst="roundRect">
            <a:avLst>
              <a:gd name="adj" fmla="val 9091"/>
            </a:avLst>
          </a:prstGeom>
          <a:solidFill>
            <a:srgbClr val="111827">
              <a:alpha val="92000"/>
            </a:srgbClr>
          </a:solidFill>
          <a:ln w="12700">
            <a:solidFill>
              <a:srgbClr val="334155"/>
            </a:solidFill>
            <a:prstDash val="solid"/>
          </a:ln>
        </p:spPr>
      </p:sp>
      <p:sp>
        <p:nvSpPr>
          <p:cNvPr id="27" name="Shape 25"/>
          <p:cNvSpPr/>
          <p:nvPr/>
        </p:nvSpPr>
        <p:spPr>
          <a:xfrm>
            <a:off x="9272016" y="2889504"/>
            <a:ext cx="91440" cy="676656"/>
          </a:xfrm>
          <a:prstGeom prst="rect">
            <a:avLst/>
          </a:prstGeom>
          <a:solidFill>
            <a:srgbClr val="059669"/>
          </a:solidFill>
          <a:ln w="12700">
            <a:solidFill>
              <a:srgbClr val="059669">
                <a:alpha val="0"/>
              </a:srgbClr>
            </a:solidFill>
            <a:prstDash val="solid"/>
          </a:ln>
        </p:spPr>
      </p:sp>
      <p:sp>
        <p:nvSpPr>
          <p:cNvPr id="28" name="Text 26"/>
          <p:cNvSpPr/>
          <p:nvPr/>
        </p:nvSpPr>
        <p:spPr>
          <a:xfrm>
            <a:off x="9454896" y="2871216"/>
            <a:ext cx="1691640" cy="310896"/>
          </a:xfrm>
          <a:prstGeom prst="rect">
            <a:avLst/>
          </a:prstGeom>
          <a:noFill/>
          <a:ln/>
        </p:spPr>
        <p:txBody>
          <a:bodyPr wrap="square" lIns="0" tIns="0" rIns="0" bIns="0" rtlCol="0" anchor="ctr"/>
          <a:lstStyle/>
          <a:p>
            <a:pPr indent="0" marL="0">
              <a:buNone/>
            </a:pPr>
            <a:r>
              <a:rPr lang="en-US" sz="2000" b="1" dirty="0">
                <a:solidFill>
                  <a:srgbClr val="FFFFFF"/>
                </a:solidFill>
              </a:rPr>
              <a:t>15</a:t>
            </a:r>
            <a:endParaRPr lang="en-US" sz="2000" dirty="0"/>
          </a:p>
        </p:txBody>
      </p:sp>
      <p:sp>
        <p:nvSpPr>
          <p:cNvPr id="29" name="Text 27"/>
          <p:cNvSpPr/>
          <p:nvPr/>
        </p:nvSpPr>
        <p:spPr>
          <a:xfrm>
            <a:off x="9454896" y="3236976"/>
            <a:ext cx="1691640" cy="384048"/>
          </a:xfrm>
          <a:prstGeom prst="rect">
            <a:avLst/>
          </a:prstGeom>
          <a:noFill/>
          <a:ln/>
        </p:spPr>
        <p:txBody>
          <a:bodyPr wrap="square" lIns="0" tIns="0" rIns="0" bIns="0" rtlCol="0" anchor="ctr"/>
          <a:lstStyle/>
          <a:p>
            <a:pPr indent="0" marL="0">
              <a:buNone/>
            </a:pPr>
            <a:r>
              <a:rPr lang="en-US" sz="950" dirty="0">
                <a:solidFill>
                  <a:srgbClr val="D7E3F4"/>
                </a:solidFill>
              </a:rPr>
              <a:t>tests backend passes</a:t>
            </a:r>
            <a:endParaRPr lang="en-US" sz="950" dirty="0"/>
          </a:p>
        </p:txBody>
      </p:sp>
      <p:sp>
        <p:nvSpPr>
          <p:cNvPr id="30" name="Shape 28"/>
          <p:cNvSpPr/>
          <p:nvPr/>
        </p:nvSpPr>
        <p:spPr>
          <a:xfrm>
            <a:off x="6812280" y="3877056"/>
            <a:ext cx="2148840" cy="1005840"/>
          </a:xfrm>
          <a:prstGeom prst="roundRect">
            <a:avLst>
              <a:gd name="adj" fmla="val 9091"/>
            </a:avLst>
          </a:prstGeom>
          <a:solidFill>
            <a:srgbClr val="111827">
              <a:alpha val="92000"/>
            </a:srgbClr>
          </a:solidFill>
          <a:ln w="12700">
            <a:solidFill>
              <a:srgbClr val="334155"/>
            </a:solidFill>
            <a:prstDash val="solid"/>
          </a:ln>
        </p:spPr>
      </p:sp>
      <p:sp>
        <p:nvSpPr>
          <p:cNvPr id="31" name="Shape 29"/>
          <p:cNvSpPr/>
          <p:nvPr/>
        </p:nvSpPr>
        <p:spPr>
          <a:xfrm>
            <a:off x="6976872" y="4041648"/>
            <a:ext cx="91440" cy="676656"/>
          </a:xfrm>
          <a:prstGeom prst="rect">
            <a:avLst/>
          </a:prstGeom>
          <a:solidFill>
            <a:srgbClr val="DC2626"/>
          </a:solidFill>
          <a:ln w="12700">
            <a:solidFill>
              <a:srgbClr val="DC2626">
                <a:alpha val="0"/>
              </a:srgbClr>
            </a:solidFill>
            <a:prstDash val="solid"/>
          </a:ln>
        </p:spPr>
      </p:sp>
      <p:sp>
        <p:nvSpPr>
          <p:cNvPr id="32" name="Text 30"/>
          <p:cNvSpPr/>
          <p:nvPr/>
        </p:nvSpPr>
        <p:spPr>
          <a:xfrm>
            <a:off x="7159752" y="4023360"/>
            <a:ext cx="1691640" cy="310896"/>
          </a:xfrm>
          <a:prstGeom prst="rect">
            <a:avLst/>
          </a:prstGeom>
          <a:noFill/>
          <a:ln/>
        </p:spPr>
        <p:txBody>
          <a:bodyPr wrap="square" lIns="0" tIns="0" rIns="0" bIns="0" rtlCol="0" anchor="ctr"/>
          <a:lstStyle/>
          <a:p>
            <a:pPr indent="0" marL="0">
              <a:buNone/>
            </a:pPr>
            <a:r>
              <a:rPr lang="en-US" sz="2000" b="1" dirty="0">
                <a:solidFill>
                  <a:srgbClr val="FFFFFF"/>
                </a:solidFill>
              </a:rPr>
              <a:t>2</a:t>
            </a:r>
            <a:endParaRPr lang="en-US" sz="2000" dirty="0"/>
          </a:p>
        </p:txBody>
      </p:sp>
      <p:sp>
        <p:nvSpPr>
          <p:cNvPr id="33" name="Text 31"/>
          <p:cNvSpPr/>
          <p:nvPr/>
        </p:nvSpPr>
        <p:spPr>
          <a:xfrm>
            <a:off x="7159752" y="4389120"/>
            <a:ext cx="1691640" cy="384048"/>
          </a:xfrm>
          <a:prstGeom prst="rect">
            <a:avLst/>
          </a:prstGeom>
          <a:noFill/>
          <a:ln/>
        </p:spPr>
        <p:txBody>
          <a:bodyPr wrap="square" lIns="0" tIns="0" rIns="0" bIns="0" rtlCol="0" anchor="ctr"/>
          <a:lstStyle/>
          <a:p>
            <a:pPr indent="0" marL="0">
              <a:buNone/>
            </a:pPr>
            <a:r>
              <a:rPr lang="en-US" sz="950" dirty="0">
                <a:solidFill>
                  <a:srgbClr val="D7E3F4"/>
                </a:solidFill>
              </a:rPr>
              <a:t>formats d export: PDF / Excel</a:t>
            </a:r>
            <a:endParaRPr lang="en-US" sz="950" dirty="0"/>
          </a:p>
        </p:txBody>
      </p:sp>
      <p:sp>
        <p:nvSpPr>
          <p:cNvPr id="34" name="Shape 32"/>
          <p:cNvSpPr/>
          <p:nvPr/>
        </p:nvSpPr>
        <p:spPr>
          <a:xfrm>
            <a:off x="9107424" y="3877056"/>
            <a:ext cx="2148840" cy="1005840"/>
          </a:xfrm>
          <a:prstGeom prst="roundRect">
            <a:avLst>
              <a:gd name="adj" fmla="val 9091"/>
            </a:avLst>
          </a:prstGeom>
          <a:solidFill>
            <a:srgbClr val="111827">
              <a:alpha val="92000"/>
            </a:srgbClr>
          </a:solidFill>
          <a:ln w="12700">
            <a:solidFill>
              <a:srgbClr val="334155"/>
            </a:solidFill>
            <a:prstDash val="solid"/>
          </a:ln>
        </p:spPr>
      </p:sp>
      <p:sp>
        <p:nvSpPr>
          <p:cNvPr id="35" name="Shape 33"/>
          <p:cNvSpPr/>
          <p:nvPr/>
        </p:nvSpPr>
        <p:spPr>
          <a:xfrm>
            <a:off x="9272016" y="4041648"/>
            <a:ext cx="91440" cy="676656"/>
          </a:xfrm>
          <a:prstGeom prst="rect">
            <a:avLst/>
          </a:prstGeom>
          <a:solidFill>
            <a:srgbClr val="2563EB"/>
          </a:solidFill>
          <a:ln w="12700">
            <a:solidFill>
              <a:srgbClr val="2563EB">
                <a:alpha val="0"/>
              </a:srgbClr>
            </a:solidFill>
            <a:prstDash val="solid"/>
          </a:ln>
        </p:spPr>
      </p:sp>
      <p:sp>
        <p:nvSpPr>
          <p:cNvPr id="36" name="Text 34"/>
          <p:cNvSpPr/>
          <p:nvPr/>
        </p:nvSpPr>
        <p:spPr>
          <a:xfrm>
            <a:off x="9454896" y="4023360"/>
            <a:ext cx="1691640" cy="310896"/>
          </a:xfrm>
          <a:prstGeom prst="rect">
            <a:avLst/>
          </a:prstGeom>
          <a:noFill/>
          <a:ln/>
        </p:spPr>
        <p:txBody>
          <a:bodyPr wrap="square" lIns="0" tIns="0" rIns="0" bIns="0" rtlCol="0" anchor="ctr"/>
          <a:lstStyle/>
          <a:p>
            <a:pPr indent="0" marL="0">
              <a:buNone/>
            </a:pPr>
            <a:r>
              <a:rPr lang="en-US" sz="2000" b="1" dirty="0">
                <a:solidFill>
                  <a:srgbClr val="FFFFFF"/>
                </a:solidFill>
              </a:rPr>
              <a:t>2</a:t>
            </a:r>
            <a:endParaRPr lang="en-US" sz="2000" dirty="0"/>
          </a:p>
        </p:txBody>
      </p:sp>
      <p:sp>
        <p:nvSpPr>
          <p:cNvPr id="37" name="Text 35"/>
          <p:cNvSpPr/>
          <p:nvPr/>
        </p:nvSpPr>
        <p:spPr>
          <a:xfrm>
            <a:off x="9454896" y="4389120"/>
            <a:ext cx="1691640" cy="384048"/>
          </a:xfrm>
          <a:prstGeom prst="rect">
            <a:avLst/>
          </a:prstGeom>
          <a:noFill/>
          <a:ln/>
        </p:spPr>
        <p:txBody>
          <a:bodyPr wrap="square" lIns="0" tIns="0" rIns="0" bIns="0" rtlCol="0" anchor="ctr"/>
          <a:lstStyle/>
          <a:p>
            <a:pPr indent="0" marL="0">
              <a:buNone/>
            </a:pPr>
            <a:r>
              <a:rPr lang="en-US" sz="950" dirty="0">
                <a:solidFill>
                  <a:srgbClr val="D7E3F4"/>
                </a:solidFill>
              </a:rPr>
              <a:t>services: eau / electricite</a:t>
            </a:r>
            <a:endParaRPr lang="en-US" sz="950" dirty="0"/>
          </a:p>
        </p:txBody>
      </p:sp>
      <p:sp>
        <p:nvSpPr>
          <p:cNvPr id="38" name="Text 36"/>
          <p:cNvSpPr/>
          <p:nvPr/>
        </p:nvSpPr>
        <p:spPr>
          <a:xfrm>
            <a:off x="6839712" y="5230368"/>
            <a:ext cx="4480560" cy="502920"/>
          </a:xfrm>
          <a:prstGeom prst="rect">
            <a:avLst/>
          </a:prstGeom>
          <a:noFill/>
          <a:ln/>
        </p:spPr>
        <p:txBody>
          <a:bodyPr wrap="square" lIns="0" tIns="0" rIns="0" bIns="0" rtlCol="0" anchor="ctr"/>
          <a:lstStyle/>
          <a:p>
            <a:pPr indent="0" marL="0">
              <a:buNone/>
            </a:pPr>
            <a:r>
              <a:rPr lang="en-US" sz="1020" dirty="0">
                <a:solidFill>
                  <a:srgbClr val="CBD5E1"/>
                </a:solidFill>
              </a:rPr>
              <a:t>Stack principale : React 19 + Vite 8 + Tailwind / Laravel 11 + Sanctum / MySQL / Leaflet / Recharts / DomPDF / Laravel Excel</a:t>
            </a:r>
            <a:endParaRPr lang="en-US" sz="10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563EB"/>
          </a:solidFill>
          <a:ln w="12700">
            <a:solidFill>
              <a:srgbClr val="2563EB">
                <a:alpha val="0"/>
              </a:srgbClr>
            </a:solidFill>
            <a:prstDash val="solid"/>
          </a:ln>
        </p:spPr>
      </p:sp>
      <p:sp>
        <p:nvSpPr>
          <p:cNvPr id="3" name="Shape 1"/>
          <p:cNvSpPr/>
          <p:nvPr/>
        </p:nvSpPr>
        <p:spPr>
          <a:xfrm>
            <a:off x="9738360" y="310896"/>
            <a:ext cx="1874520" cy="310896"/>
          </a:xfrm>
          <a:prstGeom prst="roundRect">
            <a:avLst>
              <a:gd name="adj" fmla="val 23529"/>
            </a:avLst>
          </a:prstGeom>
          <a:solidFill>
            <a:srgbClr val="DBEAFE"/>
          </a:solidFill>
          <a:ln w="12700">
            <a:solidFill>
              <a:srgbClr val="DBEAFE">
                <a:alpha val="0"/>
              </a:srgbClr>
            </a:solidFill>
            <a:prstDash val="solid"/>
          </a:ln>
        </p:spPr>
      </p:sp>
      <p:sp>
        <p:nvSpPr>
          <p:cNvPr id="4" name="Text 2"/>
          <p:cNvSpPr/>
          <p:nvPr/>
        </p:nvSpPr>
        <p:spPr>
          <a:xfrm>
            <a:off x="9893808" y="374904"/>
            <a:ext cx="1554480" cy="164592"/>
          </a:xfrm>
          <a:prstGeom prst="rect">
            <a:avLst/>
          </a:prstGeom>
          <a:noFill/>
          <a:ln/>
        </p:spPr>
        <p:txBody>
          <a:bodyPr wrap="square" lIns="0" tIns="0" rIns="0" bIns="0" rtlCol="0" anchor="ctr"/>
          <a:lstStyle/>
          <a:p>
            <a:pPr algn="ctr" indent="0" marL="0">
              <a:buNone/>
            </a:pPr>
            <a:r>
              <a:rPr lang="en-US" sz="850" b="1" dirty="0">
                <a:solidFill>
                  <a:srgbClr val="2563EB"/>
                </a:solidFill>
              </a:rPr>
              <a:t>PLAN</a:t>
            </a:r>
            <a:endParaRPr lang="en-US" sz="850" dirty="0"/>
          </a:p>
        </p:txBody>
      </p:sp>
      <p:sp>
        <p:nvSpPr>
          <p:cNvPr id="5" name="Text 3"/>
          <p:cNvSpPr/>
          <p:nvPr/>
        </p:nvSpPr>
        <p:spPr>
          <a:xfrm>
            <a:off x="548640" y="329184"/>
            <a:ext cx="7498080" cy="411480"/>
          </a:xfrm>
          <a:prstGeom prst="rect">
            <a:avLst/>
          </a:prstGeom>
          <a:noFill/>
          <a:ln/>
        </p:spPr>
        <p:txBody>
          <a:bodyPr wrap="square" lIns="0" tIns="0" rIns="0" bIns="0" rtlCol="0" anchor="ctr"/>
          <a:lstStyle/>
          <a:p>
            <a:pPr indent="0" marL="0">
              <a:buNone/>
            </a:pPr>
            <a:r>
              <a:rPr lang="en-US" sz="2400" b="1" dirty="0">
                <a:solidFill>
                  <a:srgbClr val="0F172A"/>
                </a:solidFill>
              </a:rPr>
              <a:t>Structure de la soutenance</a:t>
            </a:r>
            <a:endParaRPr lang="en-US" sz="2400" dirty="0"/>
          </a:p>
        </p:txBody>
      </p:sp>
      <p:sp>
        <p:nvSpPr>
          <p:cNvPr id="6" name="Text 4"/>
          <p:cNvSpPr/>
          <p:nvPr/>
        </p:nvSpPr>
        <p:spPr>
          <a:xfrm>
            <a:off x="566928" y="768096"/>
            <a:ext cx="7863840" cy="329184"/>
          </a:xfrm>
          <a:prstGeom prst="rect">
            <a:avLst/>
          </a:prstGeom>
          <a:noFill/>
          <a:ln/>
        </p:spPr>
        <p:txBody>
          <a:bodyPr wrap="square" lIns="0" tIns="0" rIns="0" bIns="0" rtlCol="0" anchor="ctr"/>
          <a:lstStyle/>
          <a:p>
            <a:pPr indent="0" marL="0">
              <a:buNone/>
            </a:pPr>
            <a:r>
              <a:rPr lang="en-US" sz="1150" dirty="0">
                <a:solidFill>
                  <a:srgbClr val="64748B"/>
                </a:solidFill>
              </a:rPr>
              <a:t>Une progression courte, claire et centree sur le code reel du projet.</a:t>
            </a:r>
            <a:endParaRPr lang="en-US" sz="1150" dirty="0"/>
          </a:p>
        </p:txBody>
      </p:sp>
      <p:sp>
        <p:nvSpPr>
          <p:cNvPr id="7" name="Text 5"/>
          <p:cNvSpPr/>
          <p:nvPr/>
        </p:nvSpPr>
        <p:spPr>
          <a:xfrm>
            <a:off x="548640" y="6446520"/>
            <a:ext cx="4389120" cy="182880"/>
          </a:xfrm>
          <a:prstGeom prst="rect">
            <a:avLst/>
          </a:prstGeom>
          <a:noFill/>
          <a:ln/>
        </p:spPr>
        <p:txBody>
          <a:bodyPr wrap="square" lIns="0" tIns="0" rIns="0" bIns="0" rtlCol="0" anchor="ctr"/>
          <a:lstStyle/>
          <a:p>
            <a:pPr indent="0" marL="0">
              <a:buNone/>
            </a:pPr>
            <a:r>
              <a:rPr lang="en-US" sz="850" dirty="0">
                <a:solidFill>
                  <a:srgbClr val="64748B"/>
                </a:solidFill>
              </a:rPr>
              <a:t>Analyse du code source - 10 mai 2026</a:t>
            </a:r>
            <a:endParaRPr lang="en-US" sz="850" dirty="0"/>
          </a:p>
        </p:txBody>
      </p:sp>
      <p:sp>
        <p:nvSpPr>
          <p:cNvPr id="8" name="Text 6"/>
          <p:cNvSpPr/>
          <p:nvPr/>
        </p:nvSpPr>
        <p:spPr>
          <a:xfrm>
            <a:off x="11064240" y="6419088"/>
            <a:ext cx="548640" cy="182880"/>
          </a:xfrm>
          <a:prstGeom prst="rect">
            <a:avLst/>
          </a:prstGeom>
          <a:noFill/>
          <a:ln/>
        </p:spPr>
        <p:txBody>
          <a:bodyPr wrap="square" lIns="0" tIns="0" rIns="0" bIns="0" rtlCol="0" anchor="ctr"/>
          <a:lstStyle/>
          <a:p>
            <a:pPr algn="r" indent="0" marL="0">
              <a:buNone/>
            </a:pPr>
            <a:r>
              <a:rPr lang="en-US" sz="900" b="1" dirty="0">
                <a:solidFill>
                  <a:srgbClr val="64748B"/>
                </a:solidFill>
              </a:rPr>
              <a:t>2/17</a:t>
            </a:r>
            <a:endParaRPr lang="en-US" sz="900" dirty="0"/>
          </a:p>
        </p:txBody>
      </p:sp>
      <p:sp>
        <p:nvSpPr>
          <p:cNvPr id="9" name="Shape 7"/>
          <p:cNvSpPr/>
          <p:nvPr/>
        </p:nvSpPr>
        <p:spPr>
          <a:xfrm>
            <a:off x="640080" y="1417320"/>
            <a:ext cx="3611880" cy="1554480"/>
          </a:xfrm>
          <a:prstGeom prst="roundRect">
            <a:avLst>
              <a:gd name="adj" fmla="val 5882"/>
            </a:avLst>
          </a:prstGeom>
          <a:solidFill>
            <a:srgbClr val="FFFFFF"/>
          </a:solidFill>
          <a:ln w="12700">
            <a:solidFill>
              <a:srgbClr val="CBD5E1"/>
            </a:solidFill>
            <a:prstDash val="solid"/>
          </a:ln>
        </p:spPr>
      </p:sp>
      <p:sp>
        <p:nvSpPr>
          <p:cNvPr id="10" name="Shape 8"/>
          <p:cNvSpPr/>
          <p:nvPr/>
        </p:nvSpPr>
        <p:spPr>
          <a:xfrm>
            <a:off x="804672" y="1581912"/>
            <a:ext cx="73152" cy="1225296"/>
          </a:xfrm>
          <a:prstGeom prst="rect">
            <a:avLst/>
          </a:prstGeom>
          <a:solidFill>
            <a:srgbClr val="2563EB"/>
          </a:solidFill>
          <a:ln w="12700">
            <a:solidFill>
              <a:srgbClr val="2563EB">
                <a:alpha val="0"/>
              </a:srgbClr>
            </a:solidFill>
            <a:prstDash val="solid"/>
          </a:ln>
        </p:spPr>
      </p:sp>
      <p:sp>
        <p:nvSpPr>
          <p:cNvPr id="11" name="Text 9"/>
          <p:cNvSpPr/>
          <p:nvPr/>
        </p:nvSpPr>
        <p:spPr>
          <a:xfrm>
            <a:off x="960120" y="1581912"/>
            <a:ext cx="3154680" cy="219456"/>
          </a:xfrm>
          <a:prstGeom prst="rect">
            <a:avLst/>
          </a:prstGeom>
          <a:noFill/>
          <a:ln/>
        </p:spPr>
        <p:txBody>
          <a:bodyPr wrap="square" lIns="0" tIns="0" rIns="0" bIns="0" rtlCol="0" anchor="ctr"/>
          <a:lstStyle/>
          <a:p>
            <a:pPr indent="0" marL="0">
              <a:buNone/>
            </a:pPr>
            <a:r>
              <a:rPr lang="en-US" sz="1300" b="1" dirty="0">
                <a:solidFill>
                  <a:srgbClr val="0F172A"/>
                </a:solidFill>
              </a:rPr>
              <a:t>Contexte et objectifs</a:t>
            </a:r>
            <a:endParaRPr lang="en-US" sz="1300" dirty="0"/>
          </a:p>
        </p:txBody>
      </p:sp>
      <p:sp>
        <p:nvSpPr>
          <p:cNvPr id="12" name="Text 10"/>
          <p:cNvSpPr/>
          <p:nvPr/>
        </p:nvSpPr>
        <p:spPr>
          <a:xfrm>
            <a:off x="960120" y="1892808"/>
            <a:ext cx="3200400" cy="932688"/>
          </a:xfrm>
          <a:prstGeom prst="rect">
            <a:avLst/>
          </a:prstGeom>
          <a:noFill/>
          <a:ln/>
        </p:spPr>
        <p:txBody>
          <a:bodyPr wrap="square" lIns="0" tIns="0" rIns="0" bIns="0" rtlCol="0" anchor="t"/>
          <a:lstStyle/>
          <a:p>
            <a:pPr indent="0" marL="0">
              <a:buNone/>
            </a:pPr>
            <a:r>
              <a:rPr lang="en-US" sz="1050" dirty="0">
                <a:solidFill>
                  <a:srgbClr val="64748B"/>
                </a:solidFill>
              </a:rPr>
              <a:t>• cadre du stage</a:t>
            </a:r>
            <a:endParaRPr lang="en-US" sz="1050" dirty="0"/>
          </a:p>
          <a:p>
            <a:pPr indent="0" marL="0">
              <a:buNone/>
            </a:pPr>
            <a:r>
              <a:rPr lang="en-US" sz="1050" dirty="0">
                <a:solidFill>
                  <a:srgbClr val="64748B"/>
                </a:solidFill>
              </a:rPr>
              <a:t>• problematique</a:t>
            </a:r>
            <a:endParaRPr lang="en-US" sz="1050" dirty="0"/>
          </a:p>
          <a:p>
            <a:pPr indent="0" marL="0">
              <a:buNone/>
            </a:pPr>
            <a:r>
              <a:rPr lang="en-US" sz="1050" dirty="0">
                <a:solidFill>
                  <a:srgbClr val="64748B"/>
                </a:solidFill>
              </a:rPr>
              <a:t>• finalite du projet</a:t>
            </a:r>
            <a:endParaRPr lang="en-US" sz="1050" dirty="0"/>
          </a:p>
        </p:txBody>
      </p:sp>
      <p:sp>
        <p:nvSpPr>
          <p:cNvPr id="13" name="Shape 11"/>
          <p:cNvSpPr/>
          <p:nvPr/>
        </p:nvSpPr>
        <p:spPr>
          <a:xfrm>
            <a:off x="4325112" y="1417320"/>
            <a:ext cx="3611880" cy="1554480"/>
          </a:xfrm>
          <a:prstGeom prst="roundRect">
            <a:avLst>
              <a:gd name="adj" fmla="val 5882"/>
            </a:avLst>
          </a:prstGeom>
          <a:solidFill>
            <a:srgbClr val="FFFFFF"/>
          </a:solidFill>
          <a:ln w="12700">
            <a:solidFill>
              <a:srgbClr val="CBD5E1"/>
            </a:solidFill>
            <a:prstDash val="solid"/>
          </a:ln>
        </p:spPr>
      </p:sp>
      <p:sp>
        <p:nvSpPr>
          <p:cNvPr id="14" name="Shape 12"/>
          <p:cNvSpPr/>
          <p:nvPr/>
        </p:nvSpPr>
        <p:spPr>
          <a:xfrm>
            <a:off x="4489704" y="1581912"/>
            <a:ext cx="73152" cy="1225296"/>
          </a:xfrm>
          <a:prstGeom prst="rect">
            <a:avLst/>
          </a:prstGeom>
          <a:solidFill>
            <a:srgbClr val="0891B2"/>
          </a:solidFill>
          <a:ln w="12700">
            <a:solidFill>
              <a:srgbClr val="0891B2">
                <a:alpha val="0"/>
              </a:srgbClr>
            </a:solidFill>
            <a:prstDash val="solid"/>
          </a:ln>
        </p:spPr>
      </p:sp>
      <p:sp>
        <p:nvSpPr>
          <p:cNvPr id="15" name="Text 13"/>
          <p:cNvSpPr/>
          <p:nvPr/>
        </p:nvSpPr>
        <p:spPr>
          <a:xfrm>
            <a:off x="4645152" y="1581912"/>
            <a:ext cx="3154680" cy="219456"/>
          </a:xfrm>
          <a:prstGeom prst="rect">
            <a:avLst/>
          </a:prstGeom>
          <a:noFill/>
          <a:ln/>
        </p:spPr>
        <p:txBody>
          <a:bodyPr wrap="square" lIns="0" tIns="0" rIns="0" bIns="0" rtlCol="0" anchor="ctr"/>
          <a:lstStyle/>
          <a:p>
            <a:pPr indent="0" marL="0">
              <a:buNone/>
            </a:pPr>
            <a:r>
              <a:rPr lang="en-US" sz="1300" b="1" dirty="0">
                <a:solidFill>
                  <a:srgbClr val="0F172A"/>
                </a:solidFill>
              </a:rPr>
              <a:t>Entreprise / besoin</a:t>
            </a:r>
            <a:endParaRPr lang="en-US" sz="1300" dirty="0"/>
          </a:p>
        </p:txBody>
      </p:sp>
      <p:sp>
        <p:nvSpPr>
          <p:cNvPr id="16" name="Text 14"/>
          <p:cNvSpPr/>
          <p:nvPr/>
        </p:nvSpPr>
        <p:spPr>
          <a:xfrm>
            <a:off x="4645152" y="1892808"/>
            <a:ext cx="3200400" cy="932688"/>
          </a:xfrm>
          <a:prstGeom prst="rect">
            <a:avLst/>
          </a:prstGeom>
          <a:noFill/>
          <a:ln/>
        </p:spPr>
        <p:txBody>
          <a:bodyPr wrap="square" lIns="0" tIns="0" rIns="0" bIns="0" rtlCol="0" anchor="t"/>
          <a:lstStyle/>
          <a:p>
            <a:pPr indent="0" marL="0">
              <a:buNone/>
            </a:pPr>
            <a:r>
              <a:rPr lang="en-US" sz="1050" dirty="0">
                <a:solidFill>
                  <a:srgbClr val="64748B"/>
                </a:solidFill>
              </a:rPr>
              <a:t>• organisme cible</a:t>
            </a:r>
            <a:endParaRPr lang="en-US" sz="1050" dirty="0"/>
          </a:p>
          <a:p>
            <a:pPr indent="0" marL="0">
              <a:buNone/>
            </a:pPr>
            <a:r>
              <a:rPr lang="en-US" sz="1050" dirty="0">
                <a:solidFill>
                  <a:srgbClr val="64748B"/>
                </a:solidFill>
              </a:rPr>
              <a:t>• activites metier</a:t>
            </a:r>
            <a:endParaRPr lang="en-US" sz="1050" dirty="0"/>
          </a:p>
          <a:p>
            <a:pPr indent="0" marL="0">
              <a:buNone/>
            </a:pPr>
            <a:r>
              <a:rPr lang="en-US" sz="1050" dirty="0">
                <a:solidFill>
                  <a:srgbClr val="64748B"/>
                </a:solidFill>
              </a:rPr>
              <a:t>• raison de la digitalisation</a:t>
            </a:r>
            <a:endParaRPr lang="en-US" sz="1050" dirty="0"/>
          </a:p>
        </p:txBody>
      </p:sp>
      <p:sp>
        <p:nvSpPr>
          <p:cNvPr id="17" name="Shape 15"/>
          <p:cNvSpPr/>
          <p:nvPr/>
        </p:nvSpPr>
        <p:spPr>
          <a:xfrm>
            <a:off x="640080" y="3200400"/>
            <a:ext cx="3611880" cy="1554480"/>
          </a:xfrm>
          <a:prstGeom prst="roundRect">
            <a:avLst>
              <a:gd name="adj" fmla="val 5882"/>
            </a:avLst>
          </a:prstGeom>
          <a:solidFill>
            <a:srgbClr val="FFFFFF"/>
          </a:solidFill>
          <a:ln w="12700">
            <a:solidFill>
              <a:srgbClr val="CBD5E1"/>
            </a:solidFill>
            <a:prstDash val="solid"/>
          </a:ln>
        </p:spPr>
      </p:sp>
      <p:sp>
        <p:nvSpPr>
          <p:cNvPr id="18" name="Shape 16"/>
          <p:cNvSpPr/>
          <p:nvPr/>
        </p:nvSpPr>
        <p:spPr>
          <a:xfrm>
            <a:off x="804672" y="3364992"/>
            <a:ext cx="73152" cy="1225296"/>
          </a:xfrm>
          <a:prstGeom prst="rect">
            <a:avLst/>
          </a:prstGeom>
          <a:solidFill>
            <a:srgbClr val="D97706"/>
          </a:solidFill>
          <a:ln w="12700">
            <a:solidFill>
              <a:srgbClr val="D97706">
                <a:alpha val="0"/>
              </a:srgbClr>
            </a:solidFill>
            <a:prstDash val="solid"/>
          </a:ln>
        </p:spPr>
      </p:sp>
      <p:sp>
        <p:nvSpPr>
          <p:cNvPr id="19" name="Text 17"/>
          <p:cNvSpPr/>
          <p:nvPr/>
        </p:nvSpPr>
        <p:spPr>
          <a:xfrm>
            <a:off x="960120" y="3364992"/>
            <a:ext cx="3154680" cy="219456"/>
          </a:xfrm>
          <a:prstGeom prst="rect">
            <a:avLst/>
          </a:prstGeom>
          <a:noFill/>
          <a:ln/>
        </p:spPr>
        <p:txBody>
          <a:bodyPr wrap="square" lIns="0" tIns="0" rIns="0" bIns="0" rtlCol="0" anchor="ctr"/>
          <a:lstStyle/>
          <a:p>
            <a:pPr indent="0" marL="0">
              <a:buNone/>
            </a:pPr>
            <a:r>
              <a:rPr lang="en-US" sz="1300" b="1" dirty="0">
                <a:solidFill>
                  <a:srgbClr val="0F172A"/>
                </a:solidFill>
              </a:rPr>
              <a:t>Cahier des charges</a:t>
            </a:r>
            <a:endParaRPr lang="en-US" sz="1300" dirty="0"/>
          </a:p>
        </p:txBody>
      </p:sp>
      <p:sp>
        <p:nvSpPr>
          <p:cNvPr id="20" name="Text 18"/>
          <p:cNvSpPr/>
          <p:nvPr/>
        </p:nvSpPr>
        <p:spPr>
          <a:xfrm>
            <a:off x="960120" y="3675888"/>
            <a:ext cx="3200400" cy="932688"/>
          </a:xfrm>
          <a:prstGeom prst="rect">
            <a:avLst/>
          </a:prstGeom>
          <a:noFill/>
          <a:ln/>
        </p:spPr>
        <p:txBody>
          <a:bodyPr wrap="square" lIns="0" tIns="0" rIns="0" bIns="0" rtlCol="0" anchor="t"/>
          <a:lstStyle/>
          <a:p>
            <a:pPr indent="0" marL="0">
              <a:buNone/>
            </a:pPr>
            <a:r>
              <a:rPr lang="en-US" sz="1050" dirty="0">
                <a:solidFill>
                  <a:srgbClr val="64748B"/>
                </a:solidFill>
              </a:rPr>
              <a:t>• besoins fonctionnels</a:t>
            </a:r>
            <a:endParaRPr lang="en-US" sz="1050" dirty="0"/>
          </a:p>
          <a:p>
            <a:pPr indent="0" marL="0">
              <a:buNone/>
            </a:pPr>
            <a:r>
              <a:rPr lang="en-US" sz="1050" dirty="0">
                <a:solidFill>
                  <a:srgbClr val="64748B"/>
                </a:solidFill>
              </a:rPr>
              <a:t>• contraintes non fonctionnelles</a:t>
            </a:r>
            <a:endParaRPr lang="en-US" sz="1050" dirty="0"/>
          </a:p>
          <a:p>
            <a:pPr indent="0" marL="0">
              <a:buNone/>
            </a:pPr>
            <a:r>
              <a:rPr lang="en-US" sz="1050" dirty="0">
                <a:solidFill>
                  <a:srgbClr val="64748B"/>
                </a:solidFill>
              </a:rPr>
              <a:t>• acteurs</a:t>
            </a:r>
            <a:endParaRPr lang="en-US" sz="1050" dirty="0"/>
          </a:p>
        </p:txBody>
      </p:sp>
      <p:sp>
        <p:nvSpPr>
          <p:cNvPr id="21" name="Shape 19"/>
          <p:cNvSpPr/>
          <p:nvPr/>
        </p:nvSpPr>
        <p:spPr>
          <a:xfrm>
            <a:off x="4325112" y="3200400"/>
            <a:ext cx="3611880" cy="1554480"/>
          </a:xfrm>
          <a:prstGeom prst="roundRect">
            <a:avLst>
              <a:gd name="adj" fmla="val 5882"/>
            </a:avLst>
          </a:prstGeom>
          <a:solidFill>
            <a:srgbClr val="FFFFFF"/>
          </a:solidFill>
          <a:ln w="12700">
            <a:solidFill>
              <a:srgbClr val="CBD5E1"/>
            </a:solidFill>
            <a:prstDash val="solid"/>
          </a:ln>
        </p:spPr>
      </p:sp>
      <p:sp>
        <p:nvSpPr>
          <p:cNvPr id="22" name="Shape 20"/>
          <p:cNvSpPr/>
          <p:nvPr/>
        </p:nvSpPr>
        <p:spPr>
          <a:xfrm>
            <a:off x="4489704" y="3364992"/>
            <a:ext cx="73152" cy="1225296"/>
          </a:xfrm>
          <a:prstGeom prst="rect">
            <a:avLst/>
          </a:prstGeom>
          <a:solidFill>
            <a:srgbClr val="059669"/>
          </a:solidFill>
          <a:ln w="12700">
            <a:solidFill>
              <a:srgbClr val="059669">
                <a:alpha val="0"/>
              </a:srgbClr>
            </a:solidFill>
            <a:prstDash val="solid"/>
          </a:ln>
        </p:spPr>
      </p:sp>
      <p:sp>
        <p:nvSpPr>
          <p:cNvPr id="23" name="Text 21"/>
          <p:cNvSpPr/>
          <p:nvPr/>
        </p:nvSpPr>
        <p:spPr>
          <a:xfrm>
            <a:off x="4645152" y="3364992"/>
            <a:ext cx="3154680" cy="219456"/>
          </a:xfrm>
          <a:prstGeom prst="rect">
            <a:avLst/>
          </a:prstGeom>
          <a:noFill/>
          <a:ln/>
        </p:spPr>
        <p:txBody>
          <a:bodyPr wrap="square" lIns="0" tIns="0" rIns="0" bIns="0" rtlCol="0" anchor="ctr"/>
          <a:lstStyle/>
          <a:p>
            <a:pPr indent="0" marL="0">
              <a:buNone/>
            </a:pPr>
            <a:r>
              <a:rPr lang="en-US" sz="1300" b="1" dirty="0">
                <a:solidFill>
                  <a:srgbClr val="0F172A"/>
                </a:solidFill>
              </a:rPr>
              <a:t>Analyse et conception</a:t>
            </a:r>
            <a:endParaRPr lang="en-US" sz="1300" dirty="0"/>
          </a:p>
        </p:txBody>
      </p:sp>
      <p:sp>
        <p:nvSpPr>
          <p:cNvPr id="24" name="Text 22"/>
          <p:cNvSpPr/>
          <p:nvPr/>
        </p:nvSpPr>
        <p:spPr>
          <a:xfrm>
            <a:off x="4645152" y="3675888"/>
            <a:ext cx="3200400" cy="932688"/>
          </a:xfrm>
          <a:prstGeom prst="rect">
            <a:avLst/>
          </a:prstGeom>
          <a:noFill/>
          <a:ln/>
        </p:spPr>
        <p:txBody>
          <a:bodyPr wrap="square" lIns="0" tIns="0" rIns="0" bIns="0" rtlCol="0" anchor="t"/>
          <a:lstStyle/>
          <a:p>
            <a:pPr indent="0" marL="0">
              <a:buNone/>
            </a:pPr>
            <a:r>
              <a:rPr lang="en-US" sz="1050" dirty="0">
                <a:solidFill>
                  <a:srgbClr val="64748B"/>
                </a:solidFill>
              </a:rPr>
              <a:t>• cas d utilisation</a:t>
            </a:r>
            <a:endParaRPr lang="en-US" sz="1050" dirty="0"/>
          </a:p>
          <a:p>
            <a:pPr indent="0" marL="0">
              <a:buNone/>
            </a:pPr>
            <a:r>
              <a:rPr lang="en-US" sz="1050" dirty="0">
                <a:solidFill>
                  <a:srgbClr val="64748B"/>
                </a:solidFill>
              </a:rPr>
              <a:t>• MCD</a:t>
            </a:r>
            <a:endParaRPr lang="en-US" sz="1050" dirty="0"/>
          </a:p>
          <a:p>
            <a:pPr indent="0" marL="0">
              <a:buNone/>
            </a:pPr>
            <a:r>
              <a:rPr lang="en-US" sz="1050" dirty="0">
                <a:solidFill>
                  <a:srgbClr val="64748B"/>
                </a:solidFill>
              </a:rPr>
              <a:t>• tables et relations</a:t>
            </a:r>
            <a:endParaRPr lang="en-US" sz="1050" dirty="0"/>
          </a:p>
        </p:txBody>
      </p:sp>
      <p:sp>
        <p:nvSpPr>
          <p:cNvPr id="25" name="Shape 23"/>
          <p:cNvSpPr/>
          <p:nvPr/>
        </p:nvSpPr>
        <p:spPr>
          <a:xfrm>
            <a:off x="640080" y="4983480"/>
            <a:ext cx="3611880" cy="1554480"/>
          </a:xfrm>
          <a:prstGeom prst="roundRect">
            <a:avLst>
              <a:gd name="adj" fmla="val 5882"/>
            </a:avLst>
          </a:prstGeom>
          <a:solidFill>
            <a:srgbClr val="FFFFFF"/>
          </a:solidFill>
          <a:ln w="12700">
            <a:solidFill>
              <a:srgbClr val="CBD5E1"/>
            </a:solidFill>
            <a:prstDash val="solid"/>
          </a:ln>
        </p:spPr>
      </p:sp>
      <p:sp>
        <p:nvSpPr>
          <p:cNvPr id="26" name="Shape 24"/>
          <p:cNvSpPr/>
          <p:nvPr/>
        </p:nvSpPr>
        <p:spPr>
          <a:xfrm>
            <a:off x="804672" y="5148072"/>
            <a:ext cx="73152" cy="1225296"/>
          </a:xfrm>
          <a:prstGeom prst="rect">
            <a:avLst/>
          </a:prstGeom>
          <a:solidFill>
            <a:srgbClr val="DC2626"/>
          </a:solidFill>
          <a:ln w="12700">
            <a:solidFill>
              <a:srgbClr val="DC2626">
                <a:alpha val="0"/>
              </a:srgbClr>
            </a:solidFill>
            <a:prstDash val="solid"/>
          </a:ln>
        </p:spPr>
      </p:sp>
      <p:sp>
        <p:nvSpPr>
          <p:cNvPr id="27" name="Text 25"/>
          <p:cNvSpPr/>
          <p:nvPr/>
        </p:nvSpPr>
        <p:spPr>
          <a:xfrm>
            <a:off x="960120" y="5148072"/>
            <a:ext cx="3154680" cy="219456"/>
          </a:xfrm>
          <a:prstGeom prst="rect">
            <a:avLst/>
          </a:prstGeom>
          <a:noFill/>
          <a:ln/>
        </p:spPr>
        <p:txBody>
          <a:bodyPr wrap="square" lIns="0" tIns="0" rIns="0" bIns="0" rtlCol="0" anchor="ctr"/>
          <a:lstStyle/>
          <a:p>
            <a:pPr indent="0" marL="0">
              <a:buNone/>
            </a:pPr>
            <a:r>
              <a:rPr lang="en-US" sz="1300" b="1" dirty="0">
                <a:solidFill>
                  <a:srgbClr val="0F172A"/>
                </a:solidFill>
              </a:rPr>
              <a:t>Architecture et realisation</a:t>
            </a:r>
            <a:endParaRPr lang="en-US" sz="1300" dirty="0"/>
          </a:p>
        </p:txBody>
      </p:sp>
      <p:sp>
        <p:nvSpPr>
          <p:cNvPr id="28" name="Text 26"/>
          <p:cNvSpPr/>
          <p:nvPr/>
        </p:nvSpPr>
        <p:spPr>
          <a:xfrm>
            <a:off x="960120" y="5458968"/>
            <a:ext cx="3200400" cy="932688"/>
          </a:xfrm>
          <a:prstGeom prst="rect">
            <a:avLst/>
          </a:prstGeom>
          <a:noFill/>
          <a:ln/>
        </p:spPr>
        <p:txBody>
          <a:bodyPr wrap="square" lIns="0" tIns="0" rIns="0" bIns="0" rtlCol="0" anchor="t"/>
          <a:lstStyle/>
          <a:p>
            <a:pPr indent="0" marL="0">
              <a:buNone/>
            </a:pPr>
            <a:r>
              <a:rPr lang="en-US" sz="1050" dirty="0">
                <a:solidFill>
                  <a:srgbClr val="64748B"/>
                </a:solidFill>
              </a:rPr>
              <a:t>• stack technique</a:t>
            </a:r>
            <a:endParaRPr lang="en-US" sz="1050" dirty="0"/>
          </a:p>
          <a:p>
            <a:pPr indent="0" marL="0">
              <a:buNone/>
            </a:pPr>
            <a:r>
              <a:rPr lang="en-US" sz="1050" dirty="0">
                <a:solidFill>
                  <a:srgbClr val="64748B"/>
                </a:solidFill>
              </a:rPr>
              <a:t>• securite</a:t>
            </a:r>
            <a:endParaRPr lang="en-US" sz="1050" dirty="0"/>
          </a:p>
          <a:p>
            <a:pPr indent="0" marL="0">
              <a:buNone/>
            </a:pPr>
            <a:r>
              <a:rPr lang="en-US" sz="1050" dirty="0">
                <a:solidFill>
                  <a:srgbClr val="64748B"/>
                </a:solidFill>
              </a:rPr>
              <a:t>• interfaces realisees</a:t>
            </a:r>
            <a:endParaRPr lang="en-US" sz="1050" dirty="0"/>
          </a:p>
        </p:txBody>
      </p:sp>
      <p:sp>
        <p:nvSpPr>
          <p:cNvPr id="29" name="Shape 27"/>
          <p:cNvSpPr/>
          <p:nvPr/>
        </p:nvSpPr>
        <p:spPr>
          <a:xfrm>
            <a:off x="4325112" y="4983480"/>
            <a:ext cx="3611880" cy="1554480"/>
          </a:xfrm>
          <a:prstGeom prst="roundRect">
            <a:avLst>
              <a:gd name="adj" fmla="val 5882"/>
            </a:avLst>
          </a:prstGeom>
          <a:solidFill>
            <a:srgbClr val="FFFFFF"/>
          </a:solidFill>
          <a:ln w="12700">
            <a:solidFill>
              <a:srgbClr val="CBD5E1"/>
            </a:solidFill>
            <a:prstDash val="solid"/>
          </a:ln>
        </p:spPr>
      </p:sp>
      <p:sp>
        <p:nvSpPr>
          <p:cNvPr id="30" name="Shape 28"/>
          <p:cNvSpPr/>
          <p:nvPr/>
        </p:nvSpPr>
        <p:spPr>
          <a:xfrm>
            <a:off x="4489704" y="5148072"/>
            <a:ext cx="73152" cy="1225296"/>
          </a:xfrm>
          <a:prstGeom prst="rect">
            <a:avLst/>
          </a:prstGeom>
          <a:solidFill>
            <a:srgbClr val="2563EB"/>
          </a:solidFill>
          <a:ln w="12700">
            <a:solidFill>
              <a:srgbClr val="2563EB">
                <a:alpha val="0"/>
              </a:srgbClr>
            </a:solidFill>
            <a:prstDash val="solid"/>
          </a:ln>
        </p:spPr>
      </p:sp>
      <p:sp>
        <p:nvSpPr>
          <p:cNvPr id="31" name="Text 29"/>
          <p:cNvSpPr/>
          <p:nvPr/>
        </p:nvSpPr>
        <p:spPr>
          <a:xfrm>
            <a:off x="4645152" y="5148072"/>
            <a:ext cx="3154680" cy="219456"/>
          </a:xfrm>
          <a:prstGeom prst="rect">
            <a:avLst/>
          </a:prstGeom>
          <a:noFill/>
          <a:ln/>
        </p:spPr>
        <p:txBody>
          <a:bodyPr wrap="square" lIns="0" tIns="0" rIns="0" bIns="0" rtlCol="0" anchor="ctr"/>
          <a:lstStyle/>
          <a:p>
            <a:pPr indent="0" marL="0">
              <a:buNone/>
            </a:pPr>
            <a:r>
              <a:rPr lang="en-US" sz="1300" b="1" dirty="0">
                <a:solidFill>
                  <a:srgbClr val="0F172A"/>
                </a:solidFill>
              </a:rPr>
              <a:t>Bilan et perspectives</a:t>
            </a:r>
            <a:endParaRPr lang="en-US" sz="1300" dirty="0"/>
          </a:p>
        </p:txBody>
      </p:sp>
      <p:sp>
        <p:nvSpPr>
          <p:cNvPr id="32" name="Text 30"/>
          <p:cNvSpPr/>
          <p:nvPr/>
        </p:nvSpPr>
        <p:spPr>
          <a:xfrm>
            <a:off x="4645152" y="5458968"/>
            <a:ext cx="3200400" cy="932688"/>
          </a:xfrm>
          <a:prstGeom prst="rect">
            <a:avLst/>
          </a:prstGeom>
          <a:noFill/>
          <a:ln/>
        </p:spPr>
        <p:txBody>
          <a:bodyPr wrap="square" lIns="0" tIns="0" rIns="0" bIns="0" rtlCol="0" anchor="t"/>
          <a:lstStyle/>
          <a:p>
            <a:pPr indent="0" marL="0">
              <a:buNone/>
            </a:pPr>
            <a:r>
              <a:rPr lang="en-US" sz="1050" dirty="0">
                <a:solidFill>
                  <a:srgbClr val="64748B"/>
                </a:solidFill>
              </a:rPr>
              <a:t>• difficultes</a:t>
            </a:r>
            <a:endParaRPr lang="en-US" sz="1050" dirty="0"/>
          </a:p>
          <a:p>
            <a:pPr indent="0" marL="0">
              <a:buNone/>
            </a:pPr>
            <a:r>
              <a:rPr lang="en-US" sz="1050" dirty="0">
                <a:solidFill>
                  <a:srgbClr val="64748B"/>
                </a:solidFill>
              </a:rPr>
              <a:t>• competences</a:t>
            </a:r>
            <a:endParaRPr lang="en-US" sz="1050" dirty="0"/>
          </a:p>
          <a:p>
            <a:pPr indent="0" marL="0">
              <a:buNone/>
            </a:pPr>
            <a:r>
              <a:rPr lang="en-US" sz="1050" dirty="0">
                <a:solidFill>
                  <a:srgbClr val="64748B"/>
                </a:solidFill>
              </a:rPr>
              <a:t>• ameliorations futures</a:t>
            </a:r>
            <a:endParaRPr lang="en-US" sz="1050" dirty="0"/>
          </a:p>
        </p:txBody>
      </p:sp>
      <p:sp>
        <p:nvSpPr>
          <p:cNvPr id="33" name="Shape 31"/>
          <p:cNvSpPr/>
          <p:nvPr/>
        </p:nvSpPr>
        <p:spPr>
          <a:xfrm>
            <a:off x="8019288" y="1417320"/>
            <a:ext cx="3520440" cy="5166360"/>
          </a:xfrm>
          <a:prstGeom prst="roundRect">
            <a:avLst>
              <a:gd name="adj" fmla="val 3117"/>
            </a:avLst>
          </a:prstGeom>
          <a:solidFill>
            <a:srgbClr val="FFFFFF"/>
          </a:solidFill>
          <a:ln w="12700">
            <a:solidFill>
              <a:srgbClr val="CBD5E1"/>
            </a:solidFill>
            <a:prstDash val="solid"/>
          </a:ln>
        </p:spPr>
      </p:sp>
      <p:sp>
        <p:nvSpPr>
          <p:cNvPr id="34" name="Text 32"/>
          <p:cNvSpPr/>
          <p:nvPr/>
        </p:nvSpPr>
        <p:spPr>
          <a:xfrm>
            <a:off x="8247888" y="1664208"/>
            <a:ext cx="2560320" cy="201168"/>
          </a:xfrm>
          <a:prstGeom prst="rect">
            <a:avLst/>
          </a:prstGeom>
          <a:noFill/>
          <a:ln/>
        </p:spPr>
        <p:txBody>
          <a:bodyPr wrap="square" lIns="0" tIns="0" rIns="0" bIns="0" rtlCol="0" anchor="ctr"/>
          <a:lstStyle/>
          <a:p>
            <a:pPr indent="0" marL="0">
              <a:buNone/>
            </a:pPr>
            <a:r>
              <a:rPr lang="en-US" sz="1300" b="1" dirty="0">
                <a:solidFill>
                  <a:srgbClr val="0F172A"/>
                </a:solidFill>
              </a:rPr>
              <a:t>Fil conducteur</a:t>
            </a:r>
            <a:endParaRPr lang="en-US" sz="1300" dirty="0"/>
          </a:p>
        </p:txBody>
      </p:sp>
      <p:sp>
        <p:nvSpPr>
          <p:cNvPr id="35" name="Text 33"/>
          <p:cNvSpPr/>
          <p:nvPr/>
        </p:nvSpPr>
        <p:spPr>
          <a:xfrm>
            <a:off x="8247888" y="1993392"/>
            <a:ext cx="2788920" cy="2057400"/>
          </a:xfrm>
          <a:prstGeom prst="rect">
            <a:avLst/>
          </a:prstGeom>
          <a:noFill/>
          <a:ln/>
        </p:spPr>
        <p:txBody>
          <a:bodyPr wrap="square" lIns="0" tIns="0" rIns="0" bIns="0" rtlCol="0" anchor="ctr"/>
          <a:lstStyle/>
          <a:p>
            <a:pPr indent="0" marL="0">
              <a:buNone/>
            </a:pPr>
            <a:r>
              <a:rPr lang="en-US" sz="1150" dirty="0">
                <a:solidFill>
                  <a:srgbClr val="64748B"/>
                </a:solidFill>
              </a:rPr>
              <a:t>1. Comprendre le besoin metier.</a:t>
            </a:r>
            <a:endParaRPr lang="en-US" sz="1150" dirty="0"/>
          </a:p>
          <a:p>
            <a:pPr indent="0" marL="0">
              <a:buNone/>
            </a:pPr>
            <a:r>
              <a:rPr lang="en-US" sz="1150" dirty="0">
                <a:solidFill>
                  <a:srgbClr val="64748B"/>
                </a:solidFill>
              </a:rPr>
              <a:t>2. Montrer comment le code y repond.</a:t>
            </a:r>
            <a:endParaRPr lang="en-US" sz="1150" dirty="0"/>
          </a:p>
          <a:p>
            <a:pPr indent="0" marL="0">
              <a:buNone/>
            </a:pPr>
            <a:r>
              <a:rPr lang="en-US" sz="1150" dirty="0">
                <a:solidFill>
                  <a:srgbClr val="64748B"/>
                </a:solidFill>
              </a:rPr>
              <a:t>3. Expliquer les choix techniques.</a:t>
            </a:r>
            <a:endParaRPr lang="en-US" sz="1150" dirty="0"/>
          </a:p>
          <a:p>
            <a:pPr indent="0" marL="0">
              <a:buNone/>
            </a:pPr>
            <a:r>
              <a:rPr lang="en-US" sz="1150" dirty="0">
                <a:solidFill>
                  <a:srgbClr val="64748B"/>
                </a:solidFill>
              </a:rPr>
              <a:t>4. Valoriser les ecrans et les cas d usage.</a:t>
            </a:r>
            <a:endParaRPr lang="en-US" sz="1150" dirty="0"/>
          </a:p>
          <a:p>
            <a:pPr indent="0" marL="0">
              <a:buNone/>
            </a:pPr>
            <a:r>
              <a:rPr lang="en-US" sz="1150" dirty="0">
                <a:solidFill>
                  <a:srgbClr val="64748B"/>
                </a:solidFill>
              </a:rPr>
              <a:t>5. Conclure sur les acquis et les suites possibles.</a:t>
            </a:r>
            <a:endParaRPr lang="en-US" sz="1150" dirty="0"/>
          </a:p>
        </p:txBody>
      </p:sp>
      <p:sp>
        <p:nvSpPr>
          <p:cNvPr id="36" name="Shape 34"/>
          <p:cNvSpPr/>
          <p:nvPr/>
        </p:nvSpPr>
        <p:spPr>
          <a:xfrm>
            <a:off x="8247888" y="4389120"/>
            <a:ext cx="2697480" cy="1097280"/>
          </a:xfrm>
          <a:prstGeom prst="roundRect">
            <a:avLst>
              <a:gd name="adj" fmla="val 8333"/>
            </a:avLst>
          </a:prstGeom>
          <a:solidFill>
            <a:srgbClr val="DBEAFE"/>
          </a:solidFill>
          <a:ln w="12700">
            <a:solidFill>
              <a:srgbClr val="DBEAFE"/>
            </a:solidFill>
            <a:prstDash val="solid"/>
          </a:ln>
        </p:spPr>
      </p:sp>
      <p:sp>
        <p:nvSpPr>
          <p:cNvPr id="37" name="Text 35"/>
          <p:cNvSpPr/>
          <p:nvPr/>
        </p:nvSpPr>
        <p:spPr>
          <a:xfrm>
            <a:off x="8430768" y="4590288"/>
            <a:ext cx="2331720" cy="676656"/>
          </a:xfrm>
          <a:prstGeom prst="rect">
            <a:avLst/>
          </a:prstGeom>
          <a:noFill/>
          <a:ln/>
        </p:spPr>
        <p:txBody>
          <a:bodyPr wrap="square" lIns="0" tIns="0" rIns="0" bIns="0" rtlCol="0" anchor="ctr"/>
          <a:lstStyle/>
          <a:p>
            <a:pPr indent="0" marL="0">
              <a:buNone/>
            </a:pPr>
            <a:r>
              <a:rPr lang="en-US" sz="1030" b="1" dirty="0">
                <a:solidFill>
                  <a:srgbClr val="2563EB"/>
                </a:solidFill>
              </a:rPr>
              <a:t>Objectif oral : rester synthétique sur les slides et garder les détails techniques dans les notes du presentateur.</a:t>
            </a:r>
            <a:endParaRPr lang="en-US" sz="103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563EB"/>
          </a:solidFill>
          <a:ln w="12700">
            <a:solidFill>
              <a:srgbClr val="2563EB">
                <a:alpha val="0"/>
              </a:srgbClr>
            </a:solidFill>
            <a:prstDash val="solid"/>
          </a:ln>
        </p:spPr>
      </p:sp>
      <p:sp>
        <p:nvSpPr>
          <p:cNvPr id="3" name="Shape 1"/>
          <p:cNvSpPr/>
          <p:nvPr/>
        </p:nvSpPr>
        <p:spPr>
          <a:xfrm>
            <a:off x="9738360" y="310896"/>
            <a:ext cx="1874520" cy="310896"/>
          </a:xfrm>
          <a:prstGeom prst="roundRect">
            <a:avLst>
              <a:gd name="adj" fmla="val 23529"/>
            </a:avLst>
          </a:prstGeom>
          <a:solidFill>
            <a:srgbClr val="DBEAFE"/>
          </a:solidFill>
          <a:ln w="12700">
            <a:solidFill>
              <a:srgbClr val="DBEAFE">
                <a:alpha val="0"/>
              </a:srgbClr>
            </a:solidFill>
            <a:prstDash val="solid"/>
          </a:ln>
        </p:spPr>
      </p:sp>
      <p:sp>
        <p:nvSpPr>
          <p:cNvPr id="4" name="Text 2"/>
          <p:cNvSpPr/>
          <p:nvPr/>
        </p:nvSpPr>
        <p:spPr>
          <a:xfrm>
            <a:off x="9893808" y="374904"/>
            <a:ext cx="1554480" cy="164592"/>
          </a:xfrm>
          <a:prstGeom prst="rect">
            <a:avLst/>
          </a:prstGeom>
          <a:noFill/>
          <a:ln/>
        </p:spPr>
        <p:txBody>
          <a:bodyPr wrap="square" lIns="0" tIns="0" rIns="0" bIns="0" rtlCol="0" anchor="ctr"/>
          <a:lstStyle/>
          <a:p>
            <a:pPr algn="ctr" indent="0" marL="0">
              <a:buNone/>
            </a:pPr>
            <a:r>
              <a:rPr lang="en-US" sz="850" b="1" dirty="0">
                <a:solidFill>
                  <a:srgbClr val="2563EB"/>
                </a:solidFill>
              </a:rPr>
              <a:t>INTRODUCTION</a:t>
            </a:r>
            <a:endParaRPr lang="en-US" sz="850" dirty="0"/>
          </a:p>
        </p:txBody>
      </p:sp>
      <p:sp>
        <p:nvSpPr>
          <p:cNvPr id="5" name="Text 3"/>
          <p:cNvSpPr/>
          <p:nvPr/>
        </p:nvSpPr>
        <p:spPr>
          <a:xfrm>
            <a:off x="548640" y="329184"/>
            <a:ext cx="7498080" cy="411480"/>
          </a:xfrm>
          <a:prstGeom prst="rect">
            <a:avLst/>
          </a:prstGeom>
          <a:noFill/>
          <a:ln/>
        </p:spPr>
        <p:txBody>
          <a:bodyPr wrap="square" lIns="0" tIns="0" rIns="0" bIns="0" rtlCol="0" anchor="ctr"/>
          <a:lstStyle/>
          <a:p>
            <a:pPr indent="0" marL="0">
              <a:buNone/>
            </a:pPr>
            <a:r>
              <a:rPr lang="en-US" sz="2400" b="1" dirty="0">
                <a:solidFill>
                  <a:srgbClr val="0F172A"/>
                </a:solidFill>
              </a:rPr>
              <a:t>Introduction generale</a:t>
            </a:r>
            <a:endParaRPr lang="en-US" sz="2400" dirty="0"/>
          </a:p>
        </p:txBody>
      </p:sp>
      <p:sp>
        <p:nvSpPr>
          <p:cNvPr id="6" name="Text 4"/>
          <p:cNvSpPr/>
          <p:nvPr/>
        </p:nvSpPr>
        <p:spPr>
          <a:xfrm>
            <a:off x="566928" y="768096"/>
            <a:ext cx="7863840" cy="329184"/>
          </a:xfrm>
          <a:prstGeom prst="rect">
            <a:avLst/>
          </a:prstGeom>
          <a:noFill/>
          <a:ln/>
        </p:spPr>
        <p:txBody>
          <a:bodyPr wrap="square" lIns="0" tIns="0" rIns="0" bIns="0" rtlCol="0" anchor="ctr"/>
          <a:lstStyle/>
          <a:p>
            <a:pPr indent="0" marL="0">
              <a:buNone/>
            </a:pPr>
            <a:r>
              <a:rPr lang="en-US" sz="1150" dirty="0">
                <a:solidFill>
                  <a:srgbClr val="64748B"/>
                </a:solidFill>
              </a:rPr>
              <a:t>Le projet vise a centraliser le suivi des reclamations et des interventions techniques dans une application web securisee.</a:t>
            </a:r>
            <a:endParaRPr lang="en-US" sz="1150" dirty="0"/>
          </a:p>
        </p:txBody>
      </p:sp>
      <p:sp>
        <p:nvSpPr>
          <p:cNvPr id="7" name="Text 5"/>
          <p:cNvSpPr/>
          <p:nvPr/>
        </p:nvSpPr>
        <p:spPr>
          <a:xfrm>
            <a:off x="548640" y="6446520"/>
            <a:ext cx="4389120" cy="182880"/>
          </a:xfrm>
          <a:prstGeom prst="rect">
            <a:avLst/>
          </a:prstGeom>
          <a:noFill/>
          <a:ln/>
        </p:spPr>
        <p:txBody>
          <a:bodyPr wrap="square" lIns="0" tIns="0" rIns="0" bIns="0" rtlCol="0" anchor="ctr"/>
          <a:lstStyle/>
          <a:p>
            <a:pPr indent="0" marL="0">
              <a:buNone/>
            </a:pPr>
            <a:r>
              <a:rPr lang="en-US" sz="850" dirty="0">
                <a:solidFill>
                  <a:srgbClr val="64748B"/>
                </a:solidFill>
              </a:rPr>
              <a:t>Analyse du code source - 10 mai 2026</a:t>
            </a:r>
            <a:endParaRPr lang="en-US" sz="850" dirty="0"/>
          </a:p>
        </p:txBody>
      </p:sp>
      <p:sp>
        <p:nvSpPr>
          <p:cNvPr id="8" name="Text 6"/>
          <p:cNvSpPr/>
          <p:nvPr/>
        </p:nvSpPr>
        <p:spPr>
          <a:xfrm>
            <a:off x="11064240" y="6419088"/>
            <a:ext cx="548640" cy="182880"/>
          </a:xfrm>
          <a:prstGeom prst="rect">
            <a:avLst/>
          </a:prstGeom>
          <a:noFill/>
          <a:ln/>
        </p:spPr>
        <p:txBody>
          <a:bodyPr wrap="square" lIns="0" tIns="0" rIns="0" bIns="0" rtlCol="0" anchor="ctr"/>
          <a:lstStyle/>
          <a:p>
            <a:pPr algn="r" indent="0" marL="0">
              <a:buNone/>
            </a:pPr>
            <a:r>
              <a:rPr lang="en-US" sz="900" b="1" dirty="0">
                <a:solidFill>
                  <a:srgbClr val="64748B"/>
                </a:solidFill>
              </a:rPr>
              <a:t>3/17</a:t>
            </a:r>
            <a:endParaRPr lang="en-US" sz="900" dirty="0"/>
          </a:p>
        </p:txBody>
      </p:sp>
      <p:sp>
        <p:nvSpPr>
          <p:cNvPr id="9" name="Shape 7"/>
          <p:cNvSpPr/>
          <p:nvPr/>
        </p:nvSpPr>
        <p:spPr>
          <a:xfrm>
            <a:off x="685800" y="1417320"/>
            <a:ext cx="2651760" cy="1920240"/>
          </a:xfrm>
          <a:prstGeom prst="roundRect">
            <a:avLst>
              <a:gd name="adj" fmla="val 4762"/>
            </a:avLst>
          </a:prstGeom>
          <a:solidFill>
            <a:srgbClr val="FFFFFF"/>
          </a:solidFill>
          <a:ln w="12700">
            <a:solidFill>
              <a:srgbClr val="CBD5E1"/>
            </a:solidFill>
            <a:prstDash val="solid"/>
          </a:ln>
        </p:spPr>
      </p:sp>
      <p:sp>
        <p:nvSpPr>
          <p:cNvPr id="10" name="Shape 8"/>
          <p:cNvSpPr/>
          <p:nvPr/>
        </p:nvSpPr>
        <p:spPr>
          <a:xfrm>
            <a:off x="850392" y="1581912"/>
            <a:ext cx="73152" cy="1591056"/>
          </a:xfrm>
          <a:prstGeom prst="rect">
            <a:avLst/>
          </a:prstGeom>
          <a:solidFill>
            <a:srgbClr val="2563EB"/>
          </a:solidFill>
          <a:ln w="12700">
            <a:solidFill>
              <a:srgbClr val="2563EB">
                <a:alpha val="0"/>
              </a:srgbClr>
            </a:solidFill>
            <a:prstDash val="solid"/>
          </a:ln>
        </p:spPr>
      </p:sp>
      <p:sp>
        <p:nvSpPr>
          <p:cNvPr id="11" name="Text 9"/>
          <p:cNvSpPr/>
          <p:nvPr/>
        </p:nvSpPr>
        <p:spPr>
          <a:xfrm>
            <a:off x="1005840" y="1581912"/>
            <a:ext cx="2194560" cy="219456"/>
          </a:xfrm>
          <a:prstGeom prst="rect">
            <a:avLst/>
          </a:prstGeom>
          <a:noFill/>
          <a:ln/>
        </p:spPr>
        <p:txBody>
          <a:bodyPr wrap="square" lIns="0" tIns="0" rIns="0" bIns="0" rtlCol="0" anchor="ctr"/>
          <a:lstStyle/>
          <a:p>
            <a:pPr indent="0" marL="0">
              <a:buNone/>
            </a:pPr>
            <a:r>
              <a:rPr lang="en-US" sz="1300" b="1" dirty="0">
                <a:solidFill>
                  <a:srgbClr val="0F172A"/>
                </a:solidFill>
              </a:rPr>
              <a:t>Contexte du stage</a:t>
            </a:r>
            <a:endParaRPr lang="en-US" sz="1300" dirty="0"/>
          </a:p>
        </p:txBody>
      </p:sp>
      <p:sp>
        <p:nvSpPr>
          <p:cNvPr id="12" name="Text 10"/>
          <p:cNvSpPr/>
          <p:nvPr/>
        </p:nvSpPr>
        <p:spPr>
          <a:xfrm>
            <a:off x="1005840" y="1892808"/>
            <a:ext cx="2240280" cy="1298448"/>
          </a:xfrm>
          <a:prstGeom prst="rect">
            <a:avLst/>
          </a:prstGeom>
          <a:noFill/>
          <a:ln/>
        </p:spPr>
        <p:txBody>
          <a:bodyPr wrap="square" lIns="0" tIns="0" rIns="0" bIns="0" rtlCol="0" anchor="t"/>
          <a:lstStyle/>
          <a:p>
            <a:pPr indent="0" marL="0">
              <a:buNone/>
            </a:pPr>
            <a:r>
              <a:rPr lang="en-US" sz="1050" dirty="0">
                <a:solidFill>
                  <a:srgbClr val="64748B"/>
                </a:solidFill>
              </a:rPr>
              <a:t>• Modernisation d un environnement metier oriente service public local.</a:t>
            </a:r>
            <a:endParaRPr lang="en-US" sz="1050" dirty="0"/>
          </a:p>
          <a:p>
            <a:pPr indent="0" marL="0">
              <a:buNone/>
            </a:pPr>
            <a:r>
              <a:rPr lang="en-US" sz="1050" dirty="0">
                <a:solidFill>
                  <a:srgbClr val="64748B"/>
                </a:solidFill>
              </a:rPr>
              <a:t>• Besoin de disposer d un outil unique pour les operations techniques.</a:t>
            </a:r>
            <a:endParaRPr lang="en-US" sz="1050" dirty="0"/>
          </a:p>
        </p:txBody>
      </p:sp>
      <p:sp>
        <p:nvSpPr>
          <p:cNvPr id="13" name="Shape 11"/>
          <p:cNvSpPr/>
          <p:nvPr/>
        </p:nvSpPr>
        <p:spPr>
          <a:xfrm>
            <a:off x="3547872" y="1417320"/>
            <a:ext cx="2651760" cy="1920240"/>
          </a:xfrm>
          <a:prstGeom prst="roundRect">
            <a:avLst>
              <a:gd name="adj" fmla="val 4762"/>
            </a:avLst>
          </a:prstGeom>
          <a:solidFill>
            <a:srgbClr val="FFFFFF"/>
          </a:solidFill>
          <a:ln w="12700">
            <a:solidFill>
              <a:srgbClr val="CBD5E1"/>
            </a:solidFill>
            <a:prstDash val="solid"/>
          </a:ln>
        </p:spPr>
      </p:sp>
      <p:sp>
        <p:nvSpPr>
          <p:cNvPr id="14" name="Shape 12"/>
          <p:cNvSpPr/>
          <p:nvPr/>
        </p:nvSpPr>
        <p:spPr>
          <a:xfrm>
            <a:off x="3712464" y="1581912"/>
            <a:ext cx="73152" cy="1591056"/>
          </a:xfrm>
          <a:prstGeom prst="rect">
            <a:avLst/>
          </a:prstGeom>
          <a:solidFill>
            <a:srgbClr val="0891B2"/>
          </a:solidFill>
          <a:ln w="12700">
            <a:solidFill>
              <a:srgbClr val="0891B2">
                <a:alpha val="0"/>
              </a:srgbClr>
            </a:solidFill>
            <a:prstDash val="solid"/>
          </a:ln>
        </p:spPr>
      </p:sp>
      <p:sp>
        <p:nvSpPr>
          <p:cNvPr id="15" name="Text 13"/>
          <p:cNvSpPr/>
          <p:nvPr/>
        </p:nvSpPr>
        <p:spPr>
          <a:xfrm>
            <a:off x="3867912" y="1581912"/>
            <a:ext cx="2194560" cy="219456"/>
          </a:xfrm>
          <a:prstGeom prst="rect">
            <a:avLst/>
          </a:prstGeom>
          <a:noFill/>
          <a:ln/>
        </p:spPr>
        <p:txBody>
          <a:bodyPr wrap="square" lIns="0" tIns="0" rIns="0" bIns="0" rtlCol="0" anchor="ctr"/>
          <a:lstStyle/>
          <a:p>
            <a:pPr indent="0" marL="0">
              <a:buNone/>
            </a:pPr>
            <a:r>
              <a:rPr lang="en-US" sz="1300" b="1" dirty="0">
                <a:solidFill>
                  <a:srgbClr val="0F172A"/>
                </a:solidFill>
              </a:rPr>
              <a:t>Presentation du projet</a:t>
            </a:r>
            <a:endParaRPr lang="en-US" sz="1300" dirty="0"/>
          </a:p>
        </p:txBody>
      </p:sp>
      <p:sp>
        <p:nvSpPr>
          <p:cNvPr id="16" name="Text 14"/>
          <p:cNvSpPr/>
          <p:nvPr/>
        </p:nvSpPr>
        <p:spPr>
          <a:xfrm>
            <a:off x="3867912" y="1892808"/>
            <a:ext cx="2240280" cy="1298448"/>
          </a:xfrm>
          <a:prstGeom prst="rect">
            <a:avLst/>
          </a:prstGeom>
          <a:noFill/>
          <a:ln/>
        </p:spPr>
        <p:txBody>
          <a:bodyPr wrap="square" lIns="0" tIns="0" rIns="0" bIns="0" rtlCol="0" anchor="t"/>
          <a:lstStyle/>
          <a:p>
            <a:pPr indent="0" marL="0">
              <a:buNone/>
            </a:pPr>
            <a:r>
              <a:rPr lang="en-US" sz="1050" dirty="0">
                <a:solidFill>
                  <a:srgbClr val="64748B"/>
                </a:solidFill>
              </a:rPr>
              <a:t>• Application web full stack : frontend React et API Laravel.</a:t>
            </a:r>
            <a:endParaRPr lang="en-US" sz="1050" dirty="0"/>
          </a:p>
          <a:p>
            <a:pPr indent="0" marL="0">
              <a:buNone/>
            </a:pPr>
            <a:r>
              <a:rPr lang="en-US" sz="1050" dirty="0">
                <a:solidFill>
                  <a:srgbClr val="64748B"/>
                </a:solidFill>
              </a:rPr>
              <a:t>• Modules clients, compteurs, secteurs, pannes, reparations et interventions.</a:t>
            </a:r>
            <a:endParaRPr lang="en-US" sz="1050" dirty="0"/>
          </a:p>
        </p:txBody>
      </p:sp>
      <p:sp>
        <p:nvSpPr>
          <p:cNvPr id="17" name="Shape 15"/>
          <p:cNvSpPr/>
          <p:nvPr/>
        </p:nvSpPr>
        <p:spPr>
          <a:xfrm>
            <a:off x="6409944" y="1417320"/>
            <a:ext cx="2651760" cy="1920240"/>
          </a:xfrm>
          <a:prstGeom prst="roundRect">
            <a:avLst>
              <a:gd name="adj" fmla="val 4762"/>
            </a:avLst>
          </a:prstGeom>
          <a:solidFill>
            <a:srgbClr val="FFFFFF"/>
          </a:solidFill>
          <a:ln w="12700">
            <a:solidFill>
              <a:srgbClr val="CBD5E1"/>
            </a:solidFill>
            <a:prstDash val="solid"/>
          </a:ln>
        </p:spPr>
      </p:sp>
      <p:sp>
        <p:nvSpPr>
          <p:cNvPr id="18" name="Shape 16"/>
          <p:cNvSpPr/>
          <p:nvPr/>
        </p:nvSpPr>
        <p:spPr>
          <a:xfrm>
            <a:off x="6574536" y="1581912"/>
            <a:ext cx="73152" cy="1591056"/>
          </a:xfrm>
          <a:prstGeom prst="rect">
            <a:avLst/>
          </a:prstGeom>
          <a:solidFill>
            <a:srgbClr val="D97706"/>
          </a:solidFill>
          <a:ln w="12700">
            <a:solidFill>
              <a:srgbClr val="D97706">
                <a:alpha val="0"/>
              </a:srgbClr>
            </a:solidFill>
            <a:prstDash val="solid"/>
          </a:ln>
        </p:spPr>
      </p:sp>
      <p:sp>
        <p:nvSpPr>
          <p:cNvPr id="19" name="Text 17"/>
          <p:cNvSpPr/>
          <p:nvPr/>
        </p:nvSpPr>
        <p:spPr>
          <a:xfrm>
            <a:off x="6729984" y="1581912"/>
            <a:ext cx="2194560" cy="219456"/>
          </a:xfrm>
          <a:prstGeom prst="rect">
            <a:avLst/>
          </a:prstGeom>
          <a:noFill/>
          <a:ln/>
        </p:spPr>
        <p:txBody>
          <a:bodyPr wrap="square" lIns="0" tIns="0" rIns="0" bIns="0" rtlCol="0" anchor="ctr"/>
          <a:lstStyle/>
          <a:p>
            <a:pPr indent="0" marL="0">
              <a:buNone/>
            </a:pPr>
            <a:r>
              <a:rPr lang="en-US" sz="1300" b="1" dirty="0">
                <a:solidFill>
                  <a:srgbClr val="0F172A"/>
                </a:solidFill>
              </a:rPr>
              <a:t>Problematique</a:t>
            </a:r>
            <a:endParaRPr lang="en-US" sz="1300" dirty="0"/>
          </a:p>
        </p:txBody>
      </p:sp>
      <p:sp>
        <p:nvSpPr>
          <p:cNvPr id="20" name="Text 18"/>
          <p:cNvSpPr/>
          <p:nvPr/>
        </p:nvSpPr>
        <p:spPr>
          <a:xfrm>
            <a:off x="6729984" y="1892808"/>
            <a:ext cx="2240280" cy="1298448"/>
          </a:xfrm>
          <a:prstGeom prst="rect">
            <a:avLst/>
          </a:prstGeom>
          <a:noFill/>
          <a:ln/>
        </p:spPr>
        <p:txBody>
          <a:bodyPr wrap="square" lIns="0" tIns="0" rIns="0" bIns="0" rtlCol="0" anchor="t"/>
          <a:lstStyle/>
          <a:p>
            <a:pPr indent="0" marL="0">
              <a:buNone/>
            </a:pPr>
            <a:r>
              <a:rPr lang="en-US" sz="1050" dirty="0">
                <a:solidFill>
                  <a:srgbClr val="64748B"/>
                </a:solidFill>
              </a:rPr>
              <a:t>• Suivre les anomalies terrain, les affectations et les interventions sans dispersion.</a:t>
            </a:r>
            <a:endParaRPr lang="en-US" sz="1050" dirty="0"/>
          </a:p>
          <a:p>
            <a:pPr indent="0" marL="0">
              <a:buNone/>
            </a:pPr>
            <a:r>
              <a:rPr lang="en-US" sz="1050" dirty="0">
                <a:solidFill>
                  <a:srgbClr val="64748B"/>
                </a:solidFill>
              </a:rPr>
              <a:t>• Garantir un acces differencie selon les roles utilisateurs.</a:t>
            </a:r>
            <a:endParaRPr lang="en-US" sz="1050" dirty="0"/>
          </a:p>
        </p:txBody>
      </p:sp>
      <p:sp>
        <p:nvSpPr>
          <p:cNvPr id="21" name="Shape 19"/>
          <p:cNvSpPr/>
          <p:nvPr/>
        </p:nvSpPr>
        <p:spPr>
          <a:xfrm>
            <a:off x="9272016" y="1417320"/>
            <a:ext cx="2194560" cy="1920240"/>
          </a:xfrm>
          <a:prstGeom prst="roundRect">
            <a:avLst>
              <a:gd name="adj" fmla="val 4762"/>
            </a:avLst>
          </a:prstGeom>
          <a:solidFill>
            <a:srgbClr val="FFFFFF"/>
          </a:solidFill>
          <a:ln w="12700">
            <a:solidFill>
              <a:srgbClr val="CBD5E1"/>
            </a:solidFill>
            <a:prstDash val="solid"/>
          </a:ln>
        </p:spPr>
      </p:sp>
      <p:sp>
        <p:nvSpPr>
          <p:cNvPr id="22" name="Shape 20"/>
          <p:cNvSpPr/>
          <p:nvPr/>
        </p:nvSpPr>
        <p:spPr>
          <a:xfrm>
            <a:off x="9436608" y="1581912"/>
            <a:ext cx="73152" cy="1591056"/>
          </a:xfrm>
          <a:prstGeom prst="rect">
            <a:avLst/>
          </a:prstGeom>
          <a:solidFill>
            <a:srgbClr val="059669"/>
          </a:solidFill>
          <a:ln w="12700">
            <a:solidFill>
              <a:srgbClr val="059669">
                <a:alpha val="0"/>
              </a:srgbClr>
            </a:solidFill>
            <a:prstDash val="solid"/>
          </a:ln>
        </p:spPr>
      </p:sp>
      <p:sp>
        <p:nvSpPr>
          <p:cNvPr id="23" name="Text 21"/>
          <p:cNvSpPr/>
          <p:nvPr/>
        </p:nvSpPr>
        <p:spPr>
          <a:xfrm>
            <a:off x="9592056" y="1581912"/>
            <a:ext cx="1737360" cy="219456"/>
          </a:xfrm>
          <a:prstGeom prst="rect">
            <a:avLst/>
          </a:prstGeom>
          <a:noFill/>
          <a:ln/>
        </p:spPr>
        <p:txBody>
          <a:bodyPr wrap="square" lIns="0" tIns="0" rIns="0" bIns="0" rtlCol="0" anchor="ctr"/>
          <a:lstStyle/>
          <a:p>
            <a:pPr indent="0" marL="0">
              <a:buNone/>
            </a:pPr>
            <a:r>
              <a:rPr lang="en-US" sz="1300" b="1" dirty="0">
                <a:solidFill>
                  <a:srgbClr val="0F172A"/>
                </a:solidFill>
              </a:rPr>
              <a:t>Objectifs</a:t>
            </a:r>
            <a:endParaRPr lang="en-US" sz="1300" dirty="0"/>
          </a:p>
        </p:txBody>
      </p:sp>
      <p:sp>
        <p:nvSpPr>
          <p:cNvPr id="24" name="Text 22"/>
          <p:cNvSpPr/>
          <p:nvPr/>
        </p:nvSpPr>
        <p:spPr>
          <a:xfrm>
            <a:off x="9592056" y="1892808"/>
            <a:ext cx="1783080" cy="1298448"/>
          </a:xfrm>
          <a:prstGeom prst="rect">
            <a:avLst/>
          </a:prstGeom>
          <a:noFill/>
          <a:ln/>
        </p:spPr>
        <p:txBody>
          <a:bodyPr wrap="square" lIns="0" tIns="0" rIns="0" bIns="0" rtlCol="0" anchor="t"/>
          <a:lstStyle/>
          <a:p>
            <a:pPr indent="0" marL="0">
              <a:buNone/>
            </a:pPr>
            <a:r>
              <a:rPr lang="en-US" sz="1050" dirty="0">
                <a:solidFill>
                  <a:srgbClr val="64748B"/>
                </a:solidFill>
              </a:rPr>
              <a:t>• Centraliser.</a:t>
            </a:r>
            <a:endParaRPr lang="en-US" sz="1050" dirty="0"/>
          </a:p>
          <a:p>
            <a:pPr indent="0" marL="0">
              <a:buNone/>
            </a:pPr>
            <a:r>
              <a:rPr lang="en-US" sz="1050" dirty="0">
                <a:solidFill>
                  <a:srgbClr val="64748B"/>
                </a:solidFill>
              </a:rPr>
              <a:t>• Securiser.</a:t>
            </a:r>
            <a:endParaRPr lang="en-US" sz="1050" dirty="0"/>
          </a:p>
          <a:p>
            <a:pPr indent="0" marL="0">
              <a:buNone/>
            </a:pPr>
            <a:r>
              <a:rPr lang="en-US" sz="1050" dirty="0">
                <a:solidFill>
                  <a:srgbClr val="64748B"/>
                </a:solidFill>
              </a:rPr>
              <a:t>• Tracer.</a:t>
            </a:r>
            <a:endParaRPr lang="en-US" sz="1050" dirty="0"/>
          </a:p>
          <a:p>
            <a:pPr indent="0" marL="0">
              <a:buNone/>
            </a:pPr>
            <a:r>
              <a:rPr lang="en-US" sz="1050" dirty="0">
                <a:solidFill>
                  <a:srgbClr val="64748B"/>
                </a:solidFill>
              </a:rPr>
              <a:t>• Reporter.</a:t>
            </a:r>
            <a:endParaRPr lang="en-US" sz="1050" dirty="0"/>
          </a:p>
        </p:txBody>
      </p:sp>
      <p:sp>
        <p:nvSpPr>
          <p:cNvPr id="25" name="Shape 23"/>
          <p:cNvSpPr/>
          <p:nvPr/>
        </p:nvSpPr>
        <p:spPr>
          <a:xfrm>
            <a:off x="685800" y="3703320"/>
            <a:ext cx="5394960" cy="2103120"/>
          </a:xfrm>
          <a:prstGeom prst="roundRect">
            <a:avLst>
              <a:gd name="adj" fmla="val 4348"/>
            </a:avLst>
          </a:prstGeom>
          <a:solidFill>
            <a:srgbClr val="FFFFFF"/>
          </a:solidFill>
          <a:ln w="12700">
            <a:solidFill>
              <a:srgbClr val="CBD5E1"/>
            </a:solidFill>
            <a:prstDash val="solid"/>
          </a:ln>
        </p:spPr>
      </p:sp>
      <p:sp>
        <p:nvSpPr>
          <p:cNvPr id="26" name="Shape 24"/>
          <p:cNvSpPr/>
          <p:nvPr/>
        </p:nvSpPr>
        <p:spPr>
          <a:xfrm>
            <a:off x="850392" y="3867912"/>
            <a:ext cx="73152" cy="1773936"/>
          </a:xfrm>
          <a:prstGeom prst="rect">
            <a:avLst/>
          </a:prstGeom>
          <a:solidFill>
            <a:srgbClr val="2563EB"/>
          </a:solidFill>
          <a:ln w="12700">
            <a:solidFill>
              <a:srgbClr val="2563EB">
                <a:alpha val="0"/>
              </a:srgbClr>
            </a:solidFill>
            <a:prstDash val="solid"/>
          </a:ln>
        </p:spPr>
      </p:sp>
      <p:sp>
        <p:nvSpPr>
          <p:cNvPr id="27" name="Text 25"/>
          <p:cNvSpPr/>
          <p:nvPr/>
        </p:nvSpPr>
        <p:spPr>
          <a:xfrm>
            <a:off x="1005840" y="3867912"/>
            <a:ext cx="4937760" cy="219456"/>
          </a:xfrm>
          <a:prstGeom prst="rect">
            <a:avLst/>
          </a:prstGeom>
          <a:noFill/>
          <a:ln/>
        </p:spPr>
        <p:txBody>
          <a:bodyPr wrap="square" lIns="0" tIns="0" rIns="0" bIns="0" rtlCol="0" anchor="ctr"/>
          <a:lstStyle/>
          <a:p>
            <a:pPr indent="0" marL="0">
              <a:buNone/>
            </a:pPr>
            <a:r>
              <a:rPr lang="en-US" sz="1300" b="1" dirty="0">
                <a:solidFill>
                  <a:srgbClr val="0F172A"/>
                </a:solidFill>
              </a:rPr>
              <a:t>Ce que le code confirme</a:t>
            </a:r>
            <a:endParaRPr lang="en-US" sz="1300" dirty="0"/>
          </a:p>
        </p:txBody>
      </p:sp>
      <p:sp>
        <p:nvSpPr>
          <p:cNvPr id="28" name="Text 26"/>
          <p:cNvSpPr/>
          <p:nvPr/>
        </p:nvSpPr>
        <p:spPr>
          <a:xfrm>
            <a:off x="1005840" y="4178808"/>
            <a:ext cx="4983480" cy="1481328"/>
          </a:xfrm>
          <a:prstGeom prst="rect">
            <a:avLst/>
          </a:prstGeom>
          <a:noFill/>
          <a:ln/>
        </p:spPr>
        <p:txBody>
          <a:bodyPr wrap="square" lIns="0" tIns="0" rIns="0" bIns="0" rtlCol="0" anchor="t"/>
          <a:lstStyle/>
          <a:p>
            <a:pPr indent="0" marL="0">
              <a:buNone/>
            </a:pPr>
            <a:r>
              <a:rPr lang="en-US" sz="1050" dirty="0">
                <a:solidFill>
                  <a:srgbClr val="64748B"/>
                </a:solidFill>
              </a:rPr>
              <a:t>• Tableaux de bord par role avec statistiques, graphiques et cartographie.</a:t>
            </a:r>
            <a:endParaRPr lang="en-US" sz="1050" dirty="0"/>
          </a:p>
          <a:p>
            <a:pPr indent="0" marL="0">
              <a:buNone/>
            </a:pPr>
            <a:r>
              <a:rPr lang="en-US" sz="1050" dirty="0">
                <a:solidFill>
                  <a:srgbClr val="64748B"/>
                </a:solidFill>
              </a:rPr>
              <a:t>• API REST securisee par Sanctum, middleware role et scopes metier pour techniciens.</a:t>
            </a:r>
            <a:endParaRPr lang="en-US" sz="1050" dirty="0"/>
          </a:p>
          <a:p>
            <a:pPr indent="0" marL="0">
              <a:buNone/>
            </a:pPr>
            <a:r>
              <a:rPr lang="en-US" sz="1050" dirty="0">
                <a:solidFill>
                  <a:srgbClr val="64748B"/>
                </a:solidFill>
              </a:rPr>
              <a:t>• Exports PDF / Excel, notifications en base et journal d activite.</a:t>
            </a:r>
            <a:endParaRPr lang="en-US" sz="1050" dirty="0"/>
          </a:p>
        </p:txBody>
      </p:sp>
      <p:sp>
        <p:nvSpPr>
          <p:cNvPr id="29" name="Shape 27"/>
          <p:cNvSpPr/>
          <p:nvPr/>
        </p:nvSpPr>
        <p:spPr>
          <a:xfrm>
            <a:off x="6355080" y="3703320"/>
            <a:ext cx="5120640" cy="2103120"/>
          </a:xfrm>
          <a:prstGeom prst="roundRect">
            <a:avLst>
              <a:gd name="adj" fmla="val 4348"/>
            </a:avLst>
          </a:prstGeom>
          <a:solidFill>
            <a:srgbClr val="FFFFFF"/>
          </a:solidFill>
          <a:ln w="12700">
            <a:solidFill>
              <a:srgbClr val="CBD5E1"/>
            </a:solidFill>
            <a:prstDash val="solid"/>
          </a:ln>
        </p:spPr>
      </p:sp>
      <p:sp>
        <p:nvSpPr>
          <p:cNvPr id="30" name="Shape 28"/>
          <p:cNvSpPr/>
          <p:nvPr/>
        </p:nvSpPr>
        <p:spPr>
          <a:xfrm>
            <a:off x="6519672" y="3867912"/>
            <a:ext cx="73152" cy="1773936"/>
          </a:xfrm>
          <a:prstGeom prst="rect">
            <a:avLst/>
          </a:prstGeom>
          <a:solidFill>
            <a:srgbClr val="DC2626"/>
          </a:solidFill>
          <a:ln w="12700">
            <a:solidFill>
              <a:srgbClr val="DC2626">
                <a:alpha val="0"/>
              </a:srgbClr>
            </a:solidFill>
            <a:prstDash val="solid"/>
          </a:ln>
        </p:spPr>
      </p:sp>
      <p:sp>
        <p:nvSpPr>
          <p:cNvPr id="31" name="Text 29"/>
          <p:cNvSpPr/>
          <p:nvPr/>
        </p:nvSpPr>
        <p:spPr>
          <a:xfrm>
            <a:off x="6675120" y="3867912"/>
            <a:ext cx="4663440" cy="219456"/>
          </a:xfrm>
          <a:prstGeom prst="rect">
            <a:avLst/>
          </a:prstGeom>
          <a:noFill/>
          <a:ln/>
        </p:spPr>
        <p:txBody>
          <a:bodyPr wrap="square" lIns="0" tIns="0" rIns="0" bIns="0" rtlCol="0" anchor="ctr"/>
          <a:lstStyle/>
          <a:p>
            <a:pPr indent="0" marL="0">
              <a:buNone/>
            </a:pPr>
            <a:r>
              <a:rPr lang="en-US" sz="1300" b="1" dirty="0">
                <a:solidFill>
                  <a:srgbClr val="0F172A"/>
                </a:solidFill>
              </a:rPr>
              <a:t>Valeur ajoutee attendue</a:t>
            </a:r>
            <a:endParaRPr lang="en-US" sz="1300" dirty="0"/>
          </a:p>
        </p:txBody>
      </p:sp>
      <p:sp>
        <p:nvSpPr>
          <p:cNvPr id="32" name="Text 30"/>
          <p:cNvSpPr/>
          <p:nvPr/>
        </p:nvSpPr>
        <p:spPr>
          <a:xfrm>
            <a:off x="6675120" y="4178808"/>
            <a:ext cx="4709160" cy="1481328"/>
          </a:xfrm>
          <a:prstGeom prst="rect">
            <a:avLst/>
          </a:prstGeom>
          <a:noFill/>
          <a:ln/>
        </p:spPr>
        <p:txBody>
          <a:bodyPr wrap="square" lIns="0" tIns="0" rIns="0" bIns="0" rtlCol="0" anchor="t"/>
          <a:lstStyle/>
          <a:p>
            <a:pPr indent="0" marL="0">
              <a:buNone/>
            </a:pPr>
            <a:r>
              <a:rPr lang="en-US" sz="1050" dirty="0">
                <a:solidFill>
                  <a:srgbClr val="64748B"/>
                </a:solidFill>
              </a:rPr>
              <a:t>• Meilleure coordination entre direction, responsable, manager et techniciens.</a:t>
            </a:r>
            <a:endParaRPr lang="en-US" sz="1050" dirty="0"/>
          </a:p>
          <a:p>
            <a:pPr indent="0" marL="0">
              <a:buNone/>
            </a:pPr>
            <a:r>
              <a:rPr lang="en-US" sz="1050" dirty="0">
                <a:solidFill>
                  <a:srgbClr val="64748B"/>
                </a:solidFill>
              </a:rPr>
              <a:t>• Vision consolidee des clients, compteurs, secteurs et anomalies.</a:t>
            </a:r>
            <a:endParaRPr lang="en-US" sz="1050" dirty="0"/>
          </a:p>
          <a:p>
            <a:pPr indent="0" marL="0">
              <a:buNone/>
            </a:pPr>
            <a:r>
              <a:rPr lang="en-US" sz="1050" dirty="0">
                <a:solidFill>
                  <a:srgbClr val="64748B"/>
                </a:solidFill>
              </a:rPr>
              <a:t>• Base technique exploitable pour le pilotage et l amelioration continue.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563EB"/>
          </a:solidFill>
          <a:ln w="12700">
            <a:solidFill>
              <a:srgbClr val="2563EB">
                <a:alpha val="0"/>
              </a:srgbClr>
            </a:solidFill>
            <a:prstDash val="solid"/>
          </a:ln>
        </p:spPr>
      </p:sp>
      <p:sp>
        <p:nvSpPr>
          <p:cNvPr id="3" name="Shape 1"/>
          <p:cNvSpPr/>
          <p:nvPr/>
        </p:nvSpPr>
        <p:spPr>
          <a:xfrm>
            <a:off x="9738360" y="310896"/>
            <a:ext cx="1874520" cy="310896"/>
          </a:xfrm>
          <a:prstGeom prst="roundRect">
            <a:avLst>
              <a:gd name="adj" fmla="val 23529"/>
            </a:avLst>
          </a:prstGeom>
          <a:solidFill>
            <a:srgbClr val="DBEAFE"/>
          </a:solidFill>
          <a:ln w="12700">
            <a:solidFill>
              <a:srgbClr val="DBEAFE">
                <a:alpha val="0"/>
              </a:srgbClr>
            </a:solidFill>
            <a:prstDash val="solid"/>
          </a:ln>
        </p:spPr>
      </p:sp>
      <p:sp>
        <p:nvSpPr>
          <p:cNvPr id="4" name="Text 2"/>
          <p:cNvSpPr/>
          <p:nvPr/>
        </p:nvSpPr>
        <p:spPr>
          <a:xfrm>
            <a:off x="9893808" y="374904"/>
            <a:ext cx="1554480" cy="164592"/>
          </a:xfrm>
          <a:prstGeom prst="rect">
            <a:avLst/>
          </a:prstGeom>
          <a:noFill/>
          <a:ln/>
        </p:spPr>
        <p:txBody>
          <a:bodyPr wrap="square" lIns="0" tIns="0" rIns="0" bIns="0" rtlCol="0" anchor="ctr"/>
          <a:lstStyle/>
          <a:p>
            <a:pPr algn="ctr" indent="0" marL="0">
              <a:buNone/>
            </a:pPr>
            <a:r>
              <a:rPr lang="en-US" sz="850" b="1" dirty="0">
                <a:solidFill>
                  <a:srgbClr val="2563EB"/>
                </a:solidFill>
              </a:rPr>
              <a:t>ENTREPRISE</a:t>
            </a:r>
            <a:endParaRPr lang="en-US" sz="850" dirty="0"/>
          </a:p>
        </p:txBody>
      </p:sp>
      <p:sp>
        <p:nvSpPr>
          <p:cNvPr id="5" name="Text 3"/>
          <p:cNvSpPr/>
          <p:nvPr/>
        </p:nvSpPr>
        <p:spPr>
          <a:xfrm>
            <a:off x="548640" y="329184"/>
            <a:ext cx="7498080" cy="411480"/>
          </a:xfrm>
          <a:prstGeom prst="rect">
            <a:avLst/>
          </a:prstGeom>
          <a:noFill/>
          <a:ln/>
        </p:spPr>
        <p:txBody>
          <a:bodyPr wrap="square" lIns="0" tIns="0" rIns="0" bIns="0" rtlCol="0" anchor="ctr"/>
          <a:lstStyle/>
          <a:p>
            <a:pPr indent="0" marL="0">
              <a:buNone/>
            </a:pPr>
            <a:r>
              <a:rPr lang="en-US" sz="2400" b="1" dirty="0">
                <a:solidFill>
                  <a:srgbClr val="0F172A"/>
                </a:solidFill>
              </a:rPr>
              <a:t>Presentation de l entreprise / etablissement</a:t>
            </a:r>
            <a:endParaRPr lang="en-US" sz="2400" dirty="0"/>
          </a:p>
        </p:txBody>
      </p:sp>
      <p:sp>
        <p:nvSpPr>
          <p:cNvPr id="6" name="Text 4"/>
          <p:cNvSpPr/>
          <p:nvPr/>
        </p:nvSpPr>
        <p:spPr>
          <a:xfrm>
            <a:off x="566928" y="768096"/>
            <a:ext cx="7863840" cy="329184"/>
          </a:xfrm>
          <a:prstGeom prst="rect">
            <a:avLst/>
          </a:prstGeom>
          <a:noFill/>
          <a:ln/>
        </p:spPr>
        <p:txBody>
          <a:bodyPr wrap="square" lIns="0" tIns="0" rIns="0" bIns="0" rtlCol="0" anchor="ctr"/>
          <a:lstStyle/>
          <a:p>
            <a:pPr indent="0" marL="0">
              <a:buNone/>
            </a:pPr>
            <a:r>
              <a:rPr lang="en-US" sz="1150" dirty="0">
                <a:solidFill>
                  <a:srgbClr val="64748B"/>
                </a:solidFill>
              </a:rPr>
              <a:t>Le code ne donne pas le nom officiel du lieu de stage, mais il indique clairement le contexte metier cible.</a:t>
            </a:r>
            <a:endParaRPr lang="en-US" sz="1150" dirty="0"/>
          </a:p>
        </p:txBody>
      </p:sp>
      <p:sp>
        <p:nvSpPr>
          <p:cNvPr id="7" name="Text 5"/>
          <p:cNvSpPr/>
          <p:nvPr/>
        </p:nvSpPr>
        <p:spPr>
          <a:xfrm>
            <a:off x="548640" y="6446520"/>
            <a:ext cx="4389120" cy="182880"/>
          </a:xfrm>
          <a:prstGeom prst="rect">
            <a:avLst/>
          </a:prstGeom>
          <a:noFill/>
          <a:ln/>
        </p:spPr>
        <p:txBody>
          <a:bodyPr wrap="square" lIns="0" tIns="0" rIns="0" bIns="0" rtlCol="0" anchor="ctr"/>
          <a:lstStyle/>
          <a:p>
            <a:pPr indent="0" marL="0">
              <a:buNone/>
            </a:pPr>
            <a:r>
              <a:rPr lang="en-US" sz="850" dirty="0">
                <a:solidFill>
                  <a:srgbClr val="64748B"/>
                </a:solidFill>
              </a:rPr>
              <a:t>Analyse du code source - 10 mai 2026</a:t>
            </a:r>
            <a:endParaRPr lang="en-US" sz="850" dirty="0"/>
          </a:p>
        </p:txBody>
      </p:sp>
      <p:sp>
        <p:nvSpPr>
          <p:cNvPr id="8" name="Text 6"/>
          <p:cNvSpPr/>
          <p:nvPr/>
        </p:nvSpPr>
        <p:spPr>
          <a:xfrm>
            <a:off x="11064240" y="6419088"/>
            <a:ext cx="548640" cy="182880"/>
          </a:xfrm>
          <a:prstGeom prst="rect">
            <a:avLst/>
          </a:prstGeom>
          <a:noFill/>
          <a:ln/>
        </p:spPr>
        <p:txBody>
          <a:bodyPr wrap="square" lIns="0" tIns="0" rIns="0" bIns="0" rtlCol="0" anchor="ctr"/>
          <a:lstStyle/>
          <a:p>
            <a:pPr algn="r" indent="0" marL="0">
              <a:buNone/>
            </a:pPr>
            <a:r>
              <a:rPr lang="en-US" sz="900" b="1" dirty="0">
                <a:solidFill>
                  <a:srgbClr val="64748B"/>
                </a:solidFill>
              </a:rPr>
              <a:t>4/17</a:t>
            </a:r>
            <a:endParaRPr lang="en-US" sz="900" dirty="0"/>
          </a:p>
        </p:txBody>
      </p:sp>
      <p:sp>
        <p:nvSpPr>
          <p:cNvPr id="9" name="Shape 7"/>
          <p:cNvSpPr/>
          <p:nvPr/>
        </p:nvSpPr>
        <p:spPr>
          <a:xfrm>
            <a:off x="685800" y="1463040"/>
            <a:ext cx="3657600" cy="1828800"/>
          </a:xfrm>
          <a:prstGeom prst="roundRect">
            <a:avLst>
              <a:gd name="adj" fmla="val 5000"/>
            </a:avLst>
          </a:prstGeom>
          <a:solidFill>
            <a:srgbClr val="FFFFFF"/>
          </a:solidFill>
          <a:ln w="12700">
            <a:solidFill>
              <a:srgbClr val="CBD5E1"/>
            </a:solidFill>
            <a:prstDash val="solid"/>
          </a:ln>
        </p:spPr>
      </p:sp>
      <p:sp>
        <p:nvSpPr>
          <p:cNvPr id="10" name="Shape 8"/>
          <p:cNvSpPr/>
          <p:nvPr/>
        </p:nvSpPr>
        <p:spPr>
          <a:xfrm>
            <a:off x="850392" y="1627632"/>
            <a:ext cx="73152" cy="1499616"/>
          </a:xfrm>
          <a:prstGeom prst="rect">
            <a:avLst/>
          </a:prstGeom>
          <a:solidFill>
            <a:srgbClr val="2563EB"/>
          </a:solidFill>
          <a:ln w="12700">
            <a:solidFill>
              <a:srgbClr val="2563EB">
                <a:alpha val="0"/>
              </a:srgbClr>
            </a:solidFill>
            <a:prstDash val="solid"/>
          </a:ln>
        </p:spPr>
      </p:sp>
      <p:sp>
        <p:nvSpPr>
          <p:cNvPr id="11" name="Text 9"/>
          <p:cNvSpPr/>
          <p:nvPr/>
        </p:nvSpPr>
        <p:spPr>
          <a:xfrm>
            <a:off x="1005840" y="1627632"/>
            <a:ext cx="3200400" cy="219456"/>
          </a:xfrm>
          <a:prstGeom prst="rect">
            <a:avLst/>
          </a:prstGeom>
          <a:noFill/>
          <a:ln/>
        </p:spPr>
        <p:txBody>
          <a:bodyPr wrap="square" lIns="0" tIns="0" rIns="0" bIns="0" rtlCol="0" anchor="ctr"/>
          <a:lstStyle/>
          <a:p>
            <a:pPr indent="0" marL="0">
              <a:buNone/>
            </a:pPr>
            <a:r>
              <a:rPr lang="en-US" sz="1300" b="1" dirty="0">
                <a:solidFill>
                  <a:srgbClr val="0F172A"/>
                </a:solidFill>
              </a:rPr>
              <a:t>Observation issue du code</a:t>
            </a:r>
            <a:endParaRPr lang="en-US" sz="1300" dirty="0"/>
          </a:p>
        </p:txBody>
      </p:sp>
      <p:sp>
        <p:nvSpPr>
          <p:cNvPr id="12" name="Text 10"/>
          <p:cNvSpPr/>
          <p:nvPr/>
        </p:nvSpPr>
        <p:spPr>
          <a:xfrm>
            <a:off x="1005840" y="1938528"/>
            <a:ext cx="3246120" cy="1207008"/>
          </a:xfrm>
          <a:prstGeom prst="rect">
            <a:avLst/>
          </a:prstGeom>
          <a:noFill/>
          <a:ln/>
        </p:spPr>
        <p:txBody>
          <a:bodyPr wrap="square" lIns="0" tIns="0" rIns="0" bIns="0" rtlCol="0" anchor="t"/>
          <a:lstStyle/>
          <a:p>
            <a:pPr indent="0" marL="0">
              <a:buNone/>
            </a:pPr>
            <a:r>
              <a:rPr lang="en-US" sz="1050" dirty="0">
                <a:solidFill>
                  <a:srgbClr val="64748B"/>
                </a:solidFill>
              </a:rPr>
              <a:t>• Agence cible recurrente : SRM-FM Taza.</a:t>
            </a:r>
            <a:endParaRPr lang="en-US" sz="1050" dirty="0"/>
          </a:p>
          <a:p>
            <a:pPr indent="0" marL="0">
              <a:buNone/>
            </a:pPr>
            <a:r>
              <a:rPr lang="en-US" sz="1050" dirty="0">
                <a:solidFill>
                  <a:srgbClr val="64748B"/>
                </a:solidFill>
              </a:rPr>
              <a:t>• Branding frontend : SRM-FM, "Gestion des reclamations".</a:t>
            </a:r>
            <a:endParaRPr lang="en-US" sz="1050" dirty="0"/>
          </a:p>
          <a:p>
            <a:pPr indent="0" marL="0">
              <a:buNone/>
            </a:pPr>
            <a:r>
              <a:rPr lang="en-US" sz="1050" dirty="0">
                <a:solidFill>
                  <a:srgbClr val="64748B"/>
                </a:solidFill>
              </a:rPr>
              <a:t>• Base locale configuree : radeeta_db.</a:t>
            </a:r>
            <a:endParaRPr lang="en-US" sz="1050" dirty="0"/>
          </a:p>
        </p:txBody>
      </p:sp>
      <p:sp>
        <p:nvSpPr>
          <p:cNvPr id="13" name="Shape 11"/>
          <p:cNvSpPr/>
          <p:nvPr/>
        </p:nvSpPr>
        <p:spPr>
          <a:xfrm>
            <a:off x="4553712" y="1463040"/>
            <a:ext cx="3474720" cy="1828800"/>
          </a:xfrm>
          <a:prstGeom prst="roundRect">
            <a:avLst>
              <a:gd name="adj" fmla="val 5000"/>
            </a:avLst>
          </a:prstGeom>
          <a:solidFill>
            <a:srgbClr val="FFFFFF"/>
          </a:solidFill>
          <a:ln w="12700">
            <a:solidFill>
              <a:srgbClr val="CBD5E1"/>
            </a:solidFill>
            <a:prstDash val="solid"/>
          </a:ln>
        </p:spPr>
      </p:sp>
      <p:sp>
        <p:nvSpPr>
          <p:cNvPr id="14" name="Shape 12"/>
          <p:cNvSpPr/>
          <p:nvPr/>
        </p:nvSpPr>
        <p:spPr>
          <a:xfrm>
            <a:off x="4718304" y="1627632"/>
            <a:ext cx="73152" cy="1499616"/>
          </a:xfrm>
          <a:prstGeom prst="rect">
            <a:avLst/>
          </a:prstGeom>
          <a:solidFill>
            <a:srgbClr val="0891B2"/>
          </a:solidFill>
          <a:ln w="12700">
            <a:solidFill>
              <a:srgbClr val="0891B2">
                <a:alpha val="0"/>
              </a:srgbClr>
            </a:solidFill>
            <a:prstDash val="solid"/>
          </a:ln>
        </p:spPr>
      </p:sp>
      <p:sp>
        <p:nvSpPr>
          <p:cNvPr id="15" name="Text 13"/>
          <p:cNvSpPr/>
          <p:nvPr/>
        </p:nvSpPr>
        <p:spPr>
          <a:xfrm>
            <a:off x="4873752" y="1627632"/>
            <a:ext cx="3017520" cy="219456"/>
          </a:xfrm>
          <a:prstGeom prst="rect">
            <a:avLst/>
          </a:prstGeom>
          <a:noFill/>
          <a:ln/>
        </p:spPr>
        <p:txBody>
          <a:bodyPr wrap="square" lIns="0" tIns="0" rIns="0" bIns="0" rtlCol="0" anchor="ctr"/>
          <a:lstStyle/>
          <a:p>
            <a:pPr indent="0" marL="0">
              <a:buNone/>
            </a:pPr>
            <a:r>
              <a:rPr lang="en-US" sz="1300" b="1" dirty="0">
                <a:solidFill>
                  <a:srgbClr val="0F172A"/>
                </a:solidFill>
              </a:rPr>
              <a:t>Activites couvertes</a:t>
            </a:r>
            <a:endParaRPr lang="en-US" sz="1300" dirty="0"/>
          </a:p>
        </p:txBody>
      </p:sp>
      <p:sp>
        <p:nvSpPr>
          <p:cNvPr id="16" name="Text 14"/>
          <p:cNvSpPr/>
          <p:nvPr/>
        </p:nvSpPr>
        <p:spPr>
          <a:xfrm>
            <a:off x="4873752" y="1938528"/>
            <a:ext cx="3063240" cy="1207008"/>
          </a:xfrm>
          <a:prstGeom prst="rect">
            <a:avLst/>
          </a:prstGeom>
          <a:noFill/>
          <a:ln/>
        </p:spPr>
        <p:txBody>
          <a:bodyPr wrap="square" lIns="0" tIns="0" rIns="0" bIns="0" rtlCol="0" anchor="t"/>
          <a:lstStyle/>
          <a:p>
            <a:pPr indent="0" marL="0">
              <a:buNone/>
            </a:pPr>
            <a:r>
              <a:rPr lang="en-US" sz="1050" dirty="0">
                <a:solidFill>
                  <a:srgbClr val="64748B"/>
                </a:solidFill>
              </a:rPr>
              <a:t>• Gestion des clients et des compteurs.</a:t>
            </a:r>
            <a:endParaRPr lang="en-US" sz="1050" dirty="0"/>
          </a:p>
          <a:p>
            <a:pPr indent="0" marL="0">
              <a:buNone/>
            </a:pPr>
            <a:r>
              <a:rPr lang="en-US" sz="1050" dirty="0">
                <a:solidFill>
                  <a:srgbClr val="64748B"/>
                </a:solidFill>
              </a:rPr>
              <a:t>• Gestion des secteurs et de la cartographie.</a:t>
            </a:r>
            <a:endParaRPr lang="en-US" sz="1050" dirty="0"/>
          </a:p>
          <a:p>
            <a:pPr indent="0" marL="0">
              <a:buNone/>
            </a:pPr>
            <a:r>
              <a:rPr lang="en-US" sz="1050" dirty="0">
                <a:solidFill>
                  <a:srgbClr val="64748B"/>
                </a:solidFill>
              </a:rPr>
              <a:t>• Gestion des anomalies, reparations et interventions.</a:t>
            </a:r>
            <a:endParaRPr lang="en-US" sz="1050" dirty="0"/>
          </a:p>
        </p:txBody>
      </p:sp>
      <p:sp>
        <p:nvSpPr>
          <p:cNvPr id="17" name="Shape 15"/>
          <p:cNvSpPr/>
          <p:nvPr/>
        </p:nvSpPr>
        <p:spPr>
          <a:xfrm>
            <a:off x="8229600" y="1463040"/>
            <a:ext cx="3246120" cy="1828800"/>
          </a:xfrm>
          <a:prstGeom prst="roundRect">
            <a:avLst>
              <a:gd name="adj" fmla="val 5000"/>
            </a:avLst>
          </a:prstGeom>
          <a:solidFill>
            <a:srgbClr val="FFFFFF"/>
          </a:solidFill>
          <a:ln w="12700">
            <a:solidFill>
              <a:srgbClr val="CBD5E1"/>
            </a:solidFill>
            <a:prstDash val="solid"/>
          </a:ln>
        </p:spPr>
      </p:sp>
      <p:sp>
        <p:nvSpPr>
          <p:cNvPr id="18" name="Shape 16"/>
          <p:cNvSpPr/>
          <p:nvPr/>
        </p:nvSpPr>
        <p:spPr>
          <a:xfrm>
            <a:off x="8394192" y="1627632"/>
            <a:ext cx="73152" cy="1499616"/>
          </a:xfrm>
          <a:prstGeom prst="rect">
            <a:avLst/>
          </a:prstGeom>
          <a:solidFill>
            <a:srgbClr val="D97706"/>
          </a:solidFill>
          <a:ln w="12700">
            <a:solidFill>
              <a:srgbClr val="D97706">
                <a:alpha val="0"/>
              </a:srgbClr>
            </a:solidFill>
            <a:prstDash val="solid"/>
          </a:ln>
        </p:spPr>
      </p:sp>
      <p:sp>
        <p:nvSpPr>
          <p:cNvPr id="19" name="Text 17"/>
          <p:cNvSpPr/>
          <p:nvPr/>
        </p:nvSpPr>
        <p:spPr>
          <a:xfrm>
            <a:off x="8549640" y="1627632"/>
            <a:ext cx="2788920" cy="219456"/>
          </a:xfrm>
          <a:prstGeom prst="rect">
            <a:avLst/>
          </a:prstGeom>
          <a:noFill/>
          <a:ln/>
        </p:spPr>
        <p:txBody>
          <a:bodyPr wrap="square" lIns="0" tIns="0" rIns="0" bIns="0" rtlCol="0" anchor="ctr"/>
          <a:lstStyle/>
          <a:p>
            <a:pPr indent="0" marL="0">
              <a:buNone/>
            </a:pPr>
            <a:r>
              <a:rPr lang="en-US" sz="1300" b="1" dirty="0">
                <a:solidFill>
                  <a:srgbClr val="0F172A"/>
                </a:solidFill>
              </a:rPr>
              <a:t>Domaines de service</a:t>
            </a:r>
            <a:endParaRPr lang="en-US" sz="1300" dirty="0"/>
          </a:p>
        </p:txBody>
      </p:sp>
      <p:sp>
        <p:nvSpPr>
          <p:cNvPr id="20" name="Text 18"/>
          <p:cNvSpPr/>
          <p:nvPr/>
        </p:nvSpPr>
        <p:spPr>
          <a:xfrm>
            <a:off x="8549640" y="1938528"/>
            <a:ext cx="2834640" cy="1207008"/>
          </a:xfrm>
          <a:prstGeom prst="rect">
            <a:avLst/>
          </a:prstGeom>
          <a:noFill/>
          <a:ln/>
        </p:spPr>
        <p:txBody>
          <a:bodyPr wrap="square" lIns="0" tIns="0" rIns="0" bIns="0" rtlCol="0" anchor="t"/>
          <a:lstStyle/>
          <a:p>
            <a:pPr indent="0" marL="0">
              <a:buNone/>
            </a:pPr>
            <a:r>
              <a:rPr lang="en-US" sz="1050" dirty="0">
                <a:solidFill>
                  <a:srgbClr val="64748B"/>
                </a:solidFill>
              </a:rPr>
              <a:t>• Eau.</a:t>
            </a:r>
            <a:endParaRPr lang="en-US" sz="1050" dirty="0"/>
          </a:p>
          <a:p>
            <a:pPr indent="0" marL="0">
              <a:buNone/>
            </a:pPr>
            <a:r>
              <a:rPr lang="en-US" sz="1050" dirty="0">
                <a:solidFill>
                  <a:srgbClr val="64748B"/>
                </a:solidFill>
              </a:rPr>
              <a:t>• Electricite.</a:t>
            </a:r>
            <a:endParaRPr lang="en-US" sz="1050" dirty="0"/>
          </a:p>
          <a:p>
            <a:pPr indent="0" marL="0">
              <a:buNone/>
            </a:pPr>
            <a:r>
              <a:rPr lang="en-US" sz="1050" dirty="0">
                <a:solidFill>
                  <a:srgbClr val="64748B"/>
                </a:solidFill>
              </a:rPr>
              <a:t>• Suivi terrain et reporting.</a:t>
            </a:r>
            <a:endParaRPr lang="en-US" sz="1050" dirty="0"/>
          </a:p>
        </p:txBody>
      </p:sp>
      <p:sp>
        <p:nvSpPr>
          <p:cNvPr id="21" name="Shape 19"/>
          <p:cNvSpPr/>
          <p:nvPr/>
        </p:nvSpPr>
        <p:spPr>
          <a:xfrm>
            <a:off x="685800" y="3657600"/>
            <a:ext cx="5212080" cy="2057400"/>
          </a:xfrm>
          <a:prstGeom prst="roundRect">
            <a:avLst>
              <a:gd name="adj" fmla="val 4444"/>
            </a:avLst>
          </a:prstGeom>
          <a:solidFill>
            <a:srgbClr val="FFFFFF"/>
          </a:solidFill>
          <a:ln w="12700">
            <a:solidFill>
              <a:srgbClr val="CBD5E1"/>
            </a:solidFill>
            <a:prstDash val="solid"/>
          </a:ln>
        </p:spPr>
      </p:sp>
      <p:sp>
        <p:nvSpPr>
          <p:cNvPr id="22" name="Shape 20"/>
          <p:cNvSpPr/>
          <p:nvPr/>
        </p:nvSpPr>
        <p:spPr>
          <a:xfrm>
            <a:off x="850392" y="3822192"/>
            <a:ext cx="73152" cy="1728216"/>
          </a:xfrm>
          <a:prstGeom prst="rect">
            <a:avLst/>
          </a:prstGeom>
          <a:solidFill>
            <a:srgbClr val="059669"/>
          </a:solidFill>
          <a:ln w="12700">
            <a:solidFill>
              <a:srgbClr val="059669">
                <a:alpha val="0"/>
              </a:srgbClr>
            </a:solidFill>
            <a:prstDash val="solid"/>
          </a:ln>
        </p:spPr>
      </p:sp>
      <p:sp>
        <p:nvSpPr>
          <p:cNvPr id="23" name="Text 21"/>
          <p:cNvSpPr/>
          <p:nvPr/>
        </p:nvSpPr>
        <p:spPr>
          <a:xfrm>
            <a:off x="1005840" y="3822192"/>
            <a:ext cx="4754880" cy="219456"/>
          </a:xfrm>
          <a:prstGeom prst="rect">
            <a:avLst/>
          </a:prstGeom>
          <a:noFill/>
          <a:ln/>
        </p:spPr>
        <p:txBody>
          <a:bodyPr wrap="square" lIns="0" tIns="0" rIns="0" bIns="0" rtlCol="0" anchor="ctr"/>
          <a:lstStyle/>
          <a:p>
            <a:pPr indent="0" marL="0">
              <a:buNone/>
            </a:pPr>
            <a:r>
              <a:rPr lang="en-US" sz="1300" b="1" dirty="0">
                <a:solidFill>
                  <a:srgbClr val="0F172A"/>
                </a:solidFill>
              </a:rPr>
              <a:t>Besoin ayant motive le projet</a:t>
            </a:r>
            <a:endParaRPr lang="en-US" sz="1300" dirty="0"/>
          </a:p>
        </p:txBody>
      </p:sp>
      <p:sp>
        <p:nvSpPr>
          <p:cNvPr id="24" name="Text 22"/>
          <p:cNvSpPr/>
          <p:nvPr/>
        </p:nvSpPr>
        <p:spPr>
          <a:xfrm>
            <a:off x="1005840" y="4133088"/>
            <a:ext cx="4800600" cy="1435608"/>
          </a:xfrm>
          <a:prstGeom prst="rect">
            <a:avLst/>
          </a:prstGeom>
          <a:noFill/>
          <a:ln/>
        </p:spPr>
        <p:txBody>
          <a:bodyPr wrap="square" lIns="0" tIns="0" rIns="0" bIns="0" rtlCol="0" anchor="t"/>
          <a:lstStyle/>
          <a:p>
            <a:pPr indent="0" marL="0">
              <a:buNone/>
            </a:pPr>
            <a:r>
              <a:rPr lang="en-US" sz="1050" dirty="0">
                <a:solidFill>
                  <a:srgbClr val="64748B"/>
                </a:solidFill>
              </a:rPr>
              <a:t>• Remplacer un suivi fragmenté par un systeme centralise.</a:t>
            </a:r>
            <a:endParaRPr lang="en-US" sz="1050" dirty="0"/>
          </a:p>
          <a:p>
            <a:pPr indent="0" marL="0">
              <a:buNone/>
            </a:pPr>
            <a:r>
              <a:rPr lang="en-US" sz="1050" dirty="0">
                <a:solidFill>
                  <a:srgbClr val="64748B"/>
                </a:solidFill>
              </a:rPr>
              <a:t>• Associer les reclamations aux compteurs, aux secteurs et aux techniciens.</a:t>
            </a:r>
            <a:endParaRPr lang="en-US" sz="1050" dirty="0"/>
          </a:p>
          <a:p>
            <a:pPr indent="0" marL="0">
              <a:buNone/>
            </a:pPr>
            <a:r>
              <a:rPr lang="en-US" sz="1050" dirty="0">
                <a:solidFill>
                  <a:srgbClr val="64748B"/>
                </a:solidFill>
              </a:rPr>
              <a:t>• Donner a chaque role un espace de travail adapte et securise.</a:t>
            </a:r>
            <a:endParaRPr lang="en-US" sz="1050" dirty="0"/>
          </a:p>
        </p:txBody>
      </p:sp>
      <p:sp>
        <p:nvSpPr>
          <p:cNvPr id="25" name="Shape 23"/>
          <p:cNvSpPr/>
          <p:nvPr/>
        </p:nvSpPr>
        <p:spPr>
          <a:xfrm>
            <a:off x="6172200" y="3657600"/>
            <a:ext cx="5303520" cy="2057400"/>
          </a:xfrm>
          <a:prstGeom prst="roundRect">
            <a:avLst>
              <a:gd name="adj" fmla="val 4444"/>
            </a:avLst>
          </a:prstGeom>
          <a:solidFill>
            <a:srgbClr val="FEE2E2"/>
          </a:solidFill>
          <a:ln w="12700">
            <a:solidFill>
              <a:srgbClr val="CBD5E1"/>
            </a:solidFill>
            <a:prstDash val="solid"/>
          </a:ln>
        </p:spPr>
      </p:sp>
      <p:sp>
        <p:nvSpPr>
          <p:cNvPr id="26" name="Shape 24"/>
          <p:cNvSpPr/>
          <p:nvPr/>
        </p:nvSpPr>
        <p:spPr>
          <a:xfrm>
            <a:off x="6336792" y="3822192"/>
            <a:ext cx="73152" cy="1728216"/>
          </a:xfrm>
          <a:prstGeom prst="rect">
            <a:avLst/>
          </a:prstGeom>
          <a:solidFill>
            <a:srgbClr val="DC2626"/>
          </a:solidFill>
          <a:ln w="12700">
            <a:solidFill>
              <a:srgbClr val="DC2626">
                <a:alpha val="0"/>
              </a:srgbClr>
            </a:solidFill>
            <a:prstDash val="solid"/>
          </a:ln>
        </p:spPr>
      </p:sp>
      <p:sp>
        <p:nvSpPr>
          <p:cNvPr id="27" name="Text 25"/>
          <p:cNvSpPr/>
          <p:nvPr/>
        </p:nvSpPr>
        <p:spPr>
          <a:xfrm>
            <a:off x="6492240" y="3822192"/>
            <a:ext cx="4846320" cy="219456"/>
          </a:xfrm>
          <a:prstGeom prst="rect">
            <a:avLst/>
          </a:prstGeom>
          <a:noFill/>
          <a:ln/>
        </p:spPr>
        <p:txBody>
          <a:bodyPr wrap="square" lIns="0" tIns="0" rIns="0" bIns="0" rtlCol="0" anchor="ctr"/>
          <a:lstStyle/>
          <a:p>
            <a:pPr indent="0" marL="0">
              <a:buNone/>
            </a:pPr>
            <a:r>
              <a:rPr lang="en-US" sz="1300" b="1" dirty="0">
                <a:solidFill>
                  <a:srgbClr val="0F172A"/>
                </a:solidFill>
              </a:rPr>
              <a:t>Point de vigilance pour le rapport oral</a:t>
            </a:r>
            <a:endParaRPr lang="en-US" sz="1300" dirty="0"/>
          </a:p>
        </p:txBody>
      </p:sp>
      <p:sp>
        <p:nvSpPr>
          <p:cNvPr id="28" name="Text 26"/>
          <p:cNvSpPr/>
          <p:nvPr/>
        </p:nvSpPr>
        <p:spPr>
          <a:xfrm>
            <a:off x="6492240" y="4133088"/>
            <a:ext cx="4892040" cy="1435608"/>
          </a:xfrm>
          <a:prstGeom prst="rect">
            <a:avLst/>
          </a:prstGeom>
          <a:noFill/>
          <a:ln/>
        </p:spPr>
        <p:txBody>
          <a:bodyPr wrap="square" lIns="0" tIns="0" rIns="0" bIns="0" rtlCol="0" anchor="t"/>
          <a:lstStyle/>
          <a:p>
            <a:pPr indent="0" marL="0">
              <a:buNone/>
            </a:pPr>
            <a:r>
              <a:rPr lang="en-US" sz="1050" dirty="0">
                <a:solidFill>
                  <a:srgbClr val="7F1D1D"/>
                </a:solidFill>
              </a:rPr>
              <a:t>• Le nom exact de l entreprise d accueil doit etre complete manuellement.</a:t>
            </a:r>
            <a:endParaRPr lang="en-US" sz="1050" dirty="0"/>
          </a:p>
          <a:p>
            <a:pPr indent="0" marL="0">
              <a:buNone/>
            </a:pPr>
            <a:r>
              <a:rPr lang="en-US" sz="1050" dirty="0">
                <a:solidFill>
                  <a:srgbClr val="7F1D1D"/>
                </a:solidFill>
              </a:rPr>
              <a:t>• Le texte de cette slide doit etre personnalise selon votre lieu de stage reel.</a:t>
            </a:r>
            <a:endParaRPr lang="en-US" sz="1050" dirty="0"/>
          </a:p>
          <a:p>
            <a:pPr indent="0" marL="0">
              <a:buNone/>
            </a:pPr>
            <a:r>
              <a:rPr lang="en-US" sz="1050" dirty="0">
                <a:solidFill>
                  <a:srgbClr val="7F1D1D"/>
                </a:solidFill>
              </a:rPr>
              <a:t>• Le reste du contenu s appuie deja sur le code reel du projet.</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563EB"/>
          </a:solidFill>
          <a:ln w="12700">
            <a:solidFill>
              <a:srgbClr val="2563EB">
                <a:alpha val="0"/>
              </a:srgbClr>
            </a:solidFill>
            <a:prstDash val="solid"/>
          </a:ln>
        </p:spPr>
      </p:sp>
      <p:sp>
        <p:nvSpPr>
          <p:cNvPr id="3" name="Shape 1"/>
          <p:cNvSpPr/>
          <p:nvPr/>
        </p:nvSpPr>
        <p:spPr>
          <a:xfrm>
            <a:off x="9738360" y="310896"/>
            <a:ext cx="1874520" cy="310896"/>
          </a:xfrm>
          <a:prstGeom prst="roundRect">
            <a:avLst>
              <a:gd name="adj" fmla="val 23529"/>
            </a:avLst>
          </a:prstGeom>
          <a:solidFill>
            <a:srgbClr val="DBEAFE"/>
          </a:solidFill>
          <a:ln w="12700">
            <a:solidFill>
              <a:srgbClr val="DBEAFE">
                <a:alpha val="0"/>
              </a:srgbClr>
            </a:solidFill>
            <a:prstDash val="solid"/>
          </a:ln>
        </p:spPr>
      </p:sp>
      <p:sp>
        <p:nvSpPr>
          <p:cNvPr id="4" name="Text 2"/>
          <p:cNvSpPr/>
          <p:nvPr/>
        </p:nvSpPr>
        <p:spPr>
          <a:xfrm>
            <a:off x="9893808" y="374904"/>
            <a:ext cx="1554480" cy="164592"/>
          </a:xfrm>
          <a:prstGeom prst="rect">
            <a:avLst/>
          </a:prstGeom>
          <a:noFill/>
          <a:ln/>
        </p:spPr>
        <p:txBody>
          <a:bodyPr wrap="square" lIns="0" tIns="0" rIns="0" bIns="0" rtlCol="0" anchor="ctr"/>
          <a:lstStyle/>
          <a:p>
            <a:pPr algn="ctr" indent="0" marL="0">
              <a:buNone/>
            </a:pPr>
            <a:r>
              <a:rPr lang="en-US" sz="850" b="1" dirty="0">
                <a:solidFill>
                  <a:srgbClr val="2563EB"/>
                </a:solidFill>
              </a:rPr>
              <a:t>CAHIER DES CHARGES</a:t>
            </a:r>
            <a:endParaRPr lang="en-US" sz="850" dirty="0"/>
          </a:p>
        </p:txBody>
      </p:sp>
      <p:sp>
        <p:nvSpPr>
          <p:cNvPr id="5" name="Text 3"/>
          <p:cNvSpPr/>
          <p:nvPr/>
        </p:nvSpPr>
        <p:spPr>
          <a:xfrm>
            <a:off x="548640" y="329184"/>
            <a:ext cx="7498080" cy="411480"/>
          </a:xfrm>
          <a:prstGeom prst="rect">
            <a:avLst/>
          </a:prstGeom>
          <a:noFill/>
          <a:ln/>
        </p:spPr>
        <p:txBody>
          <a:bodyPr wrap="square" lIns="0" tIns="0" rIns="0" bIns="0" rtlCol="0" anchor="ctr"/>
          <a:lstStyle/>
          <a:p>
            <a:pPr indent="0" marL="0">
              <a:buNone/>
            </a:pPr>
            <a:r>
              <a:rPr lang="en-US" sz="2400" b="1" dirty="0">
                <a:solidFill>
                  <a:srgbClr val="0F172A"/>
                </a:solidFill>
              </a:rPr>
              <a:t>Cahier des charges fonctionnel et non fonctionnel</a:t>
            </a:r>
            <a:endParaRPr lang="en-US" sz="2400" dirty="0"/>
          </a:p>
        </p:txBody>
      </p:sp>
      <p:sp>
        <p:nvSpPr>
          <p:cNvPr id="6" name="Text 4"/>
          <p:cNvSpPr/>
          <p:nvPr/>
        </p:nvSpPr>
        <p:spPr>
          <a:xfrm>
            <a:off x="566928" y="768096"/>
            <a:ext cx="7863840" cy="329184"/>
          </a:xfrm>
          <a:prstGeom prst="rect">
            <a:avLst/>
          </a:prstGeom>
          <a:noFill/>
          <a:ln/>
        </p:spPr>
        <p:txBody>
          <a:bodyPr wrap="square" lIns="0" tIns="0" rIns="0" bIns="0" rtlCol="0" anchor="ctr"/>
          <a:lstStyle/>
          <a:p>
            <a:pPr indent="0" marL="0">
              <a:buNone/>
            </a:pPr>
            <a:r>
              <a:rPr lang="en-US" sz="1150" dirty="0">
                <a:solidFill>
                  <a:srgbClr val="64748B"/>
                </a:solidFill>
              </a:rPr>
              <a:t>Le perimetre ci dessous est deduit des pages React, des routes API et des migrations.</a:t>
            </a:r>
            <a:endParaRPr lang="en-US" sz="1150" dirty="0"/>
          </a:p>
        </p:txBody>
      </p:sp>
      <p:sp>
        <p:nvSpPr>
          <p:cNvPr id="7" name="Text 5"/>
          <p:cNvSpPr/>
          <p:nvPr/>
        </p:nvSpPr>
        <p:spPr>
          <a:xfrm>
            <a:off x="548640" y="6446520"/>
            <a:ext cx="4389120" cy="182880"/>
          </a:xfrm>
          <a:prstGeom prst="rect">
            <a:avLst/>
          </a:prstGeom>
          <a:noFill/>
          <a:ln/>
        </p:spPr>
        <p:txBody>
          <a:bodyPr wrap="square" lIns="0" tIns="0" rIns="0" bIns="0" rtlCol="0" anchor="ctr"/>
          <a:lstStyle/>
          <a:p>
            <a:pPr indent="0" marL="0">
              <a:buNone/>
            </a:pPr>
            <a:r>
              <a:rPr lang="en-US" sz="850" dirty="0">
                <a:solidFill>
                  <a:srgbClr val="64748B"/>
                </a:solidFill>
              </a:rPr>
              <a:t>Analyse du code source - 10 mai 2026</a:t>
            </a:r>
            <a:endParaRPr lang="en-US" sz="850" dirty="0"/>
          </a:p>
        </p:txBody>
      </p:sp>
      <p:sp>
        <p:nvSpPr>
          <p:cNvPr id="8" name="Text 6"/>
          <p:cNvSpPr/>
          <p:nvPr/>
        </p:nvSpPr>
        <p:spPr>
          <a:xfrm>
            <a:off x="11064240" y="6419088"/>
            <a:ext cx="548640" cy="182880"/>
          </a:xfrm>
          <a:prstGeom prst="rect">
            <a:avLst/>
          </a:prstGeom>
          <a:noFill/>
          <a:ln/>
        </p:spPr>
        <p:txBody>
          <a:bodyPr wrap="square" lIns="0" tIns="0" rIns="0" bIns="0" rtlCol="0" anchor="ctr"/>
          <a:lstStyle/>
          <a:p>
            <a:pPr algn="r" indent="0" marL="0">
              <a:buNone/>
            </a:pPr>
            <a:r>
              <a:rPr lang="en-US" sz="900" b="1" dirty="0">
                <a:solidFill>
                  <a:srgbClr val="64748B"/>
                </a:solidFill>
              </a:rPr>
              <a:t>5/17</a:t>
            </a:r>
            <a:endParaRPr lang="en-US" sz="900" dirty="0"/>
          </a:p>
        </p:txBody>
      </p:sp>
      <p:sp>
        <p:nvSpPr>
          <p:cNvPr id="9" name="Shape 7"/>
          <p:cNvSpPr/>
          <p:nvPr/>
        </p:nvSpPr>
        <p:spPr>
          <a:xfrm>
            <a:off x="685800" y="1417320"/>
            <a:ext cx="5486400" cy="2057400"/>
          </a:xfrm>
          <a:prstGeom prst="roundRect">
            <a:avLst>
              <a:gd name="adj" fmla="val 4444"/>
            </a:avLst>
          </a:prstGeom>
          <a:solidFill>
            <a:srgbClr val="FFFFFF"/>
          </a:solidFill>
          <a:ln w="12700">
            <a:solidFill>
              <a:srgbClr val="CBD5E1"/>
            </a:solidFill>
            <a:prstDash val="solid"/>
          </a:ln>
        </p:spPr>
      </p:sp>
      <p:sp>
        <p:nvSpPr>
          <p:cNvPr id="10" name="Shape 8"/>
          <p:cNvSpPr/>
          <p:nvPr/>
        </p:nvSpPr>
        <p:spPr>
          <a:xfrm>
            <a:off x="850392" y="1581912"/>
            <a:ext cx="73152" cy="1728216"/>
          </a:xfrm>
          <a:prstGeom prst="rect">
            <a:avLst/>
          </a:prstGeom>
          <a:solidFill>
            <a:srgbClr val="2563EB"/>
          </a:solidFill>
          <a:ln w="12700">
            <a:solidFill>
              <a:srgbClr val="2563EB">
                <a:alpha val="0"/>
              </a:srgbClr>
            </a:solidFill>
            <a:prstDash val="solid"/>
          </a:ln>
        </p:spPr>
      </p:sp>
      <p:sp>
        <p:nvSpPr>
          <p:cNvPr id="11" name="Text 9"/>
          <p:cNvSpPr/>
          <p:nvPr/>
        </p:nvSpPr>
        <p:spPr>
          <a:xfrm>
            <a:off x="1005840" y="1581912"/>
            <a:ext cx="5029200" cy="219456"/>
          </a:xfrm>
          <a:prstGeom prst="rect">
            <a:avLst/>
          </a:prstGeom>
          <a:noFill/>
          <a:ln/>
        </p:spPr>
        <p:txBody>
          <a:bodyPr wrap="square" lIns="0" tIns="0" rIns="0" bIns="0" rtlCol="0" anchor="ctr"/>
          <a:lstStyle/>
          <a:p>
            <a:pPr indent="0" marL="0">
              <a:buNone/>
            </a:pPr>
            <a:r>
              <a:rPr lang="en-US" sz="1300" b="1" dirty="0">
                <a:solidFill>
                  <a:srgbClr val="0F172A"/>
                </a:solidFill>
              </a:rPr>
              <a:t>Besoins fonctionnels</a:t>
            </a:r>
            <a:endParaRPr lang="en-US" sz="1300" dirty="0"/>
          </a:p>
        </p:txBody>
      </p:sp>
      <p:sp>
        <p:nvSpPr>
          <p:cNvPr id="12" name="Text 10"/>
          <p:cNvSpPr/>
          <p:nvPr/>
        </p:nvSpPr>
        <p:spPr>
          <a:xfrm>
            <a:off x="1005840" y="1892808"/>
            <a:ext cx="5074920" cy="1435608"/>
          </a:xfrm>
          <a:prstGeom prst="rect">
            <a:avLst/>
          </a:prstGeom>
          <a:noFill/>
          <a:ln/>
        </p:spPr>
        <p:txBody>
          <a:bodyPr wrap="square" lIns="0" tIns="0" rIns="0" bIns="0" rtlCol="0" anchor="t"/>
          <a:lstStyle/>
          <a:p>
            <a:pPr indent="0" marL="0">
              <a:buNone/>
            </a:pPr>
            <a:r>
              <a:rPr lang="en-US" sz="1050" dirty="0">
                <a:solidFill>
                  <a:srgbClr val="64748B"/>
                </a:solidFill>
              </a:rPr>
              <a:t>• Authentification et gestion de session par token.</a:t>
            </a:r>
            <a:endParaRPr lang="en-US" sz="1050" dirty="0"/>
          </a:p>
          <a:p>
            <a:pPr indent="0" marL="0">
              <a:buNone/>
            </a:pPr>
            <a:r>
              <a:rPr lang="en-US" sz="1050" dirty="0">
                <a:solidFill>
                  <a:srgbClr val="64748B"/>
                </a:solidFill>
              </a:rPr>
              <a:t>• CRUD utilisateurs, clients, compteurs, secteurs, pannes, reparations et interventions.</a:t>
            </a:r>
            <a:endParaRPr lang="en-US" sz="1050" dirty="0"/>
          </a:p>
          <a:p>
            <a:pPr indent="0" marL="0">
              <a:buNone/>
            </a:pPr>
            <a:r>
              <a:rPr lang="en-US" sz="1050" dirty="0">
                <a:solidFill>
                  <a:srgbClr val="64748B"/>
                </a:solidFill>
              </a:rPr>
              <a:t>• Saisie de releves, notifications, tableaux de bord et exports de rapports.</a:t>
            </a:r>
            <a:endParaRPr lang="en-US" sz="1050" dirty="0"/>
          </a:p>
        </p:txBody>
      </p:sp>
      <p:sp>
        <p:nvSpPr>
          <p:cNvPr id="13" name="Shape 11"/>
          <p:cNvSpPr/>
          <p:nvPr/>
        </p:nvSpPr>
        <p:spPr>
          <a:xfrm>
            <a:off x="6355080" y="1417320"/>
            <a:ext cx="5120640" cy="2057400"/>
          </a:xfrm>
          <a:prstGeom prst="roundRect">
            <a:avLst>
              <a:gd name="adj" fmla="val 4444"/>
            </a:avLst>
          </a:prstGeom>
          <a:solidFill>
            <a:srgbClr val="FFFFFF"/>
          </a:solidFill>
          <a:ln w="12700">
            <a:solidFill>
              <a:srgbClr val="CBD5E1"/>
            </a:solidFill>
            <a:prstDash val="solid"/>
          </a:ln>
        </p:spPr>
      </p:sp>
      <p:sp>
        <p:nvSpPr>
          <p:cNvPr id="14" name="Shape 12"/>
          <p:cNvSpPr/>
          <p:nvPr/>
        </p:nvSpPr>
        <p:spPr>
          <a:xfrm>
            <a:off x="6519672" y="1581912"/>
            <a:ext cx="73152" cy="1728216"/>
          </a:xfrm>
          <a:prstGeom prst="rect">
            <a:avLst/>
          </a:prstGeom>
          <a:solidFill>
            <a:srgbClr val="0891B2"/>
          </a:solidFill>
          <a:ln w="12700">
            <a:solidFill>
              <a:srgbClr val="0891B2">
                <a:alpha val="0"/>
              </a:srgbClr>
            </a:solidFill>
            <a:prstDash val="solid"/>
          </a:ln>
        </p:spPr>
      </p:sp>
      <p:sp>
        <p:nvSpPr>
          <p:cNvPr id="15" name="Text 13"/>
          <p:cNvSpPr/>
          <p:nvPr/>
        </p:nvSpPr>
        <p:spPr>
          <a:xfrm>
            <a:off x="6675120" y="1581912"/>
            <a:ext cx="4663440" cy="219456"/>
          </a:xfrm>
          <a:prstGeom prst="rect">
            <a:avLst/>
          </a:prstGeom>
          <a:noFill/>
          <a:ln/>
        </p:spPr>
        <p:txBody>
          <a:bodyPr wrap="square" lIns="0" tIns="0" rIns="0" bIns="0" rtlCol="0" anchor="ctr"/>
          <a:lstStyle/>
          <a:p>
            <a:pPr indent="0" marL="0">
              <a:buNone/>
            </a:pPr>
            <a:r>
              <a:rPr lang="en-US" sz="1300" b="1" dirty="0">
                <a:solidFill>
                  <a:srgbClr val="0F172A"/>
                </a:solidFill>
              </a:rPr>
              <a:t>Besoins non fonctionnels</a:t>
            </a:r>
            <a:endParaRPr lang="en-US" sz="1300" dirty="0"/>
          </a:p>
        </p:txBody>
      </p:sp>
      <p:sp>
        <p:nvSpPr>
          <p:cNvPr id="16" name="Text 14"/>
          <p:cNvSpPr/>
          <p:nvPr/>
        </p:nvSpPr>
        <p:spPr>
          <a:xfrm>
            <a:off x="6675120" y="1892808"/>
            <a:ext cx="4709160" cy="1435608"/>
          </a:xfrm>
          <a:prstGeom prst="rect">
            <a:avLst/>
          </a:prstGeom>
          <a:noFill/>
          <a:ln/>
        </p:spPr>
        <p:txBody>
          <a:bodyPr wrap="square" lIns="0" tIns="0" rIns="0" bIns="0" rtlCol="0" anchor="t"/>
          <a:lstStyle/>
          <a:p>
            <a:pPr indent="0" marL="0">
              <a:buNone/>
            </a:pPr>
            <a:r>
              <a:rPr lang="en-US" sz="1050" dirty="0">
                <a:solidFill>
                  <a:srgbClr val="64748B"/>
                </a:solidFill>
              </a:rPr>
              <a:t>• Securite RBAC cote frontend et backend.</a:t>
            </a:r>
            <a:endParaRPr lang="en-US" sz="1050" dirty="0"/>
          </a:p>
          <a:p>
            <a:pPr indent="0" marL="0">
              <a:buNone/>
            </a:pPr>
            <a:r>
              <a:rPr lang="en-US" sz="1050" dirty="0">
                <a:solidFill>
                  <a:srgbClr val="64748B"/>
                </a:solidFill>
              </a:rPr>
              <a:t>• Traçabilite via activity logs et tests API.</a:t>
            </a:r>
            <a:endParaRPr lang="en-US" sz="1050" dirty="0"/>
          </a:p>
          <a:p>
            <a:pPr indent="0" marL="0">
              <a:buNone/>
            </a:pPr>
            <a:r>
              <a:rPr lang="en-US" sz="1050" dirty="0">
                <a:solidFill>
                  <a:srgbClr val="64748B"/>
                </a:solidFill>
              </a:rPr>
              <a:t>• Interface web reactive, paginee et exploitable sur plusieurs modules.</a:t>
            </a:r>
            <a:endParaRPr lang="en-US" sz="1050" dirty="0"/>
          </a:p>
        </p:txBody>
      </p:sp>
      <p:sp>
        <p:nvSpPr>
          <p:cNvPr id="17" name="Shape 15"/>
          <p:cNvSpPr/>
          <p:nvPr/>
        </p:nvSpPr>
        <p:spPr>
          <a:xfrm>
            <a:off x="685800" y="3794760"/>
            <a:ext cx="3657600" cy="1920240"/>
          </a:xfrm>
          <a:prstGeom prst="roundRect">
            <a:avLst>
              <a:gd name="adj" fmla="val 4762"/>
            </a:avLst>
          </a:prstGeom>
          <a:solidFill>
            <a:srgbClr val="FFFFFF"/>
          </a:solidFill>
          <a:ln w="12700">
            <a:solidFill>
              <a:srgbClr val="CBD5E1"/>
            </a:solidFill>
            <a:prstDash val="solid"/>
          </a:ln>
        </p:spPr>
      </p:sp>
      <p:sp>
        <p:nvSpPr>
          <p:cNvPr id="18" name="Shape 16"/>
          <p:cNvSpPr/>
          <p:nvPr/>
        </p:nvSpPr>
        <p:spPr>
          <a:xfrm>
            <a:off x="850392" y="3959352"/>
            <a:ext cx="73152" cy="1591056"/>
          </a:xfrm>
          <a:prstGeom prst="rect">
            <a:avLst/>
          </a:prstGeom>
          <a:solidFill>
            <a:srgbClr val="D97706"/>
          </a:solidFill>
          <a:ln w="12700">
            <a:solidFill>
              <a:srgbClr val="D97706">
                <a:alpha val="0"/>
              </a:srgbClr>
            </a:solidFill>
            <a:prstDash val="solid"/>
          </a:ln>
        </p:spPr>
      </p:sp>
      <p:sp>
        <p:nvSpPr>
          <p:cNvPr id="19" name="Text 17"/>
          <p:cNvSpPr/>
          <p:nvPr/>
        </p:nvSpPr>
        <p:spPr>
          <a:xfrm>
            <a:off x="1005840" y="3959352"/>
            <a:ext cx="3200400" cy="219456"/>
          </a:xfrm>
          <a:prstGeom prst="rect">
            <a:avLst/>
          </a:prstGeom>
          <a:noFill/>
          <a:ln/>
        </p:spPr>
        <p:txBody>
          <a:bodyPr wrap="square" lIns="0" tIns="0" rIns="0" bIns="0" rtlCol="0" anchor="ctr"/>
          <a:lstStyle/>
          <a:p>
            <a:pPr indent="0" marL="0">
              <a:buNone/>
            </a:pPr>
            <a:r>
              <a:rPr lang="en-US" sz="1300" b="1" dirty="0">
                <a:solidFill>
                  <a:srgbClr val="0F172A"/>
                </a:solidFill>
              </a:rPr>
              <a:t>Acteurs du systeme</a:t>
            </a:r>
            <a:endParaRPr lang="en-US" sz="1300" dirty="0"/>
          </a:p>
        </p:txBody>
      </p:sp>
      <p:sp>
        <p:nvSpPr>
          <p:cNvPr id="20" name="Text 18"/>
          <p:cNvSpPr/>
          <p:nvPr/>
        </p:nvSpPr>
        <p:spPr>
          <a:xfrm>
            <a:off x="1005840" y="4270248"/>
            <a:ext cx="3246120" cy="1298448"/>
          </a:xfrm>
          <a:prstGeom prst="rect">
            <a:avLst/>
          </a:prstGeom>
          <a:noFill/>
          <a:ln/>
        </p:spPr>
        <p:txBody>
          <a:bodyPr wrap="square" lIns="0" tIns="0" rIns="0" bIns="0" rtlCol="0" anchor="t"/>
          <a:lstStyle/>
          <a:p>
            <a:pPr indent="0" marL="0">
              <a:buNone/>
            </a:pPr>
            <a:r>
              <a:rPr lang="en-US" sz="1050" dirty="0">
                <a:solidFill>
                  <a:srgbClr val="64748B"/>
                </a:solidFill>
              </a:rPr>
              <a:t>• Directeur</a:t>
            </a:r>
            <a:endParaRPr lang="en-US" sz="1050" dirty="0"/>
          </a:p>
          <a:p>
            <a:pPr indent="0" marL="0">
              <a:buNone/>
            </a:pPr>
            <a:r>
              <a:rPr lang="en-US" sz="1050" dirty="0">
                <a:solidFill>
                  <a:srgbClr val="64748B"/>
                </a:solidFill>
              </a:rPr>
              <a:t>• Responsable</a:t>
            </a:r>
            <a:endParaRPr lang="en-US" sz="1050" dirty="0"/>
          </a:p>
          <a:p>
            <a:pPr indent="0" marL="0">
              <a:buNone/>
            </a:pPr>
            <a:r>
              <a:rPr lang="en-US" sz="1050" dirty="0">
                <a:solidFill>
                  <a:srgbClr val="64748B"/>
                </a:solidFill>
              </a:rPr>
              <a:t>• Manager</a:t>
            </a:r>
            <a:endParaRPr lang="en-US" sz="1050" dirty="0"/>
          </a:p>
          <a:p>
            <a:pPr indent="0" marL="0">
              <a:buNone/>
            </a:pPr>
            <a:r>
              <a:rPr lang="en-US" sz="1050" dirty="0">
                <a:solidFill>
                  <a:srgbClr val="64748B"/>
                </a:solidFill>
              </a:rPr>
              <a:t>• Technicien</a:t>
            </a:r>
            <a:endParaRPr lang="en-US" sz="1050" dirty="0"/>
          </a:p>
          <a:p>
            <a:pPr indent="0" marL="0">
              <a:buNone/>
            </a:pPr>
            <a:r>
              <a:rPr lang="en-US" sz="1050" dirty="0">
                <a:solidFill>
                  <a:srgbClr val="64748B"/>
                </a:solidFill>
              </a:rPr>
              <a:t>• Lecteur</a:t>
            </a:r>
            <a:endParaRPr lang="en-US" sz="1050" dirty="0"/>
          </a:p>
        </p:txBody>
      </p:sp>
      <p:sp>
        <p:nvSpPr>
          <p:cNvPr id="21" name="Shape 19"/>
          <p:cNvSpPr/>
          <p:nvPr/>
        </p:nvSpPr>
        <p:spPr>
          <a:xfrm>
            <a:off x="4553712" y="3794760"/>
            <a:ext cx="6922008" cy="1920240"/>
          </a:xfrm>
          <a:prstGeom prst="roundRect">
            <a:avLst>
              <a:gd name="adj" fmla="val 4762"/>
            </a:avLst>
          </a:prstGeom>
          <a:solidFill>
            <a:srgbClr val="FFFFFF"/>
          </a:solidFill>
          <a:ln w="12700">
            <a:solidFill>
              <a:srgbClr val="CBD5E1"/>
            </a:solidFill>
            <a:prstDash val="solid"/>
          </a:ln>
        </p:spPr>
      </p:sp>
      <p:sp>
        <p:nvSpPr>
          <p:cNvPr id="22" name="Shape 20"/>
          <p:cNvSpPr/>
          <p:nvPr/>
        </p:nvSpPr>
        <p:spPr>
          <a:xfrm>
            <a:off x="4718304" y="3959352"/>
            <a:ext cx="73152" cy="1591056"/>
          </a:xfrm>
          <a:prstGeom prst="rect">
            <a:avLst/>
          </a:prstGeom>
          <a:solidFill>
            <a:srgbClr val="059669"/>
          </a:solidFill>
          <a:ln w="12700">
            <a:solidFill>
              <a:srgbClr val="059669">
                <a:alpha val="0"/>
              </a:srgbClr>
            </a:solidFill>
            <a:prstDash val="solid"/>
          </a:ln>
        </p:spPr>
      </p:sp>
      <p:sp>
        <p:nvSpPr>
          <p:cNvPr id="23" name="Text 21"/>
          <p:cNvSpPr/>
          <p:nvPr/>
        </p:nvSpPr>
        <p:spPr>
          <a:xfrm>
            <a:off x="4873752" y="3959352"/>
            <a:ext cx="6464808" cy="219456"/>
          </a:xfrm>
          <a:prstGeom prst="rect">
            <a:avLst/>
          </a:prstGeom>
          <a:noFill/>
          <a:ln/>
        </p:spPr>
        <p:txBody>
          <a:bodyPr wrap="square" lIns="0" tIns="0" rIns="0" bIns="0" rtlCol="0" anchor="ctr"/>
          <a:lstStyle/>
          <a:p>
            <a:pPr indent="0" marL="0">
              <a:buNone/>
            </a:pPr>
            <a:r>
              <a:rPr lang="en-US" sz="1300" b="1" dirty="0">
                <a:solidFill>
                  <a:srgbClr val="0F172A"/>
                </a:solidFill>
              </a:rPr>
              <a:t>Fonctionnalites principales</a:t>
            </a:r>
            <a:endParaRPr lang="en-US" sz="1300" dirty="0"/>
          </a:p>
        </p:txBody>
      </p:sp>
      <p:sp>
        <p:nvSpPr>
          <p:cNvPr id="24" name="Text 22"/>
          <p:cNvSpPr/>
          <p:nvPr/>
        </p:nvSpPr>
        <p:spPr>
          <a:xfrm>
            <a:off x="4873752" y="4270248"/>
            <a:ext cx="6510528" cy="1298448"/>
          </a:xfrm>
          <a:prstGeom prst="rect">
            <a:avLst/>
          </a:prstGeom>
          <a:noFill/>
          <a:ln/>
        </p:spPr>
        <p:txBody>
          <a:bodyPr wrap="square" lIns="0" tIns="0" rIns="0" bIns="0" rtlCol="0" anchor="t"/>
          <a:lstStyle/>
          <a:p>
            <a:pPr indent="0" marL="0">
              <a:buNone/>
            </a:pPr>
            <a:r>
              <a:rPr lang="en-US" sz="1050" dirty="0">
                <a:solidFill>
                  <a:srgbClr val="64748B"/>
                </a:solidFill>
              </a:rPr>
              <a:t>• Dashboards par role avec statistiques, graphiques et carte des secteurs.</a:t>
            </a:r>
            <a:endParaRPr lang="en-US" sz="1050" dirty="0"/>
          </a:p>
          <a:p>
            <a:pPr indent="0" marL="0">
              <a:buNone/>
            </a:pPr>
            <a:r>
              <a:rPr lang="en-US" sz="1050" dirty="0">
                <a:solidFill>
                  <a:srgbClr val="64748B"/>
                </a:solidFill>
              </a:rPr>
              <a:t>• Affectation des pannes, suivi des reparations et creation des interventions.</a:t>
            </a:r>
            <a:endParaRPr lang="en-US" sz="1050" dirty="0"/>
          </a:p>
          <a:p>
            <a:pPr indent="0" marL="0">
              <a:buNone/>
            </a:pPr>
            <a:r>
              <a:rPr lang="en-US" sz="1050" dirty="0">
                <a:solidFill>
                  <a:srgbClr val="64748B"/>
                </a:solidFill>
              </a:rPr>
              <a:t>• Exports PDF des pannes du mois et Excel clients + compteurs.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563EB"/>
          </a:solidFill>
          <a:ln w="12700">
            <a:solidFill>
              <a:srgbClr val="2563EB">
                <a:alpha val="0"/>
              </a:srgbClr>
            </a:solidFill>
            <a:prstDash val="solid"/>
          </a:ln>
        </p:spPr>
      </p:sp>
      <p:sp>
        <p:nvSpPr>
          <p:cNvPr id="3" name="Shape 1"/>
          <p:cNvSpPr/>
          <p:nvPr/>
        </p:nvSpPr>
        <p:spPr>
          <a:xfrm>
            <a:off x="9738360" y="310896"/>
            <a:ext cx="1874520" cy="310896"/>
          </a:xfrm>
          <a:prstGeom prst="roundRect">
            <a:avLst>
              <a:gd name="adj" fmla="val 23529"/>
            </a:avLst>
          </a:prstGeom>
          <a:solidFill>
            <a:srgbClr val="DBEAFE"/>
          </a:solidFill>
          <a:ln w="12700">
            <a:solidFill>
              <a:srgbClr val="DBEAFE">
                <a:alpha val="0"/>
              </a:srgbClr>
            </a:solidFill>
            <a:prstDash val="solid"/>
          </a:ln>
        </p:spPr>
      </p:sp>
      <p:sp>
        <p:nvSpPr>
          <p:cNvPr id="4" name="Text 2"/>
          <p:cNvSpPr/>
          <p:nvPr/>
        </p:nvSpPr>
        <p:spPr>
          <a:xfrm>
            <a:off x="9893808" y="374904"/>
            <a:ext cx="1554480" cy="164592"/>
          </a:xfrm>
          <a:prstGeom prst="rect">
            <a:avLst/>
          </a:prstGeom>
          <a:noFill/>
          <a:ln/>
        </p:spPr>
        <p:txBody>
          <a:bodyPr wrap="square" lIns="0" tIns="0" rIns="0" bIns="0" rtlCol="0" anchor="ctr"/>
          <a:lstStyle/>
          <a:p>
            <a:pPr algn="ctr" indent="0" marL="0">
              <a:buNone/>
            </a:pPr>
            <a:r>
              <a:rPr lang="en-US" sz="850" b="1" dirty="0">
                <a:solidFill>
                  <a:srgbClr val="2563EB"/>
                </a:solidFill>
              </a:rPr>
              <a:t>ACTEURS</a:t>
            </a:r>
            <a:endParaRPr lang="en-US" sz="850" dirty="0"/>
          </a:p>
        </p:txBody>
      </p:sp>
      <p:sp>
        <p:nvSpPr>
          <p:cNvPr id="5" name="Text 3"/>
          <p:cNvSpPr/>
          <p:nvPr/>
        </p:nvSpPr>
        <p:spPr>
          <a:xfrm>
            <a:off x="548640" y="329184"/>
            <a:ext cx="7498080" cy="411480"/>
          </a:xfrm>
          <a:prstGeom prst="rect">
            <a:avLst/>
          </a:prstGeom>
          <a:noFill/>
          <a:ln/>
        </p:spPr>
        <p:txBody>
          <a:bodyPr wrap="square" lIns="0" tIns="0" rIns="0" bIns="0" rtlCol="0" anchor="ctr"/>
          <a:lstStyle/>
          <a:p>
            <a:pPr indent="0" marL="0">
              <a:buNone/>
            </a:pPr>
            <a:r>
              <a:rPr lang="en-US" sz="2400" b="1" dirty="0">
                <a:solidFill>
                  <a:srgbClr val="0F172A"/>
                </a:solidFill>
              </a:rPr>
              <a:t>Acteurs et droits d acces</a:t>
            </a:r>
            <a:endParaRPr lang="en-US" sz="2400" dirty="0"/>
          </a:p>
        </p:txBody>
      </p:sp>
      <p:sp>
        <p:nvSpPr>
          <p:cNvPr id="6" name="Text 4"/>
          <p:cNvSpPr/>
          <p:nvPr/>
        </p:nvSpPr>
        <p:spPr>
          <a:xfrm>
            <a:off x="566928" y="768096"/>
            <a:ext cx="7863840" cy="329184"/>
          </a:xfrm>
          <a:prstGeom prst="rect">
            <a:avLst/>
          </a:prstGeom>
          <a:noFill/>
          <a:ln/>
        </p:spPr>
        <p:txBody>
          <a:bodyPr wrap="square" lIns="0" tIns="0" rIns="0" bIns="0" rtlCol="0" anchor="ctr"/>
          <a:lstStyle/>
          <a:p>
            <a:pPr indent="0" marL="0">
              <a:buNone/>
            </a:pPr>
            <a:r>
              <a:rPr lang="en-US" sz="1150" dirty="0">
                <a:solidFill>
                  <a:srgbClr val="64748B"/>
                </a:solidFill>
              </a:rPr>
              <a:t>Les autorisations sont visibles dans frontend/src/utils/rbac.js, frontend/src/App.jsx et backend/routes/api.php.</a:t>
            </a:r>
            <a:endParaRPr lang="en-US" sz="1150" dirty="0"/>
          </a:p>
        </p:txBody>
      </p:sp>
      <p:sp>
        <p:nvSpPr>
          <p:cNvPr id="7" name="Text 5"/>
          <p:cNvSpPr/>
          <p:nvPr/>
        </p:nvSpPr>
        <p:spPr>
          <a:xfrm>
            <a:off x="548640" y="6446520"/>
            <a:ext cx="4389120" cy="182880"/>
          </a:xfrm>
          <a:prstGeom prst="rect">
            <a:avLst/>
          </a:prstGeom>
          <a:noFill/>
          <a:ln/>
        </p:spPr>
        <p:txBody>
          <a:bodyPr wrap="square" lIns="0" tIns="0" rIns="0" bIns="0" rtlCol="0" anchor="ctr"/>
          <a:lstStyle/>
          <a:p>
            <a:pPr indent="0" marL="0">
              <a:buNone/>
            </a:pPr>
            <a:r>
              <a:rPr lang="en-US" sz="850" dirty="0">
                <a:solidFill>
                  <a:srgbClr val="64748B"/>
                </a:solidFill>
              </a:rPr>
              <a:t>Analyse du code source - 10 mai 2026</a:t>
            </a:r>
            <a:endParaRPr lang="en-US" sz="850" dirty="0"/>
          </a:p>
        </p:txBody>
      </p:sp>
      <p:sp>
        <p:nvSpPr>
          <p:cNvPr id="8" name="Text 6"/>
          <p:cNvSpPr/>
          <p:nvPr/>
        </p:nvSpPr>
        <p:spPr>
          <a:xfrm>
            <a:off x="11064240" y="6419088"/>
            <a:ext cx="548640" cy="182880"/>
          </a:xfrm>
          <a:prstGeom prst="rect">
            <a:avLst/>
          </a:prstGeom>
          <a:noFill/>
          <a:ln/>
        </p:spPr>
        <p:txBody>
          <a:bodyPr wrap="square" lIns="0" tIns="0" rIns="0" bIns="0" rtlCol="0" anchor="ctr"/>
          <a:lstStyle/>
          <a:p>
            <a:pPr algn="r" indent="0" marL="0">
              <a:buNone/>
            </a:pPr>
            <a:r>
              <a:rPr lang="en-US" sz="900" b="1" dirty="0">
                <a:solidFill>
                  <a:srgbClr val="64748B"/>
                </a:solidFill>
              </a:rPr>
              <a:t>6/17</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13232" y="1463040"/>
          <a:ext cx="10789920" cy="914400"/>
        </p:xfrm>
        <a:graphic>
          <a:graphicData uri="http://schemas.openxmlformats.org/drawingml/2006/table">
            <a:tbl>
              <a:tblPr/>
              <a:tblGrid>
                <a:gridCol w="1874520"/>
                <a:gridCol w="8915400"/>
              </a:tblGrid>
              <a:tr h="512064">
                <a:tc>
                  <a:txBody>
                    <a:bodyPr/>
                    <a:lstStyle/>
                    <a:p>
                      <a:pPr algn="ctr" indent="0" marL="0">
                        <a:buNone/>
                      </a:pPr>
                      <a:r>
                        <a:rPr lang="en-US" sz="1070" b="1" dirty="0">
                          <a:solidFill>
                            <a:srgbClr val="FFFFFF"/>
                          </a:solidFill>
                          <a:latin typeface="Aptos" pitchFamily="34" charset="0"/>
                          <a:ea typeface="Aptos" pitchFamily="34" charset="-122"/>
                          <a:cs typeface="Aptos" pitchFamily="34" charset="-120"/>
                        </a:rPr>
                        <a:t>Acteur</a:t>
                      </a:r>
                      <a:endParaRPr lang="en-US" sz="107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algn="ctr" indent="0" marL="0">
                        <a:buNone/>
                      </a:pPr>
                      <a:r>
                        <a:rPr lang="en-US" sz="1070" b="1" dirty="0">
                          <a:solidFill>
                            <a:srgbClr val="FFFFFF"/>
                          </a:solidFill>
                          <a:latin typeface="Aptos" pitchFamily="34" charset="0"/>
                          <a:ea typeface="Aptos" pitchFamily="34" charset="-122"/>
                          <a:cs typeface="Aptos" pitchFamily="34" charset="-120"/>
                        </a:rPr>
                        <a:t>Responsabilites confirmees dans le code</a:t>
                      </a:r>
                      <a:endParaRPr lang="en-US" sz="107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r>
              <a:tr h="512064">
                <a:tc>
                  <a:txBody>
                    <a:bodyPr/>
                    <a:lstStyle/>
                    <a:p>
                      <a:pPr indent="0" marL="0">
                        <a:buNone/>
                      </a:pPr>
                      <a:r>
                        <a:rPr lang="en-US" sz="1070" dirty="0">
                          <a:solidFill>
                            <a:srgbClr val="0F172A"/>
                          </a:solidFill>
                          <a:latin typeface="Aptos" pitchFamily="34" charset="0"/>
                          <a:ea typeface="Aptos" pitchFamily="34" charset="-122"/>
                          <a:cs typeface="Aptos" pitchFamily="34" charset="-120"/>
                        </a:rPr>
                        <a:t>Directeur</a:t>
                      </a:r>
                      <a:endParaRPr lang="en-US" sz="107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DBEAFE"/>
                    </a:solidFill>
                  </a:tcPr>
                </a:tc>
                <a:tc>
                  <a:txBody>
                    <a:bodyPr/>
                    <a:lstStyle/>
                    <a:p>
                      <a:pPr indent="0" marL="0">
                        <a:buNone/>
                      </a:pPr>
                      <a:r>
                        <a:rPr lang="en-US" sz="1070" dirty="0">
                          <a:solidFill>
                            <a:srgbClr val="0F172A"/>
                          </a:solidFill>
                          <a:latin typeface="Aptos" pitchFamily="34" charset="0"/>
                          <a:ea typeface="Aptos" pitchFamily="34" charset="-122"/>
                          <a:cs typeface="Aptos" pitchFamily="34" charset="-120"/>
                        </a:rPr>
                        <a:t>Administration, utilisateurs, parametres, logs, purge des tokens, acces global API.</a:t>
                      </a:r>
                      <a:endParaRPr lang="en-US" sz="107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512064">
                <a:tc>
                  <a:txBody>
                    <a:bodyPr/>
                    <a:lstStyle/>
                    <a:p>
                      <a:pPr indent="0" marL="0">
                        <a:buNone/>
                      </a:pPr>
                      <a:r>
                        <a:rPr lang="en-US" sz="1070" dirty="0">
                          <a:solidFill>
                            <a:srgbClr val="0F172A"/>
                          </a:solidFill>
                          <a:latin typeface="Aptos" pitchFamily="34" charset="0"/>
                          <a:ea typeface="Aptos" pitchFamily="34" charset="-122"/>
                          <a:cs typeface="Aptos" pitchFamily="34" charset="-120"/>
                        </a:rPr>
                        <a:t>Responsable</a:t>
                      </a:r>
                      <a:endParaRPr lang="en-US" sz="107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CFFAFE"/>
                    </a:solidFill>
                  </a:tcPr>
                </a:tc>
                <a:tc>
                  <a:txBody>
                    <a:bodyPr/>
                    <a:lstStyle/>
                    <a:p>
                      <a:pPr indent="0" marL="0">
                        <a:buNone/>
                      </a:pPr>
                      <a:r>
                        <a:rPr lang="en-US" sz="1070" dirty="0">
                          <a:solidFill>
                            <a:srgbClr val="0F172A"/>
                          </a:solidFill>
                          <a:latin typeface="Aptos" pitchFamily="34" charset="0"/>
                          <a:ea typeface="Aptos" pitchFamily="34" charset="-122"/>
                          <a:cs typeface="Aptos" pitchFamily="34" charset="-120"/>
                        </a:rPr>
                        <a:t>Dashboard complet, gestion metier et suppression de plusieurs ressources, rapports.</a:t>
                      </a:r>
                      <a:endParaRPr lang="en-US" sz="107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512064">
                <a:tc>
                  <a:txBody>
                    <a:bodyPr/>
                    <a:lstStyle/>
                    <a:p>
                      <a:pPr indent="0" marL="0">
                        <a:buNone/>
                      </a:pPr>
                      <a:r>
                        <a:rPr lang="en-US" sz="1070" dirty="0">
                          <a:solidFill>
                            <a:srgbClr val="0F172A"/>
                          </a:solidFill>
                          <a:latin typeface="Aptos" pitchFamily="34" charset="0"/>
                          <a:ea typeface="Aptos" pitchFamily="34" charset="-122"/>
                          <a:cs typeface="Aptos" pitchFamily="34" charset="-120"/>
                        </a:rPr>
                        <a:t>Manager</a:t>
                      </a:r>
                      <a:endParaRPr lang="en-US" sz="107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EF3C7"/>
                    </a:solidFill>
                  </a:tcPr>
                </a:tc>
                <a:tc>
                  <a:txBody>
                    <a:bodyPr/>
                    <a:lstStyle/>
                    <a:p>
                      <a:pPr indent="0" marL="0">
                        <a:buNone/>
                      </a:pPr>
                      <a:r>
                        <a:rPr lang="en-US" sz="1070" dirty="0">
                          <a:solidFill>
                            <a:srgbClr val="0F172A"/>
                          </a:solidFill>
                          <a:latin typeface="Aptos" pitchFamily="34" charset="0"/>
                          <a:ea typeface="Aptos" pitchFamily="34" charset="-122"/>
                          <a:cs typeface="Aptos" pitchFamily="34" charset="-120"/>
                        </a:rPr>
                        <a:t>Supervision operationnelle, compteurs, pannes, reparations, interventions, releves, rapports.</a:t>
                      </a:r>
                      <a:endParaRPr lang="en-US" sz="107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512064">
                <a:tc>
                  <a:txBody>
                    <a:bodyPr/>
                    <a:lstStyle/>
                    <a:p>
                      <a:pPr indent="0" marL="0">
                        <a:buNone/>
                      </a:pPr>
                      <a:r>
                        <a:rPr lang="en-US" sz="1070" dirty="0">
                          <a:solidFill>
                            <a:srgbClr val="0F172A"/>
                          </a:solidFill>
                          <a:latin typeface="Aptos" pitchFamily="34" charset="0"/>
                          <a:ea typeface="Aptos" pitchFamily="34" charset="-122"/>
                          <a:cs typeface="Aptos" pitchFamily="34" charset="-120"/>
                        </a:rPr>
                        <a:t>Technicien</a:t>
                      </a:r>
                      <a:endParaRPr lang="en-US" sz="107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D1FAE5"/>
                    </a:solidFill>
                  </a:tcPr>
                </a:tc>
                <a:tc>
                  <a:txBody>
                    <a:bodyPr/>
                    <a:lstStyle/>
                    <a:p>
                      <a:pPr indent="0" marL="0">
                        <a:buNone/>
                      </a:pPr>
                      <a:r>
                        <a:rPr lang="en-US" sz="1070" dirty="0">
                          <a:solidFill>
                            <a:srgbClr val="0F172A"/>
                          </a:solidFill>
                          <a:latin typeface="Aptos" pitchFamily="34" charset="0"/>
                          <a:ea typeface="Aptos" pitchFamily="34" charset="-122"/>
                          <a:cs typeface="Aptos" pitchFamily="34" charset="-120"/>
                        </a:rPr>
                        <a:t>Travail terrain scope : pannes affectees, reparations, interventions et releves lies aux taches.</a:t>
                      </a:r>
                      <a:endParaRPr lang="en-US" sz="107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512064">
                <a:tc>
                  <a:txBody>
                    <a:bodyPr/>
                    <a:lstStyle/>
                    <a:p>
                      <a:pPr indent="0" marL="0">
                        <a:buNone/>
                      </a:pPr>
                      <a:r>
                        <a:rPr lang="en-US" sz="1070" dirty="0">
                          <a:solidFill>
                            <a:srgbClr val="0F172A"/>
                          </a:solidFill>
                          <a:latin typeface="Aptos" pitchFamily="34" charset="0"/>
                          <a:ea typeface="Aptos" pitchFamily="34" charset="-122"/>
                          <a:cs typeface="Aptos" pitchFamily="34" charset="-120"/>
                        </a:rPr>
                        <a:t>Lecteur</a:t>
                      </a:r>
                      <a:endParaRPr lang="en-US" sz="107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070" dirty="0">
                          <a:solidFill>
                            <a:srgbClr val="0F172A"/>
                          </a:solidFill>
                          <a:latin typeface="Aptos" pitchFamily="34" charset="0"/>
                          <a:ea typeface="Aptos" pitchFamily="34" charset="-122"/>
                          <a:cs typeface="Aptos" pitchFamily="34" charset="-120"/>
                        </a:rPr>
                        <a:t>Lecture seule sur les donnees metier et les notifications. Les exports restent limites cote API.</a:t>
                      </a:r>
                      <a:endParaRPr lang="en-US" sz="107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bl>
          </a:graphicData>
        </a:graphic>
      </p:graphicFrame>
      <p:sp>
        <p:nvSpPr>
          <p:cNvPr id="10" name="Shape 7"/>
          <p:cNvSpPr/>
          <p:nvPr/>
        </p:nvSpPr>
        <p:spPr>
          <a:xfrm>
            <a:off x="713232" y="4983480"/>
            <a:ext cx="5212080" cy="1051560"/>
          </a:xfrm>
          <a:prstGeom prst="roundRect">
            <a:avLst>
              <a:gd name="adj" fmla="val 8696"/>
            </a:avLst>
          </a:prstGeom>
          <a:solidFill>
            <a:srgbClr val="FFFFFF"/>
          </a:solidFill>
          <a:ln w="12700">
            <a:solidFill>
              <a:srgbClr val="CBD5E1"/>
            </a:solidFill>
            <a:prstDash val="solid"/>
          </a:ln>
        </p:spPr>
      </p:sp>
      <p:sp>
        <p:nvSpPr>
          <p:cNvPr id="11" name="Shape 8"/>
          <p:cNvSpPr/>
          <p:nvPr/>
        </p:nvSpPr>
        <p:spPr>
          <a:xfrm>
            <a:off x="877824" y="5148072"/>
            <a:ext cx="73152" cy="722376"/>
          </a:xfrm>
          <a:prstGeom prst="rect">
            <a:avLst/>
          </a:prstGeom>
          <a:solidFill>
            <a:srgbClr val="2563EB"/>
          </a:solidFill>
          <a:ln w="12700">
            <a:solidFill>
              <a:srgbClr val="2563EB">
                <a:alpha val="0"/>
              </a:srgbClr>
            </a:solidFill>
            <a:prstDash val="solid"/>
          </a:ln>
        </p:spPr>
      </p:sp>
      <p:sp>
        <p:nvSpPr>
          <p:cNvPr id="12" name="Text 9"/>
          <p:cNvSpPr/>
          <p:nvPr/>
        </p:nvSpPr>
        <p:spPr>
          <a:xfrm>
            <a:off x="1033272" y="5148072"/>
            <a:ext cx="4754880" cy="219456"/>
          </a:xfrm>
          <a:prstGeom prst="rect">
            <a:avLst/>
          </a:prstGeom>
          <a:noFill/>
          <a:ln/>
        </p:spPr>
        <p:txBody>
          <a:bodyPr wrap="square" lIns="0" tIns="0" rIns="0" bIns="0" rtlCol="0" anchor="ctr"/>
          <a:lstStyle/>
          <a:p>
            <a:pPr indent="0" marL="0">
              <a:buNone/>
            </a:pPr>
            <a:r>
              <a:rPr lang="en-US" sz="1300" b="1" dirty="0">
                <a:solidFill>
                  <a:srgbClr val="0F172A"/>
                </a:solidFill>
              </a:rPr>
              <a:t>Double securite</a:t>
            </a:r>
            <a:endParaRPr lang="en-US" sz="1300" dirty="0"/>
          </a:p>
        </p:txBody>
      </p:sp>
      <p:sp>
        <p:nvSpPr>
          <p:cNvPr id="13" name="Text 10"/>
          <p:cNvSpPr/>
          <p:nvPr/>
        </p:nvSpPr>
        <p:spPr>
          <a:xfrm>
            <a:off x="1033272" y="5458968"/>
            <a:ext cx="4800600" cy="429768"/>
          </a:xfrm>
          <a:prstGeom prst="rect">
            <a:avLst/>
          </a:prstGeom>
          <a:noFill/>
          <a:ln/>
        </p:spPr>
        <p:txBody>
          <a:bodyPr wrap="square" lIns="0" tIns="0" rIns="0" bIns="0" rtlCol="0" anchor="t"/>
          <a:lstStyle/>
          <a:p>
            <a:pPr indent="0" marL="0">
              <a:buNone/>
            </a:pPr>
            <a:r>
              <a:rPr lang="en-US" sz="1050" dirty="0">
                <a:solidFill>
                  <a:srgbClr val="64748B"/>
                </a:solidFill>
              </a:rPr>
              <a:t>• Le frontend masque les actions non autorisees.</a:t>
            </a:r>
            <a:endParaRPr lang="en-US" sz="1050" dirty="0"/>
          </a:p>
          <a:p>
            <a:pPr indent="0" marL="0">
              <a:buNone/>
            </a:pPr>
            <a:r>
              <a:rPr lang="en-US" sz="1050" dirty="0">
                <a:solidFill>
                  <a:srgbClr val="64748B"/>
                </a:solidFill>
              </a:rPr>
              <a:t>• Le backend refuse les routes interdites via middleware, policy et scopes metier.</a:t>
            </a:r>
            <a:endParaRPr lang="en-US" sz="1050" dirty="0"/>
          </a:p>
        </p:txBody>
      </p:sp>
      <p:sp>
        <p:nvSpPr>
          <p:cNvPr id="14" name="Shape 11"/>
          <p:cNvSpPr/>
          <p:nvPr/>
        </p:nvSpPr>
        <p:spPr>
          <a:xfrm>
            <a:off x="6217920" y="4983480"/>
            <a:ext cx="5285232" cy="1051560"/>
          </a:xfrm>
          <a:prstGeom prst="roundRect">
            <a:avLst>
              <a:gd name="adj" fmla="val 8696"/>
            </a:avLst>
          </a:prstGeom>
          <a:solidFill>
            <a:srgbClr val="FFFFFF"/>
          </a:solidFill>
          <a:ln w="12700">
            <a:solidFill>
              <a:srgbClr val="CBD5E1"/>
            </a:solidFill>
            <a:prstDash val="solid"/>
          </a:ln>
        </p:spPr>
      </p:sp>
      <p:sp>
        <p:nvSpPr>
          <p:cNvPr id="15" name="Shape 12"/>
          <p:cNvSpPr/>
          <p:nvPr/>
        </p:nvSpPr>
        <p:spPr>
          <a:xfrm>
            <a:off x="6382512" y="5148072"/>
            <a:ext cx="73152" cy="722376"/>
          </a:xfrm>
          <a:prstGeom prst="rect">
            <a:avLst/>
          </a:prstGeom>
          <a:solidFill>
            <a:srgbClr val="DC2626"/>
          </a:solidFill>
          <a:ln w="12700">
            <a:solidFill>
              <a:srgbClr val="DC2626">
                <a:alpha val="0"/>
              </a:srgbClr>
            </a:solidFill>
            <a:prstDash val="solid"/>
          </a:ln>
        </p:spPr>
      </p:sp>
      <p:sp>
        <p:nvSpPr>
          <p:cNvPr id="16" name="Text 13"/>
          <p:cNvSpPr/>
          <p:nvPr/>
        </p:nvSpPr>
        <p:spPr>
          <a:xfrm>
            <a:off x="6537960" y="5148072"/>
            <a:ext cx="4828032" cy="219456"/>
          </a:xfrm>
          <a:prstGeom prst="rect">
            <a:avLst/>
          </a:prstGeom>
          <a:noFill/>
          <a:ln/>
        </p:spPr>
        <p:txBody>
          <a:bodyPr wrap="square" lIns="0" tIns="0" rIns="0" bIns="0" rtlCol="0" anchor="ctr"/>
          <a:lstStyle/>
          <a:p>
            <a:pPr indent="0" marL="0">
              <a:buNone/>
            </a:pPr>
            <a:r>
              <a:rPr lang="en-US" sz="1300" b="1" dirty="0">
                <a:solidFill>
                  <a:srgbClr val="0F172A"/>
                </a:solidFill>
              </a:rPr>
              <a:t>Role technique</a:t>
            </a:r>
            <a:endParaRPr lang="en-US" sz="1300" dirty="0"/>
          </a:p>
        </p:txBody>
      </p:sp>
      <p:sp>
        <p:nvSpPr>
          <p:cNvPr id="17" name="Text 14"/>
          <p:cNvSpPr/>
          <p:nvPr/>
        </p:nvSpPr>
        <p:spPr>
          <a:xfrm>
            <a:off x="6537960" y="5458968"/>
            <a:ext cx="4873752" cy="429768"/>
          </a:xfrm>
          <a:prstGeom prst="rect">
            <a:avLst/>
          </a:prstGeom>
          <a:noFill/>
          <a:ln/>
        </p:spPr>
        <p:txBody>
          <a:bodyPr wrap="square" lIns="0" tIns="0" rIns="0" bIns="0" rtlCol="0" anchor="t"/>
          <a:lstStyle/>
          <a:p>
            <a:pPr indent="0" marL="0">
              <a:buNone/>
            </a:pPr>
            <a:r>
              <a:rPr lang="en-US" sz="1050" dirty="0">
                <a:solidFill>
                  <a:srgbClr val="64748B"/>
                </a:solidFill>
              </a:rPr>
              <a:t>• Le role developer existe dans le code mais il est desactive en production.</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563EB"/>
          </a:solidFill>
          <a:ln w="12700">
            <a:solidFill>
              <a:srgbClr val="2563EB">
                <a:alpha val="0"/>
              </a:srgbClr>
            </a:solidFill>
            <a:prstDash val="solid"/>
          </a:ln>
        </p:spPr>
      </p:sp>
      <p:sp>
        <p:nvSpPr>
          <p:cNvPr id="3" name="Shape 1"/>
          <p:cNvSpPr/>
          <p:nvPr/>
        </p:nvSpPr>
        <p:spPr>
          <a:xfrm>
            <a:off x="9738360" y="310896"/>
            <a:ext cx="1874520" cy="310896"/>
          </a:xfrm>
          <a:prstGeom prst="roundRect">
            <a:avLst>
              <a:gd name="adj" fmla="val 23529"/>
            </a:avLst>
          </a:prstGeom>
          <a:solidFill>
            <a:srgbClr val="DBEAFE"/>
          </a:solidFill>
          <a:ln w="12700">
            <a:solidFill>
              <a:srgbClr val="DBEAFE">
                <a:alpha val="0"/>
              </a:srgbClr>
            </a:solidFill>
            <a:prstDash val="solid"/>
          </a:ln>
        </p:spPr>
      </p:sp>
      <p:sp>
        <p:nvSpPr>
          <p:cNvPr id="4" name="Text 2"/>
          <p:cNvSpPr/>
          <p:nvPr/>
        </p:nvSpPr>
        <p:spPr>
          <a:xfrm>
            <a:off x="9893808" y="374904"/>
            <a:ext cx="1554480" cy="164592"/>
          </a:xfrm>
          <a:prstGeom prst="rect">
            <a:avLst/>
          </a:prstGeom>
          <a:noFill/>
          <a:ln/>
        </p:spPr>
        <p:txBody>
          <a:bodyPr wrap="square" lIns="0" tIns="0" rIns="0" bIns="0" rtlCol="0" anchor="ctr"/>
          <a:lstStyle/>
          <a:p>
            <a:pPr algn="ctr" indent="0" marL="0">
              <a:buNone/>
            </a:pPr>
            <a:r>
              <a:rPr lang="en-US" sz="850" b="1" dirty="0">
                <a:solidFill>
                  <a:srgbClr val="2563EB"/>
                </a:solidFill>
              </a:rPr>
              <a:t>CONCEPTION</a:t>
            </a:r>
            <a:endParaRPr lang="en-US" sz="850" dirty="0"/>
          </a:p>
        </p:txBody>
      </p:sp>
      <p:sp>
        <p:nvSpPr>
          <p:cNvPr id="5" name="Text 3"/>
          <p:cNvSpPr/>
          <p:nvPr/>
        </p:nvSpPr>
        <p:spPr>
          <a:xfrm>
            <a:off x="548640" y="329184"/>
            <a:ext cx="7498080" cy="411480"/>
          </a:xfrm>
          <a:prstGeom prst="rect">
            <a:avLst/>
          </a:prstGeom>
          <a:noFill/>
          <a:ln/>
        </p:spPr>
        <p:txBody>
          <a:bodyPr wrap="square" lIns="0" tIns="0" rIns="0" bIns="0" rtlCol="0" anchor="ctr"/>
          <a:lstStyle/>
          <a:p>
            <a:pPr indent="0" marL="0">
              <a:buNone/>
            </a:pPr>
            <a:r>
              <a:rPr lang="en-US" sz="2400" b="1" dirty="0">
                <a:solidFill>
                  <a:srgbClr val="0F172A"/>
                </a:solidFill>
              </a:rPr>
              <a:t>Diagramme de cas d utilisation</a:t>
            </a:r>
            <a:endParaRPr lang="en-US" sz="2400" dirty="0"/>
          </a:p>
        </p:txBody>
      </p:sp>
      <p:sp>
        <p:nvSpPr>
          <p:cNvPr id="6" name="Text 4"/>
          <p:cNvSpPr/>
          <p:nvPr/>
        </p:nvSpPr>
        <p:spPr>
          <a:xfrm>
            <a:off x="566928" y="768096"/>
            <a:ext cx="7863840" cy="329184"/>
          </a:xfrm>
          <a:prstGeom prst="rect">
            <a:avLst/>
          </a:prstGeom>
          <a:noFill/>
          <a:ln/>
        </p:spPr>
        <p:txBody>
          <a:bodyPr wrap="square" lIns="0" tIns="0" rIns="0" bIns="0" rtlCol="0" anchor="ctr"/>
          <a:lstStyle/>
          <a:p>
            <a:pPr indent="0" marL="0">
              <a:buNone/>
            </a:pPr>
            <a:r>
              <a:rPr lang="en-US" sz="1150" dirty="0">
                <a:solidFill>
                  <a:srgbClr val="64748B"/>
                </a:solidFill>
              </a:rPr>
              <a:t>Diagramme UML genere a partir des roles, des routes et des modules observes dans le projet.</a:t>
            </a:r>
            <a:endParaRPr lang="en-US" sz="1150" dirty="0"/>
          </a:p>
        </p:txBody>
      </p:sp>
      <p:sp>
        <p:nvSpPr>
          <p:cNvPr id="7" name="Text 5"/>
          <p:cNvSpPr/>
          <p:nvPr/>
        </p:nvSpPr>
        <p:spPr>
          <a:xfrm>
            <a:off x="548640" y="6446520"/>
            <a:ext cx="4389120" cy="182880"/>
          </a:xfrm>
          <a:prstGeom prst="rect">
            <a:avLst/>
          </a:prstGeom>
          <a:noFill/>
          <a:ln/>
        </p:spPr>
        <p:txBody>
          <a:bodyPr wrap="square" lIns="0" tIns="0" rIns="0" bIns="0" rtlCol="0" anchor="ctr"/>
          <a:lstStyle/>
          <a:p>
            <a:pPr indent="0" marL="0">
              <a:buNone/>
            </a:pPr>
            <a:r>
              <a:rPr lang="en-US" sz="850" dirty="0">
                <a:solidFill>
                  <a:srgbClr val="64748B"/>
                </a:solidFill>
              </a:rPr>
              <a:t>Analyse du code source - 10 mai 2026</a:t>
            </a:r>
            <a:endParaRPr lang="en-US" sz="850" dirty="0"/>
          </a:p>
        </p:txBody>
      </p:sp>
      <p:sp>
        <p:nvSpPr>
          <p:cNvPr id="8" name="Text 6"/>
          <p:cNvSpPr/>
          <p:nvPr/>
        </p:nvSpPr>
        <p:spPr>
          <a:xfrm>
            <a:off x="11064240" y="6419088"/>
            <a:ext cx="548640" cy="182880"/>
          </a:xfrm>
          <a:prstGeom prst="rect">
            <a:avLst/>
          </a:prstGeom>
          <a:noFill/>
          <a:ln/>
        </p:spPr>
        <p:txBody>
          <a:bodyPr wrap="square" lIns="0" tIns="0" rIns="0" bIns="0" rtlCol="0" anchor="ctr"/>
          <a:lstStyle/>
          <a:p>
            <a:pPr algn="r" indent="0" marL="0">
              <a:buNone/>
            </a:pPr>
            <a:r>
              <a:rPr lang="en-US" sz="900" b="1" dirty="0">
                <a:solidFill>
                  <a:srgbClr val="64748B"/>
                </a:solidFill>
              </a:rPr>
              <a:t>7/17</a:t>
            </a:r>
            <a:endParaRPr lang="en-US" sz="900" dirty="0"/>
          </a:p>
        </p:txBody>
      </p:sp>
      <p:pic>
        <p:nvPicPr>
          <p:cNvPr id="9" name="Image 0" descr="F:\Ofppt\2 eme anne\stage_projet\RADEETA-Management-System\docs\uml-assets\use-case-diagram.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02920" y="1298448"/>
            <a:ext cx="7818120" cy="5029200"/>
          </a:xfrm>
          <a:prstGeom prst="rect">
            <a:avLst/>
          </a:prstGeom>
        </p:spPr>
      </p:pic>
      <p:sp>
        <p:nvSpPr>
          <p:cNvPr id="10" name="Shape 7"/>
          <p:cNvSpPr/>
          <p:nvPr/>
        </p:nvSpPr>
        <p:spPr>
          <a:xfrm>
            <a:off x="8549640" y="1417320"/>
            <a:ext cx="2834640" cy="1417320"/>
          </a:xfrm>
          <a:prstGeom prst="roundRect">
            <a:avLst>
              <a:gd name="adj" fmla="val 6452"/>
            </a:avLst>
          </a:prstGeom>
          <a:solidFill>
            <a:srgbClr val="FFFFFF"/>
          </a:solidFill>
          <a:ln w="12700">
            <a:solidFill>
              <a:srgbClr val="CBD5E1"/>
            </a:solidFill>
            <a:prstDash val="solid"/>
          </a:ln>
        </p:spPr>
      </p:sp>
      <p:sp>
        <p:nvSpPr>
          <p:cNvPr id="11" name="Shape 8"/>
          <p:cNvSpPr/>
          <p:nvPr/>
        </p:nvSpPr>
        <p:spPr>
          <a:xfrm>
            <a:off x="8714232" y="1581912"/>
            <a:ext cx="73152" cy="1088136"/>
          </a:xfrm>
          <a:prstGeom prst="rect">
            <a:avLst/>
          </a:prstGeom>
          <a:solidFill>
            <a:srgbClr val="2563EB"/>
          </a:solidFill>
          <a:ln w="12700">
            <a:solidFill>
              <a:srgbClr val="2563EB">
                <a:alpha val="0"/>
              </a:srgbClr>
            </a:solidFill>
            <a:prstDash val="solid"/>
          </a:ln>
        </p:spPr>
      </p:sp>
      <p:sp>
        <p:nvSpPr>
          <p:cNvPr id="12" name="Text 9"/>
          <p:cNvSpPr/>
          <p:nvPr/>
        </p:nvSpPr>
        <p:spPr>
          <a:xfrm>
            <a:off x="8869680" y="1581912"/>
            <a:ext cx="2377440" cy="219456"/>
          </a:xfrm>
          <a:prstGeom prst="rect">
            <a:avLst/>
          </a:prstGeom>
          <a:noFill/>
          <a:ln/>
        </p:spPr>
        <p:txBody>
          <a:bodyPr wrap="square" lIns="0" tIns="0" rIns="0" bIns="0" rtlCol="0" anchor="ctr"/>
          <a:lstStyle/>
          <a:p>
            <a:pPr indent="0" marL="0">
              <a:buNone/>
            </a:pPr>
            <a:r>
              <a:rPr lang="en-US" sz="1300" b="1" dirty="0">
                <a:solidFill>
                  <a:srgbClr val="0F172A"/>
                </a:solidFill>
              </a:rPr>
              <a:t>Lecture du diagramme</a:t>
            </a:r>
            <a:endParaRPr lang="en-US" sz="1300" dirty="0"/>
          </a:p>
        </p:txBody>
      </p:sp>
      <p:sp>
        <p:nvSpPr>
          <p:cNvPr id="13" name="Text 10"/>
          <p:cNvSpPr/>
          <p:nvPr/>
        </p:nvSpPr>
        <p:spPr>
          <a:xfrm>
            <a:off x="8869680" y="1892808"/>
            <a:ext cx="2423160" cy="795528"/>
          </a:xfrm>
          <a:prstGeom prst="rect">
            <a:avLst/>
          </a:prstGeom>
          <a:noFill/>
          <a:ln/>
        </p:spPr>
        <p:txBody>
          <a:bodyPr wrap="square" lIns="0" tIns="0" rIns="0" bIns="0" rtlCol="0" anchor="t"/>
          <a:lstStyle/>
          <a:p>
            <a:pPr indent="0" marL="0">
              <a:buNone/>
            </a:pPr>
            <a:r>
              <a:rPr lang="en-US" sz="1050" dirty="0">
                <a:solidFill>
                  <a:srgbClr val="64748B"/>
                </a:solidFill>
              </a:rPr>
              <a:t>• Chaque acteur dispose d un perimetre distinct.</a:t>
            </a:r>
            <a:endParaRPr lang="en-US" sz="1050" dirty="0"/>
          </a:p>
          <a:p>
            <a:pPr indent="0" marL="0">
              <a:buNone/>
            </a:pPr>
            <a:r>
              <a:rPr lang="en-US" sz="1050" dirty="0">
                <a:solidFill>
                  <a:srgbClr val="64748B"/>
                </a:solidFill>
              </a:rPr>
              <a:t>• Le directeur reste le profil le plus large.</a:t>
            </a:r>
            <a:endParaRPr lang="en-US" sz="1050" dirty="0"/>
          </a:p>
        </p:txBody>
      </p:sp>
      <p:sp>
        <p:nvSpPr>
          <p:cNvPr id="14" name="Shape 11"/>
          <p:cNvSpPr/>
          <p:nvPr/>
        </p:nvSpPr>
        <p:spPr>
          <a:xfrm>
            <a:off x="8549640" y="3063240"/>
            <a:ext cx="2834640" cy="1325880"/>
          </a:xfrm>
          <a:prstGeom prst="roundRect">
            <a:avLst>
              <a:gd name="adj" fmla="val 6897"/>
            </a:avLst>
          </a:prstGeom>
          <a:solidFill>
            <a:srgbClr val="FFFFFF"/>
          </a:solidFill>
          <a:ln w="12700">
            <a:solidFill>
              <a:srgbClr val="CBD5E1"/>
            </a:solidFill>
            <a:prstDash val="solid"/>
          </a:ln>
        </p:spPr>
      </p:sp>
      <p:sp>
        <p:nvSpPr>
          <p:cNvPr id="15" name="Shape 12"/>
          <p:cNvSpPr/>
          <p:nvPr/>
        </p:nvSpPr>
        <p:spPr>
          <a:xfrm>
            <a:off x="8714232" y="3227832"/>
            <a:ext cx="73152" cy="996696"/>
          </a:xfrm>
          <a:prstGeom prst="rect">
            <a:avLst/>
          </a:prstGeom>
          <a:solidFill>
            <a:srgbClr val="0891B2"/>
          </a:solidFill>
          <a:ln w="12700">
            <a:solidFill>
              <a:srgbClr val="0891B2">
                <a:alpha val="0"/>
              </a:srgbClr>
            </a:solidFill>
            <a:prstDash val="solid"/>
          </a:ln>
        </p:spPr>
      </p:sp>
      <p:sp>
        <p:nvSpPr>
          <p:cNvPr id="16" name="Text 13"/>
          <p:cNvSpPr/>
          <p:nvPr/>
        </p:nvSpPr>
        <p:spPr>
          <a:xfrm>
            <a:off x="8869680" y="3227832"/>
            <a:ext cx="2377440" cy="219456"/>
          </a:xfrm>
          <a:prstGeom prst="rect">
            <a:avLst/>
          </a:prstGeom>
          <a:noFill/>
          <a:ln/>
        </p:spPr>
        <p:txBody>
          <a:bodyPr wrap="square" lIns="0" tIns="0" rIns="0" bIns="0" rtlCol="0" anchor="ctr"/>
          <a:lstStyle/>
          <a:p>
            <a:pPr indent="0" marL="0">
              <a:buNone/>
            </a:pPr>
            <a:r>
              <a:rPr lang="en-US" sz="1300" b="1" dirty="0">
                <a:solidFill>
                  <a:srgbClr val="0F172A"/>
                </a:solidFill>
              </a:rPr>
              <a:t>Point fort</a:t>
            </a:r>
            <a:endParaRPr lang="en-US" sz="1300" dirty="0"/>
          </a:p>
        </p:txBody>
      </p:sp>
      <p:sp>
        <p:nvSpPr>
          <p:cNvPr id="17" name="Text 14"/>
          <p:cNvSpPr/>
          <p:nvPr/>
        </p:nvSpPr>
        <p:spPr>
          <a:xfrm>
            <a:off x="8869680" y="3538728"/>
            <a:ext cx="2423160" cy="704088"/>
          </a:xfrm>
          <a:prstGeom prst="rect">
            <a:avLst/>
          </a:prstGeom>
          <a:noFill/>
          <a:ln/>
        </p:spPr>
        <p:txBody>
          <a:bodyPr wrap="square" lIns="0" tIns="0" rIns="0" bIns="0" rtlCol="0" anchor="t"/>
          <a:lstStyle/>
          <a:p>
            <a:pPr indent="0" marL="0">
              <a:buNone/>
            </a:pPr>
            <a:r>
              <a:rPr lang="en-US" sz="1050" dirty="0">
                <a:solidFill>
                  <a:srgbClr val="64748B"/>
                </a:solidFill>
              </a:rPr>
              <a:t>• Le workflow va de la declaration de panne jusqu au reporting.</a:t>
            </a:r>
            <a:endParaRPr lang="en-US" sz="1050" dirty="0"/>
          </a:p>
        </p:txBody>
      </p:sp>
      <p:sp>
        <p:nvSpPr>
          <p:cNvPr id="18" name="Shape 15"/>
          <p:cNvSpPr/>
          <p:nvPr/>
        </p:nvSpPr>
        <p:spPr>
          <a:xfrm>
            <a:off x="8549640" y="4572000"/>
            <a:ext cx="2834640" cy="1325880"/>
          </a:xfrm>
          <a:prstGeom prst="roundRect">
            <a:avLst>
              <a:gd name="adj" fmla="val 6897"/>
            </a:avLst>
          </a:prstGeom>
          <a:solidFill>
            <a:srgbClr val="FFFFFF"/>
          </a:solidFill>
          <a:ln w="12700">
            <a:solidFill>
              <a:srgbClr val="CBD5E1"/>
            </a:solidFill>
            <a:prstDash val="solid"/>
          </a:ln>
        </p:spPr>
      </p:sp>
      <p:sp>
        <p:nvSpPr>
          <p:cNvPr id="19" name="Shape 16"/>
          <p:cNvSpPr/>
          <p:nvPr/>
        </p:nvSpPr>
        <p:spPr>
          <a:xfrm>
            <a:off x="8714232" y="4736592"/>
            <a:ext cx="73152" cy="996696"/>
          </a:xfrm>
          <a:prstGeom prst="rect">
            <a:avLst/>
          </a:prstGeom>
          <a:solidFill>
            <a:srgbClr val="D97706"/>
          </a:solidFill>
          <a:ln w="12700">
            <a:solidFill>
              <a:srgbClr val="D97706">
                <a:alpha val="0"/>
              </a:srgbClr>
            </a:solidFill>
            <a:prstDash val="solid"/>
          </a:ln>
        </p:spPr>
      </p:sp>
      <p:sp>
        <p:nvSpPr>
          <p:cNvPr id="20" name="Text 17"/>
          <p:cNvSpPr/>
          <p:nvPr/>
        </p:nvSpPr>
        <p:spPr>
          <a:xfrm>
            <a:off x="8869680" y="4736592"/>
            <a:ext cx="2377440" cy="219456"/>
          </a:xfrm>
          <a:prstGeom prst="rect">
            <a:avLst/>
          </a:prstGeom>
          <a:noFill/>
          <a:ln/>
        </p:spPr>
        <p:txBody>
          <a:bodyPr wrap="square" lIns="0" tIns="0" rIns="0" bIns="0" rtlCol="0" anchor="ctr"/>
          <a:lstStyle/>
          <a:p>
            <a:pPr indent="0" marL="0">
              <a:buNone/>
            </a:pPr>
            <a:r>
              <a:rPr lang="en-US" sz="1300" b="1" dirty="0">
                <a:solidFill>
                  <a:srgbClr val="0F172A"/>
                </a:solidFill>
              </a:rPr>
              <a:t>Point a retenir</a:t>
            </a:r>
            <a:endParaRPr lang="en-US" sz="1300" dirty="0"/>
          </a:p>
        </p:txBody>
      </p:sp>
      <p:sp>
        <p:nvSpPr>
          <p:cNvPr id="21" name="Text 18"/>
          <p:cNvSpPr/>
          <p:nvPr/>
        </p:nvSpPr>
        <p:spPr>
          <a:xfrm>
            <a:off x="8869680" y="5047488"/>
            <a:ext cx="2423160" cy="704088"/>
          </a:xfrm>
          <a:prstGeom prst="rect">
            <a:avLst/>
          </a:prstGeom>
          <a:noFill/>
          <a:ln/>
        </p:spPr>
        <p:txBody>
          <a:bodyPr wrap="square" lIns="0" tIns="0" rIns="0" bIns="0" rtlCol="0" anchor="t"/>
          <a:lstStyle/>
          <a:p>
            <a:pPr indent="0" marL="0">
              <a:buNone/>
            </a:pPr>
            <a:r>
              <a:rPr lang="en-US" sz="1050" dirty="0">
                <a:solidFill>
                  <a:srgbClr val="64748B"/>
                </a:solidFill>
              </a:rPr>
              <a:t>• Le scope technicien est volontairement limite par affectation.</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563EB"/>
          </a:solidFill>
          <a:ln w="12700">
            <a:solidFill>
              <a:srgbClr val="2563EB">
                <a:alpha val="0"/>
              </a:srgbClr>
            </a:solidFill>
            <a:prstDash val="solid"/>
          </a:ln>
        </p:spPr>
      </p:sp>
      <p:sp>
        <p:nvSpPr>
          <p:cNvPr id="3" name="Shape 1"/>
          <p:cNvSpPr/>
          <p:nvPr/>
        </p:nvSpPr>
        <p:spPr>
          <a:xfrm>
            <a:off x="9738360" y="310896"/>
            <a:ext cx="1874520" cy="310896"/>
          </a:xfrm>
          <a:prstGeom prst="roundRect">
            <a:avLst>
              <a:gd name="adj" fmla="val 23529"/>
            </a:avLst>
          </a:prstGeom>
          <a:solidFill>
            <a:srgbClr val="DBEAFE"/>
          </a:solidFill>
          <a:ln w="12700">
            <a:solidFill>
              <a:srgbClr val="DBEAFE">
                <a:alpha val="0"/>
              </a:srgbClr>
            </a:solidFill>
            <a:prstDash val="solid"/>
          </a:ln>
        </p:spPr>
      </p:sp>
      <p:sp>
        <p:nvSpPr>
          <p:cNvPr id="4" name="Text 2"/>
          <p:cNvSpPr/>
          <p:nvPr/>
        </p:nvSpPr>
        <p:spPr>
          <a:xfrm>
            <a:off x="9893808" y="374904"/>
            <a:ext cx="1554480" cy="164592"/>
          </a:xfrm>
          <a:prstGeom prst="rect">
            <a:avLst/>
          </a:prstGeom>
          <a:noFill/>
          <a:ln/>
        </p:spPr>
        <p:txBody>
          <a:bodyPr wrap="square" lIns="0" tIns="0" rIns="0" bIns="0" rtlCol="0" anchor="ctr"/>
          <a:lstStyle/>
          <a:p>
            <a:pPr algn="ctr" indent="0" marL="0">
              <a:buNone/>
            </a:pPr>
            <a:r>
              <a:rPr lang="en-US" sz="850" b="1" dirty="0">
                <a:solidFill>
                  <a:srgbClr val="2563EB"/>
                </a:solidFill>
              </a:rPr>
              <a:t>CONCEPTION</a:t>
            </a:r>
            <a:endParaRPr lang="en-US" sz="850" dirty="0"/>
          </a:p>
        </p:txBody>
      </p:sp>
      <p:sp>
        <p:nvSpPr>
          <p:cNvPr id="5" name="Text 3"/>
          <p:cNvSpPr/>
          <p:nvPr/>
        </p:nvSpPr>
        <p:spPr>
          <a:xfrm>
            <a:off x="548640" y="329184"/>
            <a:ext cx="7498080" cy="411480"/>
          </a:xfrm>
          <a:prstGeom prst="rect">
            <a:avLst/>
          </a:prstGeom>
          <a:noFill/>
          <a:ln/>
        </p:spPr>
        <p:txBody>
          <a:bodyPr wrap="square" lIns="0" tIns="0" rIns="0" bIns="0" rtlCol="0" anchor="ctr"/>
          <a:lstStyle/>
          <a:p>
            <a:pPr indent="0" marL="0">
              <a:buNone/>
            </a:pPr>
            <a:r>
              <a:rPr lang="en-US" sz="2400" b="1" dirty="0">
                <a:solidFill>
                  <a:srgbClr val="0F172A"/>
                </a:solidFill>
              </a:rPr>
              <a:t>MCD et relations entre entites</a:t>
            </a:r>
            <a:endParaRPr lang="en-US" sz="2400" dirty="0"/>
          </a:p>
        </p:txBody>
      </p:sp>
      <p:sp>
        <p:nvSpPr>
          <p:cNvPr id="6" name="Text 4"/>
          <p:cNvSpPr/>
          <p:nvPr/>
        </p:nvSpPr>
        <p:spPr>
          <a:xfrm>
            <a:off x="566928" y="768096"/>
            <a:ext cx="7863840" cy="329184"/>
          </a:xfrm>
          <a:prstGeom prst="rect">
            <a:avLst/>
          </a:prstGeom>
          <a:noFill/>
          <a:ln/>
        </p:spPr>
        <p:txBody>
          <a:bodyPr wrap="square" lIns="0" tIns="0" rIns="0" bIns="0" rtlCol="0" anchor="ctr"/>
          <a:lstStyle/>
          <a:p>
            <a:pPr indent="0" marL="0">
              <a:buNone/>
            </a:pPr>
            <a:r>
              <a:rPr lang="en-US" sz="1150" dirty="0">
                <a:solidFill>
                  <a:srgbClr val="64748B"/>
                </a:solidFill>
              </a:rPr>
              <a:t>Modele de donnees issu des migrations, des modeles Eloquent et des relations chargees dans les resources.</a:t>
            </a:r>
            <a:endParaRPr lang="en-US" sz="1150" dirty="0"/>
          </a:p>
        </p:txBody>
      </p:sp>
      <p:sp>
        <p:nvSpPr>
          <p:cNvPr id="7" name="Text 5"/>
          <p:cNvSpPr/>
          <p:nvPr/>
        </p:nvSpPr>
        <p:spPr>
          <a:xfrm>
            <a:off x="548640" y="6446520"/>
            <a:ext cx="4389120" cy="182880"/>
          </a:xfrm>
          <a:prstGeom prst="rect">
            <a:avLst/>
          </a:prstGeom>
          <a:noFill/>
          <a:ln/>
        </p:spPr>
        <p:txBody>
          <a:bodyPr wrap="square" lIns="0" tIns="0" rIns="0" bIns="0" rtlCol="0" anchor="ctr"/>
          <a:lstStyle/>
          <a:p>
            <a:pPr indent="0" marL="0">
              <a:buNone/>
            </a:pPr>
            <a:r>
              <a:rPr lang="en-US" sz="850" dirty="0">
                <a:solidFill>
                  <a:srgbClr val="64748B"/>
                </a:solidFill>
              </a:rPr>
              <a:t>Analyse du code source - 10 mai 2026</a:t>
            </a:r>
            <a:endParaRPr lang="en-US" sz="850" dirty="0"/>
          </a:p>
        </p:txBody>
      </p:sp>
      <p:sp>
        <p:nvSpPr>
          <p:cNvPr id="8" name="Text 6"/>
          <p:cNvSpPr/>
          <p:nvPr/>
        </p:nvSpPr>
        <p:spPr>
          <a:xfrm>
            <a:off x="11064240" y="6419088"/>
            <a:ext cx="548640" cy="182880"/>
          </a:xfrm>
          <a:prstGeom prst="rect">
            <a:avLst/>
          </a:prstGeom>
          <a:noFill/>
          <a:ln/>
        </p:spPr>
        <p:txBody>
          <a:bodyPr wrap="square" lIns="0" tIns="0" rIns="0" bIns="0" rtlCol="0" anchor="ctr"/>
          <a:lstStyle/>
          <a:p>
            <a:pPr algn="r" indent="0" marL="0">
              <a:buNone/>
            </a:pPr>
            <a:r>
              <a:rPr lang="en-US" sz="900" b="1" dirty="0">
                <a:solidFill>
                  <a:srgbClr val="64748B"/>
                </a:solidFill>
              </a:rPr>
              <a:t>8/17</a:t>
            </a:r>
            <a:endParaRPr lang="en-US" sz="900" dirty="0"/>
          </a:p>
        </p:txBody>
      </p:sp>
      <p:pic>
        <p:nvPicPr>
          <p:cNvPr id="9" name="Image 0" descr="F:\Ofppt\2 eme anne\stage_projet\RADEETA-Management-System\docs\uml-assets\mcd.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11480" y="1325880"/>
            <a:ext cx="7818120" cy="5440680"/>
          </a:xfrm>
          <a:prstGeom prst="rect">
            <a:avLst/>
          </a:prstGeom>
        </p:spPr>
      </p:pic>
      <p:sp>
        <p:nvSpPr>
          <p:cNvPr id="10" name="Shape 7"/>
          <p:cNvSpPr/>
          <p:nvPr/>
        </p:nvSpPr>
        <p:spPr>
          <a:xfrm>
            <a:off x="8412480" y="1417320"/>
            <a:ext cx="2971800" cy="1417320"/>
          </a:xfrm>
          <a:prstGeom prst="roundRect">
            <a:avLst>
              <a:gd name="adj" fmla="val 6452"/>
            </a:avLst>
          </a:prstGeom>
          <a:solidFill>
            <a:srgbClr val="FFFFFF"/>
          </a:solidFill>
          <a:ln w="12700">
            <a:solidFill>
              <a:srgbClr val="CBD5E1"/>
            </a:solidFill>
            <a:prstDash val="solid"/>
          </a:ln>
        </p:spPr>
      </p:sp>
      <p:sp>
        <p:nvSpPr>
          <p:cNvPr id="11" name="Shape 8"/>
          <p:cNvSpPr/>
          <p:nvPr/>
        </p:nvSpPr>
        <p:spPr>
          <a:xfrm>
            <a:off x="8577072" y="1581912"/>
            <a:ext cx="73152" cy="1088136"/>
          </a:xfrm>
          <a:prstGeom prst="rect">
            <a:avLst/>
          </a:prstGeom>
          <a:solidFill>
            <a:srgbClr val="2563EB"/>
          </a:solidFill>
          <a:ln w="12700">
            <a:solidFill>
              <a:srgbClr val="2563EB">
                <a:alpha val="0"/>
              </a:srgbClr>
            </a:solidFill>
            <a:prstDash val="solid"/>
          </a:ln>
        </p:spPr>
      </p:sp>
      <p:sp>
        <p:nvSpPr>
          <p:cNvPr id="12" name="Text 9"/>
          <p:cNvSpPr/>
          <p:nvPr/>
        </p:nvSpPr>
        <p:spPr>
          <a:xfrm>
            <a:off x="8732520" y="1581912"/>
            <a:ext cx="2514600" cy="219456"/>
          </a:xfrm>
          <a:prstGeom prst="rect">
            <a:avLst/>
          </a:prstGeom>
          <a:noFill/>
          <a:ln/>
        </p:spPr>
        <p:txBody>
          <a:bodyPr wrap="square" lIns="0" tIns="0" rIns="0" bIns="0" rtlCol="0" anchor="ctr"/>
          <a:lstStyle/>
          <a:p>
            <a:pPr indent="0" marL="0">
              <a:buNone/>
            </a:pPr>
            <a:r>
              <a:rPr lang="en-US" sz="1300" b="1" dirty="0">
                <a:solidFill>
                  <a:srgbClr val="0F172A"/>
                </a:solidFill>
              </a:rPr>
              <a:t>Referentiel</a:t>
            </a:r>
            <a:endParaRPr lang="en-US" sz="1300" dirty="0"/>
          </a:p>
        </p:txBody>
      </p:sp>
      <p:sp>
        <p:nvSpPr>
          <p:cNvPr id="13" name="Text 10"/>
          <p:cNvSpPr/>
          <p:nvPr/>
        </p:nvSpPr>
        <p:spPr>
          <a:xfrm>
            <a:off x="8732520" y="1892808"/>
            <a:ext cx="2560320" cy="795528"/>
          </a:xfrm>
          <a:prstGeom prst="rect">
            <a:avLst/>
          </a:prstGeom>
          <a:noFill/>
          <a:ln/>
        </p:spPr>
        <p:txBody>
          <a:bodyPr wrap="square" lIns="0" tIns="0" rIns="0" bIns="0" rtlCol="0" anchor="t"/>
          <a:lstStyle/>
          <a:p>
            <a:pPr indent="0" marL="0">
              <a:buNone/>
            </a:pPr>
            <a:r>
              <a:rPr lang="en-US" sz="1050" dirty="0">
                <a:solidFill>
                  <a:srgbClr val="64748B"/>
                </a:solidFill>
              </a:rPr>
              <a:t>• users, secteurs, clients et compteurs structurent le domaine.</a:t>
            </a:r>
            <a:endParaRPr lang="en-US" sz="1050" dirty="0"/>
          </a:p>
        </p:txBody>
      </p:sp>
      <p:sp>
        <p:nvSpPr>
          <p:cNvPr id="14" name="Shape 11"/>
          <p:cNvSpPr/>
          <p:nvPr/>
        </p:nvSpPr>
        <p:spPr>
          <a:xfrm>
            <a:off x="8412480" y="3063240"/>
            <a:ext cx="2971800" cy="1417320"/>
          </a:xfrm>
          <a:prstGeom prst="roundRect">
            <a:avLst>
              <a:gd name="adj" fmla="val 6452"/>
            </a:avLst>
          </a:prstGeom>
          <a:solidFill>
            <a:srgbClr val="FFFFFF"/>
          </a:solidFill>
          <a:ln w="12700">
            <a:solidFill>
              <a:srgbClr val="CBD5E1"/>
            </a:solidFill>
            <a:prstDash val="solid"/>
          </a:ln>
        </p:spPr>
      </p:sp>
      <p:sp>
        <p:nvSpPr>
          <p:cNvPr id="15" name="Shape 12"/>
          <p:cNvSpPr/>
          <p:nvPr/>
        </p:nvSpPr>
        <p:spPr>
          <a:xfrm>
            <a:off x="8577072" y="3227832"/>
            <a:ext cx="73152" cy="1088136"/>
          </a:xfrm>
          <a:prstGeom prst="rect">
            <a:avLst/>
          </a:prstGeom>
          <a:solidFill>
            <a:srgbClr val="DC2626"/>
          </a:solidFill>
          <a:ln w="12700">
            <a:solidFill>
              <a:srgbClr val="DC2626">
                <a:alpha val="0"/>
              </a:srgbClr>
            </a:solidFill>
            <a:prstDash val="solid"/>
          </a:ln>
        </p:spPr>
      </p:sp>
      <p:sp>
        <p:nvSpPr>
          <p:cNvPr id="16" name="Text 13"/>
          <p:cNvSpPr/>
          <p:nvPr/>
        </p:nvSpPr>
        <p:spPr>
          <a:xfrm>
            <a:off x="8732520" y="3227832"/>
            <a:ext cx="2514600" cy="219456"/>
          </a:xfrm>
          <a:prstGeom prst="rect">
            <a:avLst/>
          </a:prstGeom>
          <a:noFill/>
          <a:ln/>
        </p:spPr>
        <p:txBody>
          <a:bodyPr wrap="square" lIns="0" tIns="0" rIns="0" bIns="0" rtlCol="0" anchor="ctr"/>
          <a:lstStyle/>
          <a:p>
            <a:pPr indent="0" marL="0">
              <a:buNone/>
            </a:pPr>
            <a:r>
              <a:rPr lang="en-US" sz="1300" b="1" dirty="0">
                <a:solidFill>
                  <a:srgbClr val="0F172A"/>
                </a:solidFill>
              </a:rPr>
              <a:t>Cycle terrain</a:t>
            </a:r>
            <a:endParaRPr lang="en-US" sz="1300" dirty="0"/>
          </a:p>
        </p:txBody>
      </p:sp>
      <p:sp>
        <p:nvSpPr>
          <p:cNvPr id="17" name="Text 14"/>
          <p:cNvSpPr/>
          <p:nvPr/>
        </p:nvSpPr>
        <p:spPr>
          <a:xfrm>
            <a:off x="8732520" y="3538728"/>
            <a:ext cx="2560320" cy="795528"/>
          </a:xfrm>
          <a:prstGeom prst="rect">
            <a:avLst/>
          </a:prstGeom>
          <a:noFill/>
          <a:ln/>
        </p:spPr>
        <p:txBody>
          <a:bodyPr wrap="square" lIns="0" tIns="0" rIns="0" bIns="0" rtlCol="0" anchor="t"/>
          <a:lstStyle/>
          <a:p>
            <a:pPr indent="0" marL="0">
              <a:buNone/>
            </a:pPr>
            <a:r>
              <a:rPr lang="en-US" sz="1050" dirty="0">
                <a:solidFill>
                  <a:srgbClr val="64748B"/>
                </a:solidFill>
              </a:rPr>
              <a:t>• pannes -&gt; reparations -&gt; interventions -&gt; releves.</a:t>
            </a:r>
            <a:endParaRPr lang="en-US" sz="1050" dirty="0"/>
          </a:p>
        </p:txBody>
      </p:sp>
      <p:sp>
        <p:nvSpPr>
          <p:cNvPr id="18" name="Shape 15"/>
          <p:cNvSpPr/>
          <p:nvPr/>
        </p:nvSpPr>
        <p:spPr>
          <a:xfrm>
            <a:off x="8412480" y="4709160"/>
            <a:ext cx="2971800" cy="1143000"/>
          </a:xfrm>
          <a:prstGeom prst="roundRect">
            <a:avLst>
              <a:gd name="adj" fmla="val 8000"/>
            </a:avLst>
          </a:prstGeom>
          <a:solidFill>
            <a:srgbClr val="FFFFFF"/>
          </a:solidFill>
          <a:ln w="12700">
            <a:solidFill>
              <a:srgbClr val="CBD5E1"/>
            </a:solidFill>
            <a:prstDash val="solid"/>
          </a:ln>
        </p:spPr>
      </p:sp>
      <p:sp>
        <p:nvSpPr>
          <p:cNvPr id="19" name="Shape 16"/>
          <p:cNvSpPr/>
          <p:nvPr/>
        </p:nvSpPr>
        <p:spPr>
          <a:xfrm>
            <a:off x="8577072" y="4873752"/>
            <a:ext cx="73152" cy="813816"/>
          </a:xfrm>
          <a:prstGeom prst="rect">
            <a:avLst/>
          </a:prstGeom>
          <a:solidFill>
            <a:srgbClr val="059669"/>
          </a:solidFill>
          <a:ln w="12700">
            <a:solidFill>
              <a:srgbClr val="059669">
                <a:alpha val="0"/>
              </a:srgbClr>
            </a:solidFill>
            <a:prstDash val="solid"/>
          </a:ln>
        </p:spPr>
      </p:sp>
      <p:sp>
        <p:nvSpPr>
          <p:cNvPr id="20" name="Text 17"/>
          <p:cNvSpPr/>
          <p:nvPr/>
        </p:nvSpPr>
        <p:spPr>
          <a:xfrm>
            <a:off x="8732520" y="4873752"/>
            <a:ext cx="2514600" cy="219456"/>
          </a:xfrm>
          <a:prstGeom prst="rect">
            <a:avLst/>
          </a:prstGeom>
          <a:noFill/>
          <a:ln/>
        </p:spPr>
        <p:txBody>
          <a:bodyPr wrap="square" lIns="0" tIns="0" rIns="0" bIns="0" rtlCol="0" anchor="ctr"/>
          <a:lstStyle/>
          <a:p>
            <a:pPr indent="0" marL="0">
              <a:buNone/>
            </a:pPr>
            <a:r>
              <a:rPr lang="en-US" sz="1300" b="1" dirty="0">
                <a:solidFill>
                  <a:srgbClr val="0F172A"/>
                </a:solidFill>
              </a:rPr>
              <a:t>Support systeme</a:t>
            </a:r>
            <a:endParaRPr lang="en-US" sz="1300" dirty="0"/>
          </a:p>
        </p:txBody>
      </p:sp>
      <p:sp>
        <p:nvSpPr>
          <p:cNvPr id="21" name="Text 18"/>
          <p:cNvSpPr/>
          <p:nvPr/>
        </p:nvSpPr>
        <p:spPr>
          <a:xfrm>
            <a:off x="8732520" y="5184648"/>
            <a:ext cx="2560320" cy="521208"/>
          </a:xfrm>
          <a:prstGeom prst="rect">
            <a:avLst/>
          </a:prstGeom>
          <a:noFill/>
          <a:ln/>
        </p:spPr>
        <p:txBody>
          <a:bodyPr wrap="square" lIns="0" tIns="0" rIns="0" bIns="0" rtlCol="0" anchor="t"/>
          <a:lstStyle/>
          <a:p>
            <a:pPr indent="0" marL="0">
              <a:buNone/>
            </a:pPr>
            <a:r>
              <a:rPr lang="en-US" sz="1050" dirty="0">
                <a:solidFill>
                  <a:srgbClr val="64748B"/>
                </a:solidFill>
              </a:rPr>
              <a:t>• settings, activity_logs, notifications et tokens API.</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563EB"/>
          </a:solidFill>
          <a:ln w="12700">
            <a:solidFill>
              <a:srgbClr val="2563EB">
                <a:alpha val="0"/>
              </a:srgbClr>
            </a:solidFill>
            <a:prstDash val="solid"/>
          </a:ln>
        </p:spPr>
      </p:sp>
      <p:sp>
        <p:nvSpPr>
          <p:cNvPr id="3" name="Shape 1"/>
          <p:cNvSpPr/>
          <p:nvPr/>
        </p:nvSpPr>
        <p:spPr>
          <a:xfrm>
            <a:off x="9738360" y="310896"/>
            <a:ext cx="1874520" cy="310896"/>
          </a:xfrm>
          <a:prstGeom prst="roundRect">
            <a:avLst>
              <a:gd name="adj" fmla="val 23529"/>
            </a:avLst>
          </a:prstGeom>
          <a:solidFill>
            <a:srgbClr val="DBEAFE"/>
          </a:solidFill>
          <a:ln w="12700">
            <a:solidFill>
              <a:srgbClr val="DBEAFE">
                <a:alpha val="0"/>
              </a:srgbClr>
            </a:solidFill>
            <a:prstDash val="solid"/>
          </a:ln>
        </p:spPr>
      </p:sp>
      <p:sp>
        <p:nvSpPr>
          <p:cNvPr id="4" name="Text 2"/>
          <p:cNvSpPr/>
          <p:nvPr/>
        </p:nvSpPr>
        <p:spPr>
          <a:xfrm>
            <a:off x="9893808" y="374904"/>
            <a:ext cx="1554480" cy="164592"/>
          </a:xfrm>
          <a:prstGeom prst="rect">
            <a:avLst/>
          </a:prstGeom>
          <a:noFill/>
          <a:ln/>
        </p:spPr>
        <p:txBody>
          <a:bodyPr wrap="square" lIns="0" tIns="0" rIns="0" bIns="0" rtlCol="0" anchor="ctr"/>
          <a:lstStyle/>
          <a:p>
            <a:pPr algn="ctr" indent="0" marL="0">
              <a:buNone/>
            </a:pPr>
            <a:r>
              <a:rPr lang="en-US" sz="850" b="1" dirty="0">
                <a:solidFill>
                  <a:srgbClr val="2563EB"/>
                </a:solidFill>
              </a:rPr>
              <a:t>DONNEES</a:t>
            </a:r>
            <a:endParaRPr lang="en-US" sz="850" dirty="0"/>
          </a:p>
        </p:txBody>
      </p:sp>
      <p:sp>
        <p:nvSpPr>
          <p:cNvPr id="5" name="Text 3"/>
          <p:cNvSpPr/>
          <p:nvPr/>
        </p:nvSpPr>
        <p:spPr>
          <a:xfrm>
            <a:off x="548640" y="329184"/>
            <a:ext cx="7498080" cy="411480"/>
          </a:xfrm>
          <a:prstGeom prst="rect">
            <a:avLst/>
          </a:prstGeom>
          <a:noFill/>
          <a:ln/>
        </p:spPr>
        <p:txBody>
          <a:bodyPr wrap="square" lIns="0" tIns="0" rIns="0" bIns="0" rtlCol="0" anchor="ctr"/>
          <a:lstStyle/>
          <a:p>
            <a:pPr indent="0" marL="0">
              <a:buNone/>
            </a:pPr>
            <a:r>
              <a:rPr lang="en-US" sz="2400" b="1" dirty="0">
                <a:solidFill>
                  <a:srgbClr val="0F172A"/>
                </a:solidFill>
              </a:rPr>
              <a:t>Description des principales tables</a:t>
            </a:r>
            <a:endParaRPr lang="en-US" sz="2400" dirty="0"/>
          </a:p>
        </p:txBody>
      </p:sp>
      <p:sp>
        <p:nvSpPr>
          <p:cNvPr id="6" name="Text 4"/>
          <p:cNvSpPr/>
          <p:nvPr/>
        </p:nvSpPr>
        <p:spPr>
          <a:xfrm>
            <a:off x="566928" y="768096"/>
            <a:ext cx="7863840" cy="329184"/>
          </a:xfrm>
          <a:prstGeom prst="rect">
            <a:avLst/>
          </a:prstGeom>
          <a:noFill/>
          <a:ln/>
        </p:spPr>
        <p:txBody>
          <a:bodyPr wrap="square" lIns="0" tIns="0" rIns="0" bIns="0" rtlCol="0" anchor="ctr"/>
          <a:lstStyle/>
          <a:p>
            <a:pPr indent="0" marL="0">
              <a:buNone/>
            </a:pPr>
            <a:r>
              <a:rPr lang="en-US" sz="1150" dirty="0">
                <a:solidFill>
                  <a:srgbClr val="64748B"/>
                </a:solidFill>
              </a:rPr>
              <a:t>Les relations suivantes sont directement visibles dans les modeles Laravel et les migrations.</a:t>
            </a:r>
            <a:endParaRPr lang="en-US" sz="1150" dirty="0"/>
          </a:p>
        </p:txBody>
      </p:sp>
      <p:sp>
        <p:nvSpPr>
          <p:cNvPr id="7" name="Text 5"/>
          <p:cNvSpPr/>
          <p:nvPr/>
        </p:nvSpPr>
        <p:spPr>
          <a:xfrm>
            <a:off x="548640" y="6446520"/>
            <a:ext cx="4389120" cy="182880"/>
          </a:xfrm>
          <a:prstGeom prst="rect">
            <a:avLst/>
          </a:prstGeom>
          <a:noFill/>
          <a:ln/>
        </p:spPr>
        <p:txBody>
          <a:bodyPr wrap="square" lIns="0" tIns="0" rIns="0" bIns="0" rtlCol="0" anchor="ctr"/>
          <a:lstStyle/>
          <a:p>
            <a:pPr indent="0" marL="0">
              <a:buNone/>
            </a:pPr>
            <a:r>
              <a:rPr lang="en-US" sz="850" dirty="0">
                <a:solidFill>
                  <a:srgbClr val="64748B"/>
                </a:solidFill>
              </a:rPr>
              <a:t>Analyse du code source - 10 mai 2026</a:t>
            </a:r>
            <a:endParaRPr lang="en-US" sz="850" dirty="0"/>
          </a:p>
        </p:txBody>
      </p:sp>
      <p:sp>
        <p:nvSpPr>
          <p:cNvPr id="8" name="Text 6"/>
          <p:cNvSpPr/>
          <p:nvPr/>
        </p:nvSpPr>
        <p:spPr>
          <a:xfrm>
            <a:off x="11064240" y="6419088"/>
            <a:ext cx="548640" cy="182880"/>
          </a:xfrm>
          <a:prstGeom prst="rect">
            <a:avLst/>
          </a:prstGeom>
          <a:noFill/>
          <a:ln/>
        </p:spPr>
        <p:txBody>
          <a:bodyPr wrap="square" lIns="0" tIns="0" rIns="0" bIns="0" rtlCol="0" anchor="ctr"/>
          <a:lstStyle/>
          <a:p>
            <a:pPr algn="r" indent="0" marL="0">
              <a:buNone/>
            </a:pPr>
            <a:r>
              <a:rPr lang="en-US" sz="900" b="1" dirty="0">
                <a:solidFill>
                  <a:srgbClr val="64748B"/>
                </a:solidFill>
              </a:rPr>
              <a:t>9/17</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1417320"/>
          <a:ext cx="10881360" cy="914400"/>
        </p:xfrm>
        <a:graphic>
          <a:graphicData uri="http://schemas.openxmlformats.org/drawingml/2006/table">
            <a:tbl>
              <a:tblPr/>
              <a:tblGrid>
                <a:gridCol w="1554480"/>
                <a:gridCol w="3840480"/>
                <a:gridCol w="5486400"/>
              </a:tblGrid>
              <a:tr h="384048">
                <a:tc>
                  <a:txBody>
                    <a:bodyPr/>
                    <a:lstStyle/>
                    <a:p>
                      <a:pPr algn="ctr" indent="0" marL="0">
                        <a:buNone/>
                      </a:pPr>
                      <a:r>
                        <a:rPr lang="en-US" sz="960" b="1" dirty="0">
                          <a:solidFill>
                            <a:srgbClr val="FFFFFF"/>
                          </a:solidFill>
                          <a:latin typeface="Aptos" pitchFamily="34" charset="0"/>
                          <a:ea typeface="Aptos" pitchFamily="34" charset="-122"/>
                          <a:cs typeface="Aptos" pitchFamily="34" charset="-120"/>
                        </a:rPr>
                        <a:t>Table</a:t>
                      </a:r>
                      <a:endParaRPr lang="en-US" sz="96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algn="ctr" indent="0" marL="0">
                        <a:buNone/>
                      </a:pPr>
                      <a:r>
                        <a:rPr lang="en-US" sz="960" b="1" dirty="0">
                          <a:solidFill>
                            <a:srgbClr val="FFFFFF"/>
                          </a:solidFill>
                          <a:latin typeface="Aptos" pitchFamily="34" charset="0"/>
                          <a:ea typeface="Aptos" pitchFamily="34" charset="-122"/>
                          <a:cs typeface="Aptos" pitchFamily="34" charset="-120"/>
                        </a:rPr>
                        <a:t>Role dans le systeme</a:t>
                      </a:r>
                      <a:endParaRPr lang="en-US" sz="96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algn="ctr" indent="0" marL="0">
                        <a:buNone/>
                      </a:pPr>
                      <a:r>
                        <a:rPr lang="en-US" sz="960" b="1" dirty="0">
                          <a:solidFill>
                            <a:srgbClr val="FFFFFF"/>
                          </a:solidFill>
                          <a:latin typeface="Aptos" pitchFamily="34" charset="0"/>
                          <a:ea typeface="Aptos" pitchFamily="34" charset="-122"/>
                          <a:cs typeface="Aptos" pitchFamily="34" charset="-120"/>
                        </a:rPr>
                        <a:t>Relations essentielles</a:t>
                      </a:r>
                      <a:endParaRPr lang="en-US" sz="96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r>
              <a:tr h="384048">
                <a:tc>
                  <a:txBody>
                    <a:bodyPr/>
                    <a:lstStyle/>
                    <a:p>
                      <a:pPr indent="0" marL="0">
                        <a:buNone/>
                      </a:pPr>
                      <a:r>
                        <a:rPr lang="en-US" sz="960" b="1" dirty="0">
                          <a:solidFill>
                            <a:srgbClr val="0F172A"/>
                          </a:solidFill>
                          <a:latin typeface="Aptos" pitchFamily="34" charset="0"/>
                          <a:ea typeface="Aptos" pitchFamily="34" charset="-122"/>
                          <a:cs typeface="Aptos" pitchFamily="34" charset="-120"/>
                        </a:rPr>
                        <a:t>users</a:t>
                      </a:r>
                      <a:endParaRPr lang="en-US" sz="96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960" dirty="0">
                          <a:solidFill>
                            <a:srgbClr val="0F172A"/>
                          </a:solidFill>
                          <a:latin typeface="Aptos" pitchFamily="34" charset="0"/>
                          <a:ea typeface="Aptos" pitchFamily="34" charset="-122"/>
                          <a:cs typeface="Aptos" pitchFamily="34" charset="-120"/>
                        </a:rPr>
                        <a:t>Comptes applicatifs et roles</a:t>
                      </a:r>
                      <a:endParaRPr lang="en-US" sz="96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960" dirty="0">
                          <a:solidFill>
                            <a:srgbClr val="0F172A"/>
                          </a:solidFill>
                          <a:latin typeface="Aptos" pitchFamily="34" charset="0"/>
                          <a:ea typeface="Aptos" pitchFamily="34" charset="-122"/>
                          <a:cs typeface="Aptos" pitchFamily="34" charset="-120"/>
                        </a:rPr>
                        <a:t>1 technicien peut etre lie a des pannes, reparations et interventions</a:t>
                      </a:r>
                      <a:endParaRPr lang="en-US" sz="96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r>
              <a:tr h="384048">
                <a:tc>
                  <a:txBody>
                    <a:bodyPr/>
                    <a:lstStyle/>
                    <a:p>
                      <a:pPr indent="0" marL="0">
                        <a:buNone/>
                      </a:pPr>
                      <a:r>
                        <a:rPr lang="en-US" sz="960" b="1" dirty="0">
                          <a:solidFill>
                            <a:srgbClr val="0F172A"/>
                          </a:solidFill>
                          <a:latin typeface="Aptos" pitchFamily="34" charset="0"/>
                          <a:ea typeface="Aptos" pitchFamily="34" charset="-122"/>
                          <a:cs typeface="Aptos" pitchFamily="34" charset="-120"/>
                        </a:rPr>
                        <a:t>secteurs</a:t>
                      </a:r>
                      <a:endParaRPr lang="en-US" sz="96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60" dirty="0">
                          <a:solidFill>
                            <a:srgbClr val="0F172A"/>
                          </a:solidFill>
                          <a:latin typeface="Aptos" pitchFamily="34" charset="0"/>
                          <a:ea typeface="Aptos" pitchFamily="34" charset="-122"/>
                          <a:cs typeface="Aptos" pitchFamily="34" charset="-120"/>
                        </a:rPr>
                        <a:t>Zones, agence, tournee, coordonnees</a:t>
                      </a:r>
                      <a:endParaRPr lang="en-US" sz="96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60" dirty="0">
                          <a:solidFill>
                            <a:srgbClr val="0F172A"/>
                          </a:solidFill>
                          <a:latin typeface="Aptos" pitchFamily="34" charset="0"/>
                          <a:ea typeface="Aptos" pitchFamily="34" charset="-122"/>
                          <a:cs typeface="Aptos" pitchFamily="34" charset="-120"/>
                        </a:rPr>
                        <a:t>1 secteur contient plusieurs compteurs et pannes via les compteurs</a:t>
                      </a:r>
                      <a:endParaRPr lang="en-US" sz="96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960" b="1" dirty="0">
                          <a:solidFill>
                            <a:srgbClr val="0F172A"/>
                          </a:solidFill>
                          <a:latin typeface="Aptos" pitchFamily="34" charset="0"/>
                          <a:ea typeface="Aptos" pitchFamily="34" charset="-122"/>
                          <a:cs typeface="Aptos" pitchFamily="34" charset="-120"/>
                        </a:rPr>
                        <a:t>clients</a:t>
                      </a:r>
                      <a:endParaRPr lang="en-US" sz="96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960" dirty="0">
                          <a:solidFill>
                            <a:srgbClr val="0F172A"/>
                          </a:solidFill>
                          <a:latin typeface="Aptos" pitchFamily="34" charset="0"/>
                          <a:ea typeface="Aptos" pitchFamily="34" charset="-122"/>
                          <a:cs typeface="Aptos" pitchFamily="34" charset="-120"/>
                        </a:rPr>
                        <a:t>Abonnes et informations administratives</a:t>
                      </a:r>
                      <a:endParaRPr lang="en-US" sz="96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960" dirty="0">
                          <a:solidFill>
                            <a:srgbClr val="0F172A"/>
                          </a:solidFill>
                          <a:latin typeface="Aptos" pitchFamily="34" charset="0"/>
                          <a:ea typeface="Aptos" pitchFamily="34" charset="-122"/>
                          <a:cs typeface="Aptos" pitchFamily="34" charset="-120"/>
                        </a:rPr>
                        <a:t>1 client possede plusieurs compteurs</a:t>
                      </a:r>
                      <a:endParaRPr lang="en-US" sz="96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r>
              <a:tr h="384048">
                <a:tc>
                  <a:txBody>
                    <a:bodyPr/>
                    <a:lstStyle/>
                    <a:p>
                      <a:pPr indent="0" marL="0">
                        <a:buNone/>
                      </a:pPr>
                      <a:r>
                        <a:rPr lang="en-US" sz="960" b="1" dirty="0">
                          <a:solidFill>
                            <a:srgbClr val="0F172A"/>
                          </a:solidFill>
                          <a:latin typeface="Aptos" pitchFamily="34" charset="0"/>
                          <a:ea typeface="Aptos" pitchFamily="34" charset="-122"/>
                          <a:cs typeface="Aptos" pitchFamily="34" charset="-120"/>
                        </a:rPr>
                        <a:t>compteurs</a:t>
                      </a:r>
                      <a:endParaRPr lang="en-US" sz="96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60" dirty="0">
                          <a:solidFill>
                            <a:srgbClr val="0F172A"/>
                          </a:solidFill>
                          <a:latin typeface="Aptos" pitchFamily="34" charset="0"/>
                          <a:ea typeface="Aptos" pitchFamily="34" charset="-122"/>
                          <a:cs typeface="Aptos" pitchFamily="34" charset="-120"/>
                        </a:rPr>
                        <a:t>Compteurs physiques eau / electricite</a:t>
                      </a:r>
                      <a:endParaRPr lang="en-US" sz="96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60" dirty="0">
                          <a:solidFill>
                            <a:srgbClr val="0F172A"/>
                          </a:solidFill>
                          <a:latin typeface="Aptos" pitchFamily="34" charset="0"/>
                          <a:ea typeface="Aptos" pitchFamily="34" charset="-122"/>
                          <a:cs typeface="Aptos" pitchFamily="34" charset="-120"/>
                        </a:rPr>
                        <a:t>Lie a 1 client, 1 secteur, plusieurs pannes et releves</a:t>
                      </a:r>
                      <a:endParaRPr lang="en-US" sz="96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960" b="1" dirty="0">
                          <a:solidFill>
                            <a:srgbClr val="0F172A"/>
                          </a:solidFill>
                          <a:latin typeface="Aptos" pitchFamily="34" charset="0"/>
                          <a:ea typeface="Aptos" pitchFamily="34" charset="-122"/>
                          <a:cs typeface="Aptos" pitchFamily="34" charset="-120"/>
                        </a:rPr>
                        <a:t>pannes</a:t>
                      </a:r>
                      <a:endParaRPr lang="en-US" sz="96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960" dirty="0">
                          <a:solidFill>
                            <a:srgbClr val="0F172A"/>
                          </a:solidFill>
                          <a:latin typeface="Aptos" pitchFamily="34" charset="0"/>
                          <a:ea typeface="Aptos" pitchFamily="34" charset="-122"/>
                          <a:cs typeface="Aptos" pitchFamily="34" charset="-120"/>
                        </a:rPr>
                        <a:t>Anomalies declarees sur le terrain</a:t>
                      </a:r>
                      <a:endParaRPr lang="en-US" sz="96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960" dirty="0">
                          <a:solidFill>
                            <a:srgbClr val="0F172A"/>
                          </a:solidFill>
                          <a:latin typeface="Aptos" pitchFamily="34" charset="0"/>
                          <a:ea typeface="Aptos" pitchFamily="34" charset="-122"/>
                          <a:cs typeface="Aptos" pitchFamily="34" charset="-120"/>
                        </a:rPr>
                        <a:t>Liees a 1 compteur et eventuellement 1 technicien</a:t>
                      </a:r>
                      <a:endParaRPr lang="en-US" sz="96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r>
              <a:tr h="384048">
                <a:tc>
                  <a:txBody>
                    <a:bodyPr/>
                    <a:lstStyle/>
                    <a:p>
                      <a:pPr indent="0" marL="0">
                        <a:buNone/>
                      </a:pPr>
                      <a:r>
                        <a:rPr lang="en-US" sz="960" b="1" dirty="0">
                          <a:solidFill>
                            <a:srgbClr val="0F172A"/>
                          </a:solidFill>
                          <a:latin typeface="Aptos" pitchFamily="34" charset="0"/>
                          <a:ea typeface="Aptos" pitchFamily="34" charset="-122"/>
                          <a:cs typeface="Aptos" pitchFamily="34" charset="-120"/>
                        </a:rPr>
                        <a:t>reparations</a:t>
                      </a:r>
                      <a:endParaRPr lang="en-US" sz="96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60" dirty="0">
                          <a:solidFill>
                            <a:srgbClr val="0F172A"/>
                          </a:solidFill>
                          <a:latin typeface="Aptos" pitchFamily="34" charset="0"/>
                          <a:ea typeface="Aptos" pitchFamily="34" charset="-122"/>
                          <a:cs typeface="Aptos" pitchFamily="34" charset="-120"/>
                        </a:rPr>
                        <a:t>Actions de reparation</a:t>
                      </a:r>
                      <a:endParaRPr lang="en-US" sz="96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60" dirty="0">
                          <a:solidFill>
                            <a:srgbClr val="0F172A"/>
                          </a:solidFill>
                          <a:latin typeface="Aptos" pitchFamily="34" charset="0"/>
                          <a:ea typeface="Aptos" pitchFamily="34" charset="-122"/>
                          <a:cs typeface="Aptos" pitchFamily="34" charset="-120"/>
                        </a:rPr>
                        <a:t>Liees a 1 panne et 1 plombier / technicien</a:t>
                      </a:r>
                      <a:endParaRPr lang="en-US" sz="96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960" b="1" dirty="0">
                          <a:solidFill>
                            <a:srgbClr val="0F172A"/>
                          </a:solidFill>
                          <a:latin typeface="Aptos" pitchFamily="34" charset="0"/>
                          <a:ea typeface="Aptos" pitchFamily="34" charset="-122"/>
                          <a:cs typeface="Aptos" pitchFamily="34" charset="-120"/>
                        </a:rPr>
                        <a:t>interventions</a:t>
                      </a:r>
                      <a:endParaRPr lang="en-US" sz="96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960" dirty="0">
                          <a:solidFill>
                            <a:srgbClr val="0F172A"/>
                          </a:solidFill>
                          <a:latin typeface="Aptos" pitchFamily="34" charset="0"/>
                          <a:ea typeface="Aptos" pitchFamily="34" charset="-122"/>
                          <a:cs typeface="Aptos" pitchFamily="34" charset="-120"/>
                        </a:rPr>
                        <a:t>Rapports techniques structures</a:t>
                      </a:r>
                      <a:endParaRPr lang="en-US" sz="96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960" dirty="0">
                          <a:solidFill>
                            <a:srgbClr val="0F172A"/>
                          </a:solidFill>
                          <a:latin typeface="Aptos" pitchFamily="34" charset="0"/>
                          <a:ea typeface="Aptos" pitchFamily="34" charset="-122"/>
                          <a:cs typeface="Aptos" pitchFamily="34" charset="-120"/>
                        </a:rPr>
                        <a:t>Lies a panne, client, compteur et technicien</a:t>
                      </a:r>
                      <a:endParaRPr lang="en-US" sz="96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r>
              <a:tr h="384048">
                <a:tc>
                  <a:txBody>
                    <a:bodyPr/>
                    <a:lstStyle/>
                    <a:p>
                      <a:pPr indent="0" marL="0">
                        <a:buNone/>
                      </a:pPr>
                      <a:r>
                        <a:rPr lang="en-US" sz="960" b="1" dirty="0">
                          <a:solidFill>
                            <a:srgbClr val="0F172A"/>
                          </a:solidFill>
                          <a:latin typeface="Aptos" pitchFamily="34" charset="0"/>
                          <a:ea typeface="Aptos" pitchFamily="34" charset="-122"/>
                          <a:cs typeface="Aptos" pitchFamily="34" charset="-120"/>
                        </a:rPr>
                        <a:t>releves</a:t>
                      </a:r>
                      <a:endParaRPr lang="en-US" sz="96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60" dirty="0">
                          <a:solidFill>
                            <a:srgbClr val="0F172A"/>
                          </a:solidFill>
                          <a:latin typeface="Aptos" pitchFamily="34" charset="0"/>
                          <a:ea typeface="Aptos" pitchFamily="34" charset="-122"/>
                          <a:cs typeface="Aptos" pitchFamily="34" charset="-120"/>
                        </a:rPr>
                        <a:t>Lectures de compteur et consommation</a:t>
                      </a:r>
                      <a:endParaRPr lang="en-US" sz="96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60" dirty="0">
                          <a:solidFill>
                            <a:srgbClr val="0F172A"/>
                          </a:solidFill>
                          <a:latin typeface="Aptos" pitchFamily="34" charset="0"/>
                          <a:ea typeface="Aptos" pitchFamily="34" charset="-122"/>
                          <a:cs typeface="Aptos" pitchFamily="34" charset="-120"/>
                        </a:rPr>
                        <a:t>Lies a 1 compteur et 1 createur</a:t>
                      </a:r>
                      <a:endParaRPr lang="en-US" sz="96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bl>
          </a:graphicData>
        </a:graphic>
      </p:graphicFrame>
      <p:sp>
        <p:nvSpPr>
          <p:cNvPr id="10" name="Shape 7"/>
          <p:cNvSpPr/>
          <p:nvPr/>
        </p:nvSpPr>
        <p:spPr>
          <a:xfrm>
            <a:off x="658368" y="5193792"/>
            <a:ext cx="5440680" cy="914400"/>
          </a:xfrm>
          <a:prstGeom prst="roundRect">
            <a:avLst>
              <a:gd name="adj" fmla="val 10000"/>
            </a:avLst>
          </a:prstGeom>
          <a:solidFill>
            <a:srgbClr val="FFFFFF"/>
          </a:solidFill>
          <a:ln w="12700">
            <a:solidFill>
              <a:srgbClr val="CBD5E1"/>
            </a:solidFill>
            <a:prstDash val="solid"/>
          </a:ln>
        </p:spPr>
      </p:sp>
      <p:sp>
        <p:nvSpPr>
          <p:cNvPr id="11" name="Shape 8"/>
          <p:cNvSpPr/>
          <p:nvPr/>
        </p:nvSpPr>
        <p:spPr>
          <a:xfrm>
            <a:off x="822960" y="5358384"/>
            <a:ext cx="73152" cy="585216"/>
          </a:xfrm>
          <a:prstGeom prst="rect">
            <a:avLst/>
          </a:prstGeom>
          <a:solidFill>
            <a:srgbClr val="2563EB"/>
          </a:solidFill>
          <a:ln w="12700">
            <a:solidFill>
              <a:srgbClr val="2563EB">
                <a:alpha val="0"/>
              </a:srgbClr>
            </a:solidFill>
            <a:prstDash val="solid"/>
          </a:ln>
        </p:spPr>
      </p:sp>
      <p:sp>
        <p:nvSpPr>
          <p:cNvPr id="12" name="Text 9"/>
          <p:cNvSpPr/>
          <p:nvPr/>
        </p:nvSpPr>
        <p:spPr>
          <a:xfrm>
            <a:off x="978408" y="5358384"/>
            <a:ext cx="4983480" cy="219456"/>
          </a:xfrm>
          <a:prstGeom prst="rect">
            <a:avLst/>
          </a:prstGeom>
          <a:noFill/>
          <a:ln/>
        </p:spPr>
        <p:txBody>
          <a:bodyPr wrap="square" lIns="0" tIns="0" rIns="0" bIns="0" rtlCol="0" anchor="ctr"/>
          <a:lstStyle/>
          <a:p>
            <a:pPr indent="0" marL="0">
              <a:buNone/>
            </a:pPr>
            <a:r>
              <a:rPr lang="en-US" sz="1300" b="1" dirty="0">
                <a:solidFill>
                  <a:srgbClr val="0F172A"/>
                </a:solidFill>
              </a:rPr>
              <a:t>Contraintes utiles</a:t>
            </a:r>
            <a:endParaRPr lang="en-US" sz="1300" dirty="0"/>
          </a:p>
        </p:txBody>
      </p:sp>
      <p:sp>
        <p:nvSpPr>
          <p:cNvPr id="13" name="Text 10"/>
          <p:cNvSpPr/>
          <p:nvPr/>
        </p:nvSpPr>
        <p:spPr>
          <a:xfrm>
            <a:off x="978408" y="5669280"/>
            <a:ext cx="5029200" cy="292608"/>
          </a:xfrm>
          <a:prstGeom prst="rect">
            <a:avLst/>
          </a:prstGeom>
          <a:noFill/>
          <a:ln/>
        </p:spPr>
        <p:txBody>
          <a:bodyPr wrap="square" lIns="0" tIns="0" rIns="0" bIns="0" rtlCol="0" anchor="t"/>
          <a:lstStyle/>
          <a:p>
            <a:pPr indent="0" marL="0">
              <a:buNone/>
            </a:pPr>
            <a:r>
              <a:rPr lang="en-US" sz="1050" dirty="0">
                <a:solidFill>
                  <a:srgbClr val="64748B"/>
                </a:solidFill>
              </a:rPr>
              <a:t>• Soft deletes sur plusieurs ressources, index de performance et contraintes d unicite.</a:t>
            </a:r>
            <a:endParaRPr lang="en-US" sz="1050" dirty="0"/>
          </a:p>
        </p:txBody>
      </p:sp>
      <p:sp>
        <p:nvSpPr>
          <p:cNvPr id="14" name="Shape 11"/>
          <p:cNvSpPr/>
          <p:nvPr/>
        </p:nvSpPr>
        <p:spPr>
          <a:xfrm>
            <a:off x="6144768" y="5193792"/>
            <a:ext cx="5376672" cy="914400"/>
          </a:xfrm>
          <a:prstGeom prst="roundRect">
            <a:avLst>
              <a:gd name="adj" fmla="val 10000"/>
            </a:avLst>
          </a:prstGeom>
          <a:solidFill>
            <a:srgbClr val="FFFFFF"/>
          </a:solidFill>
          <a:ln w="12700">
            <a:solidFill>
              <a:srgbClr val="CBD5E1"/>
            </a:solidFill>
            <a:prstDash val="solid"/>
          </a:ln>
        </p:spPr>
      </p:sp>
      <p:sp>
        <p:nvSpPr>
          <p:cNvPr id="15" name="Shape 12"/>
          <p:cNvSpPr/>
          <p:nvPr/>
        </p:nvSpPr>
        <p:spPr>
          <a:xfrm>
            <a:off x="6309360" y="5358384"/>
            <a:ext cx="73152" cy="585216"/>
          </a:xfrm>
          <a:prstGeom prst="rect">
            <a:avLst/>
          </a:prstGeom>
          <a:solidFill>
            <a:srgbClr val="D97706"/>
          </a:solidFill>
          <a:ln w="12700">
            <a:solidFill>
              <a:srgbClr val="D97706">
                <a:alpha val="0"/>
              </a:srgbClr>
            </a:solidFill>
            <a:prstDash val="solid"/>
          </a:ln>
        </p:spPr>
      </p:sp>
      <p:sp>
        <p:nvSpPr>
          <p:cNvPr id="16" name="Text 13"/>
          <p:cNvSpPr/>
          <p:nvPr/>
        </p:nvSpPr>
        <p:spPr>
          <a:xfrm>
            <a:off x="6464808" y="5358384"/>
            <a:ext cx="4919472" cy="219456"/>
          </a:xfrm>
          <a:prstGeom prst="rect">
            <a:avLst/>
          </a:prstGeom>
          <a:noFill/>
          <a:ln/>
        </p:spPr>
        <p:txBody>
          <a:bodyPr wrap="square" lIns="0" tIns="0" rIns="0" bIns="0" rtlCol="0" anchor="ctr"/>
          <a:lstStyle/>
          <a:p>
            <a:pPr indent="0" marL="0">
              <a:buNone/>
            </a:pPr>
            <a:r>
              <a:rPr lang="en-US" sz="1300" b="1" dirty="0">
                <a:solidFill>
                  <a:srgbClr val="0F172A"/>
                </a:solidFill>
              </a:rPr>
              <a:t>Regles metier visibles</a:t>
            </a:r>
            <a:endParaRPr lang="en-US" sz="1300" dirty="0"/>
          </a:p>
        </p:txBody>
      </p:sp>
      <p:sp>
        <p:nvSpPr>
          <p:cNvPr id="17" name="Text 14"/>
          <p:cNvSpPr/>
          <p:nvPr/>
        </p:nvSpPr>
        <p:spPr>
          <a:xfrm>
            <a:off x="6464808" y="5669280"/>
            <a:ext cx="4965192" cy="292608"/>
          </a:xfrm>
          <a:prstGeom prst="rect">
            <a:avLst/>
          </a:prstGeom>
          <a:noFill/>
          <a:ln/>
        </p:spPr>
        <p:txBody>
          <a:bodyPr wrap="square" lIns="0" tIns="0" rIns="0" bIns="0" rtlCol="0" anchor="t"/>
          <a:lstStyle/>
          <a:p>
            <a:pPr indent="0" marL="0">
              <a:buNone/>
            </a:pPr>
            <a:r>
              <a:rPr lang="en-US" sz="1050" dirty="0">
                <a:solidFill>
                  <a:srgbClr val="64748B"/>
                </a:solidFill>
              </a:rPr>
              <a:t>• Consommation calculee automatiquement, reparation unique active par panne, numerotation auto des interventions.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563EB"/>
          </a:solidFill>
          <a:ln w="12700">
            <a:solidFill>
              <a:srgbClr val="2563EB">
                <a:alpha val="0"/>
              </a:srgbClr>
            </a:solidFill>
            <a:prstDash val="solid"/>
          </a:ln>
        </p:spPr>
      </p:sp>
      <p:sp>
        <p:nvSpPr>
          <p:cNvPr id="3" name="Shape 1"/>
          <p:cNvSpPr/>
          <p:nvPr/>
        </p:nvSpPr>
        <p:spPr>
          <a:xfrm>
            <a:off x="9738360" y="310896"/>
            <a:ext cx="1874520" cy="310896"/>
          </a:xfrm>
          <a:prstGeom prst="roundRect">
            <a:avLst>
              <a:gd name="adj" fmla="val 23529"/>
            </a:avLst>
          </a:prstGeom>
          <a:solidFill>
            <a:srgbClr val="DBEAFE"/>
          </a:solidFill>
          <a:ln w="12700">
            <a:solidFill>
              <a:srgbClr val="DBEAFE">
                <a:alpha val="0"/>
              </a:srgbClr>
            </a:solidFill>
            <a:prstDash val="solid"/>
          </a:ln>
        </p:spPr>
      </p:sp>
      <p:sp>
        <p:nvSpPr>
          <p:cNvPr id="4" name="Text 2"/>
          <p:cNvSpPr/>
          <p:nvPr/>
        </p:nvSpPr>
        <p:spPr>
          <a:xfrm>
            <a:off x="9893808" y="374904"/>
            <a:ext cx="1554480" cy="164592"/>
          </a:xfrm>
          <a:prstGeom prst="rect">
            <a:avLst/>
          </a:prstGeom>
          <a:noFill/>
          <a:ln/>
        </p:spPr>
        <p:txBody>
          <a:bodyPr wrap="square" lIns="0" tIns="0" rIns="0" bIns="0" rtlCol="0" anchor="ctr"/>
          <a:lstStyle/>
          <a:p>
            <a:pPr algn="ctr" indent="0" marL="0">
              <a:buNone/>
            </a:pPr>
            <a:r>
              <a:rPr lang="en-US" sz="850" b="1" dirty="0">
                <a:solidFill>
                  <a:srgbClr val="2563EB"/>
                </a:solidFill>
              </a:rPr>
              <a:t>ARCHITECTURE</a:t>
            </a:r>
            <a:endParaRPr lang="en-US" sz="850" dirty="0"/>
          </a:p>
        </p:txBody>
      </p:sp>
      <p:sp>
        <p:nvSpPr>
          <p:cNvPr id="5" name="Text 3"/>
          <p:cNvSpPr/>
          <p:nvPr/>
        </p:nvSpPr>
        <p:spPr>
          <a:xfrm>
            <a:off x="548640" y="329184"/>
            <a:ext cx="7498080" cy="411480"/>
          </a:xfrm>
          <a:prstGeom prst="rect">
            <a:avLst/>
          </a:prstGeom>
          <a:noFill/>
          <a:ln/>
        </p:spPr>
        <p:txBody>
          <a:bodyPr wrap="square" lIns="0" tIns="0" rIns="0" bIns="0" rtlCol="0" anchor="ctr"/>
          <a:lstStyle/>
          <a:p>
            <a:pPr indent="0" marL="0">
              <a:buNone/>
            </a:pPr>
            <a:r>
              <a:rPr lang="en-US" sz="2400" b="1" dirty="0">
                <a:solidFill>
                  <a:srgbClr val="0F172A"/>
                </a:solidFill>
              </a:rPr>
              <a:t>Architecture technique generale</a:t>
            </a:r>
            <a:endParaRPr lang="en-US" sz="2400" dirty="0"/>
          </a:p>
        </p:txBody>
      </p:sp>
      <p:sp>
        <p:nvSpPr>
          <p:cNvPr id="6" name="Text 4"/>
          <p:cNvSpPr/>
          <p:nvPr/>
        </p:nvSpPr>
        <p:spPr>
          <a:xfrm>
            <a:off x="566928" y="768096"/>
            <a:ext cx="7863840" cy="329184"/>
          </a:xfrm>
          <a:prstGeom prst="rect">
            <a:avLst/>
          </a:prstGeom>
          <a:noFill/>
          <a:ln/>
        </p:spPr>
        <p:txBody>
          <a:bodyPr wrap="square" lIns="0" tIns="0" rIns="0" bIns="0" rtlCol="0" anchor="ctr"/>
          <a:lstStyle/>
          <a:p>
            <a:pPr indent="0" marL="0">
              <a:buNone/>
            </a:pPr>
            <a:r>
              <a:rPr lang="en-US" sz="1150" dirty="0">
                <a:solidFill>
                  <a:srgbClr val="64748B"/>
                </a:solidFill>
              </a:rPr>
              <a:t>Le projet suit une architecture web separee : frontend SPA, API REST et base relationnelle.</a:t>
            </a:r>
            <a:endParaRPr lang="en-US" sz="1150" dirty="0"/>
          </a:p>
        </p:txBody>
      </p:sp>
      <p:sp>
        <p:nvSpPr>
          <p:cNvPr id="7" name="Text 5"/>
          <p:cNvSpPr/>
          <p:nvPr/>
        </p:nvSpPr>
        <p:spPr>
          <a:xfrm>
            <a:off x="548640" y="6446520"/>
            <a:ext cx="4389120" cy="182880"/>
          </a:xfrm>
          <a:prstGeom prst="rect">
            <a:avLst/>
          </a:prstGeom>
          <a:noFill/>
          <a:ln/>
        </p:spPr>
        <p:txBody>
          <a:bodyPr wrap="square" lIns="0" tIns="0" rIns="0" bIns="0" rtlCol="0" anchor="ctr"/>
          <a:lstStyle/>
          <a:p>
            <a:pPr indent="0" marL="0">
              <a:buNone/>
            </a:pPr>
            <a:r>
              <a:rPr lang="en-US" sz="850" dirty="0">
                <a:solidFill>
                  <a:srgbClr val="64748B"/>
                </a:solidFill>
              </a:rPr>
              <a:t>Analyse du code source - 10 mai 2026</a:t>
            </a:r>
            <a:endParaRPr lang="en-US" sz="850" dirty="0"/>
          </a:p>
        </p:txBody>
      </p:sp>
      <p:sp>
        <p:nvSpPr>
          <p:cNvPr id="8" name="Text 6"/>
          <p:cNvSpPr/>
          <p:nvPr/>
        </p:nvSpPr>
        <p:spPr>
          <a:xfrm>
            <a:off x="11064240" y="6419088"/>
            <a:ext cx="548640" cy="182880"/>
          </a:xfrm>
          <a:prstGeom prst="rect">
            <a:avLst/>
          </a:prstGeom>
          <a:noFill/>
          <a:ln/>
        </p:spPr>
        <p:txBody>
          <a:bodyPr wrap="square" lIns="0" tIns="0" rIns="0" bIns="0" rtlCol="0" anchor="ctr"/>
          <a:lstStyle/>
          <a:p>
            <a:pPr algn="r" indent="0" marL="0">
              <a:buNone/>
            </a:pPr>
            <a:r>
              <a:rPr lang="en-US" sz="900" b="1" dirty="0">
                <a:solidFill>
                  <a:srgbClr val="64748B"/>
                </a:solidFill>
              </a:rPr>
              <a:t>10/17</a:t>
            </a:r>
            <a:endParaRPr lang="en-US" sz="900" dirty="0"/>
          </a:p>
        </p:txBody>
      </p:sp>
      <p:sp>
        <p:nvSpPr>
          <p:cNvPr id="9" name="Shape 7"/>
          <p:cNvSpPr/>
          <p:nvPr/>
        </p:nvSpPr>
        <p:spPr>
          <a:xfrm>
            <a:off x="1005840" y="1417320"/>
            <a:ext cx="5120640" cy="822960"/>
          </a:xfrm>
          <a:prstGeom prst="roundRect">
            <a:avLst>
              <a:gd name="adj" fmla="val 8889"/>
            </a:avLst>
          </a:prstGeom>
          <a:solidFill>
            <a:srgbClr val="DBEAFE"/>
          </a:solidFill>
          <a:ln w="12700">
            <a:solidFill>
              <a:srgbClr val="CBD5E1"/>
            </a:solidFill>
            <a:prstDash val="solid"/>
          </a:ln>
        </p:spPr>
      </p:sp>
      <p:sp>
        <p:nvSpPr>
          <p:cNvPr id="10" name="Shape 8"/>
          <p:cNvSpPr/>
          <p:nvPr/>
        </p:nvSpPr>
        <p:spPr>
          <a:xfrm>
            <a:off x="1188720" y="1581912"/>
            <a:ext cx="91440" cy="493776"/>
          </a:xfrm>
          <a:prstGeom prst="rect">
            <a:avLst/>
          </a:prstGeom>
          <a:solidFill>
            <a:srgbClr val="2563EB"/>
          </a:solidFill>
          <a:ln w="12700">
            <a:solidFill>
              <a:srgbClr val="2563EB">
                <a:alpha val="0"/>
              </a:srgbClr>
            </a:solidFill>
            <a:prstDash val="solid"/>
          </a:ln>
        </p:spPr>
      </p:sp>
      <p:sp>
        <p:nvSpPr>
          <p:cNvPr id="11" name="Text 9"/>
          <p:cNvSpPr/>
          <p:nvPr/>
        </p:nvSpPr>
        <p:spPr>
          <a:xfrm>
            <a:off x="1389888" y="1563624"/>
            <a:ext cx="3291840" cy="201168"/>
          </a:xfrm>
          <a:prstGeom prst="rect">
            <a:avLst/>
          </a:prstGeom>
          <a:noFill/>
          <a:ln/>
        </p:spPr>
        <p:txBody>
          <a:bodyPr wrap="square" lIns="0" tIns="0" rIns="0" bIns="0" rtlCol="0" anchor="ctr"/>
          <a:lstStyle/>
          <a:p>
            <a:pPr indent="0" marL="0">
              <a:buNone/>
            </a:pPr>
            <a:r>
              <a:rPr lang="en-US" sz="1300" b="1" dirty="0">
                <a:solidFill>
                  <a:srgbClr val="0F172A"/>
                </a:solidFill>
              </a:rPr>
              <a:t>Utilisateurs</a:t>
            </a:r>
            <a:endParaRPr lang="en-US" sz="1300" dirty="0"/>
          </a:p>
        </p:txBody>
      </p:sp>
      <p:sp>
        <p:nvSpPr>
          <p:cNvPr id="12" name="Text 10"/>
          <p:cNvSpPr/>
          <p:nvPr/>
        </p:nvSpPr>
        <p:spPr>
          <a:xfrm>
            <a:off x="1389888" y="1810512"/>
            <a:ext cx="4480560" cy="201168"/>
          </a:xfrm>
          <a:prstGeom prst="rect">
            <a:avLst/>
          </a:prstGeom>
          <a:noFill/>
          <a:ln/>
        </p:spPr>
        <p:txBody>
          <a:bodyPr wrap="square" lIns="0" tIns="0" rIns="0" bIns="0" rtlCol="0" anchor="ctr"/>
          <a:lstStyle/>
          <a:p>
            <a:pPr indent="0" marL="0">
              <a:buNone/>
            </a:pPr>
            <a:r>
              <a:rPr lang="en-US" sz="1020" dirty="0">
                <a:solidFill>
                  <a:srgbClr val="64748B"/>
                </a:solidFill>
              </a:rPr>
              <a:t>Directeur, responsable, manager, technicien, lecteur</a:t>
            </a:r>
            <a:endParaRPr lang="en-US" sz="1020" dirty="0"/>
          </a:p>
        </p:txBody>
      </p:sp>
      <p:sp>
        <p:nvSpPr>
          <p:cNvPr id="13" name="Shape 11"/>
          <p:cNvSpPr/>
          <p:nvPr/>
        </p:nvSpPr>
        <p:spPr>
          <a:xfrm>
            <a:off x="1005840" y="2560320"/>
            <a:ext cx="5120640" cy="822960"/>
          </a:xfrm>
          <a:prstGeom prst="roundRect">
            <a:avLst>
              <a:gd name="adj" fmla="val 8889"/>
            </a:avLst>
          </a:prstGeom>
          <a:solidFill>
            <a:srgbClr val="FFFFFF"/>
          </a:solidFill>
          <a:ln w="12700">
            <a:solidFill>
              <a:srgbClr val="CBD5E1"/>
            </a:solidFill>
            <a:prstDash val="solid"/>
          </a:ln>
        </p:spPr>
      </p:sp>
      <p:sp>
        <p:nvSpPr>
          <p:cNvPr id="14" name="Shape 12"/>
          <p:cNvSpPr/>
          <p:nvPr/>
        </p:nvSpPr>
        <p:spPr>
          <a:xfrm>
            <a:off x="1188720" y="2724912"/>
            <a:ext cx="91440" cy="493776"/>
          </a:xfrm>
          <a:prstGeom prst="rect">
            <a:avLst/>
          </a:prstGeom>
          <a:solidFill>
            <a:srgbClr val="0891B2"/>
          </a:solidFill>
          <a:ln w="12700">
            <a:solidFill>
              <a:srgbClr val="0891B2">
                <a:alpha val="0"/>
              </a:srgbClr>
            </a:solidFill>
            <a:prstDash val="solid"/>
          </a:ln>
        </p:spPr>
      </p:sp>
      <p:sp>
        <p:nvSpPr>
          <p:cNvPr id="15" name="Text 13"/>
          <p:cNvSpPr/>
          <p:nvPr/>
        </p:nvSpPr>
        <p:spPr>
          <a:xfrm>
            <a:off x="1389888" y="2706624"/>
            <a:ext cx="3291840" cy="201168"/>
          </a:xfrm>
          <a:prstGeom prst="rect">
            <a:avLst/>
          </a:prstGeom>
          <a:noFill/>
          <a:ln/>
        </p:spPr>
        <p:txBody>
          <a:bodyPr wrap="square" lIns="0" tIns="0" rIns="0" bIns="0" rtlCol="0" anchor="ctr"/>
          <a:lstStyle/>
          <a:p>
            <a:pPr indent="0" marL="0">
              <a:buNone/>
            </a:pPr>
            <a:r>
              <a:rPr lang="en-US" sz="1300" b="1" dirty="0">
                <a:solidFill>
                  <a:srgbClr val="0F172A"/>
                </a:solidFill>
              </a:rPr>
              <a:t>Frontend React 19 + Vite 8</a:t>
            </a:r>
            <a:endParaRPr lang="en-US" sz="1300" dirty="0"/>
          </a:p>
        </p:txBody>
      </p:sp>
      <p:sp>
        <p:nvSpPr>
          <p:cNvPr id="16" name="Text 14"/>
          <p:cNvSpPr/>
          <p:nvPr/>
        </p:nvSpPr>
        <p:spPr>
          <a:xfrm>
            <a:off x="1389888" y="2953512"/>
            <a:ext cx="4480560" cy="201168"/>
          </a:xfrm>
          <a:prstGeom prst="rect">
            <a:avLst/>
          </a:prstGeom>
          <a:noFill/>
          <a:ln/>
        </p:spPr>
        <p:txBody>
          <a:bodyPr wrap="square" lIns="0" tIns="0" rIns="0" bIns="0" rtlCol="0" anchor="ctr"/>
          <a:lstStyle/>
          <a:p>
            <a:pPr indent="0" marL="0">
              <a:buNone/>
            </a:pPr>
            <a:r>
              <a:rPr lang="en-US" sz="1020" dirty="0">
                <a:solidFill>
                  <a:srgbClr val="64748B"/>
                </a:solidFill>
              </a:rPr>
              <a:t>SPA, routing, dashboards, cartographie, formulaires, i18n</a:t>
            </a:r>
            <a:endParaRPr lang="en-US" sz="1020" dirty="0"/>
          </a:p>
        </p:txBody>
      </p:sp>
      <p:sp>
        <p:nvSpPr>
          <p:cNvPr id="17" name="Shape 15"/>
          <p:cNvSpPr/>
          <p:nvPr/>
        </p:nvSpPr>
        <p:spPr>
          <a:xfrm>
            <a:off x="1005840" y="3703320"/>
            <a:ext cx="5120640" cy="822960"/>
          </a:xfrm>
          <a:prstGeom prst="roundRect">
            <a:avLst>
              <a:gd name="adj" fmla="val 8889"/>
            </a:avLst>
          </a:prstGeom>
          <a:solidFill>
            <a:srgbClr val="FFFFFF"/>
          </a:solidFill>
          <a:ln w="12700">
            <a:solidFill>
              <a:srgbClr val="CBD5E1"/>
            </a:solidFill>
            <a:prstDash val="solid"/>
          </a:ln>
        </p:spPr>
      </p:sp>
      <p:sp>
        <p:nvSpPr>
          <p:cNvPr id="18" name="Shape 16"/>
          <p:cNvSpPr/>
          <p:nvPr/>
        </p:nvSpPr>
        <p:spPr>
          <a:xfrm>
            <a:off x="1188720" y="3867912"/>
            <a:ext cx="91440" cy="493776"/>
          </a:xfrm>
          <a:prstGeom prst="rect">
            <a:avLst/>
          </a:prstGeom>
          <a:solidFill>
            <a:srgbClr val="D97706"/>
          </a:solidFill>
          <a:ln w="12700">
            <a:solidFill>
              <a:srgbClr val="D97706">
                <a:alpha val="0"/>
              </a:srgbClr>
            </a:solidFill>
            <a:prstDash val="solid"/>
          </a:ln>
        </p:spPr>
      </p:sp>
      <p:sp>
        <p:nvSpPr>
          <p:cNvPr id="19" name="Text 17"/>
          <p:cNvSpPr/>
          <p:nvPr/>
        </p:nvSpPr>
        <p:spPr>
          <a:xfrm>
            <a:off x="1389888" y="3849624"/>
            <a:ext cx="3291840" cy="201168"/>
          </a:xfrm>
          <a:prstGeom prst="rect">
            <a:avLst/>
          </a:prstGeom>
          <a:noFill/>
          <a:ln/>
        </p:spPr>
        <p:txBody>
          <a:bodyPr wrap="square" lIns="0" tIns="0" rIns="0" bIns="0" rtlCol="0" anchor="ctr"/>
          <a:lstStyle/>
          <a:p>
            <a:pPr indent="0" marL="0">
              <a:buNone/>
            </a:pPr>
            <a:r>
              <a:rPr lang="en-US" sz="1300" b="1" dirty="0">
                <a:solidFill>
                  <a:srgbClr val="0F172A"/>
                </a:solidFill>
              </a:rPr>
              <a:t>API Laravel 11 + Sanctum</a:t>
            </a:r>
            <a:endParaRPr lang="en-US" sz="1300" dirty="0"/>
          </a:p>
        </p:txBody>
      </p:sp>
      <p:sp>
        <p:nvSpPr>
          <p:cNvPr id="20" name="Text 18"/>
          <p:cNvSpPr/>
          <p:nvPr/>
        </p:nvSpPr>
        <p:spPr>
          <a:xfrm>
            <a:off x="1389888" y="4096512"/>
            <a:ext cx="4480560" cy="201168"/>
          </a:xfrm>
          <a:prstGeom prst="rect">
            <a:avLst/>
          </a:prstGeom>
          <a:noFill/>
          <a:ln/>
        </p:spPr>
        <p:txBody>
          <a:bodyPr wrap="square" lIns="0" tIns="0" rIns="0" bIns="0" rtlCol="0" anchor="ctr"/>
          <a:lstStyle/>
          <a:p>
            <a:pPr indent="0" marL="0">
              <a:buNone/>
            </a:pPr>
            <a:r>
              <a:rPr lang="en-US" sz="1020" dirty="0">
                <a:solidFill>
                  <a:srgbClr val="64748B"/>
                </a:solidFill>
              </a:rPr>
              <a:t>Controllers, resources JSON, middleware, policy, validation, services</a:t>
            </a:r>
            <a:endParaRPr lang="en-US" sz="1020" dirty="0"/>
          </a:p>
        </p:txBody>
      </p:sp>
      <p:sp>
        <p:nvSpPr>
          <p:cNvPr id="21" name="Shape 19"/>
          <p:cNvSpPr/>
          <p:nvPr/>
        </p:nvSpPr>
        <p:spPr>
          <a:xfrm>
            <a:off x="1005840" y="4846320"/>
            <a:ext cx="5120640" cy="822960"/>
          </a:xfrm>
          <a:prstGeom prst="roundRect">
            <a:avLst>
              <a:gd name="adj" fmla="val 8889"/>
            </a:avLst>
          </a:prstGeom>
          <a:solidFill>
            <a:srgbClr val="D1FAE5"/>
          </a:solidFill>
          <a:ln w="12700">
            <a:solidFill>
              <a:srgbClr val="CBD5E1"/>
            </a:solidFill>
            <a:prstDash val="solid"/>
          </a:ln>
        </p:spPr>
      </p:sp>
      <p:sp>
        <p:nvSpPr>
          <p:cNvPr id="22" name="Shape 20"/>
          <p:cNvSpPr/>
          <p:nvPr/>
        </p:nvSpPr>
        <p:spPr>
          <a:xfrm>
            <a:off x="1188720" y="5010912"/>
            <a:ext cx="91440" cy="493776"/>
          </a:xfrm>
          <a:prstGeom prst="rect">
            <a:avLst/>
          </a:prstGeom>
          <a:solidFill>
            <a:srgbClr val="059669"/>
          </a:solidFill>
          <a:ln w="12700">
            <a:solidFill>
              <a:srgbClr val="059669">
                <a:alpha val="0"/>
              </a:srgbClr>
            </a:solidFill>
            <a:prstDash val="solid"/>
          </a:ln>
        </p:spPr>
      </p:sp>
      <p:sp>
        <p:nvSpPr>
          <p:cNvPr id="23" name="Text 21"/>
          <p:cNvSpPr/>
          <p:nvPr/>
        </p:nvSpPr>
        <p:spPr>
          <a:xfrm>
            <a:off x="1389888" y="4992624"/>
            <a:ext cx="3291840" cy="201168"/>
          </a:xfrm>
          <a:prstGeom prst="rect">
            <a:avLst/>
          </a:prstGeom>
          <a:noFill/>
          <a:ln/>
        </p:spPr>
        <p:txBody>
          <a:bodyPr wrap="square" lIns="0" tIns="0" rIns="0" bIns="0" rtlCol="0" anchor="ctr"/>
          <a:lstStyle/>
          <a:p>
            <a:pPr indent="0" marL="0">
              <a:buNone/>
            </a:pPr>
            <a:r>
              <a:rPr lang="en-US" sz="1300" b="1" dirty="0">
                <a:solidFill>
                  <a:srgbClr val="0F172A"/>
                </a:solidFill>
              </a:rPr>
              <a:t>MySQL + Eloquent ORM</a:t>
            </a:r>
            <a:endParaRPr lang="en-US" sz="1300" dirty="0"/>
          </a:p>
        </p:txBody>
      </p:sp>
      <p:sp>
        <p:nvSpPr>
          <p:cNvPr id="24" name="Text 22"/>
          <p:cNvSpPr/>
          <p:nvPr/>
        </p:nvSpPr>
        <p:spPr>
          <a:xfrm>
            <a:off x="1389888" y="5239512"/>
            <a:ext cx="4480560" cy="201168"/>
          </a:xfrm>
          <a:prstGeom prst="rect">
            <a:avLst/>
          </a:prstGeom>
          <a:noFill/>
          <a:ln/>
        </p:spPr>
        <p:txBody>
          <a:bodyPr wrap="square" lIns="0" tIns="0" rIns="0" bIns="0" rtlCol="0" anchor="ctr"/>
          <a:lstStyle/>
          <a:p>
            <a:pPr indent="0" marL="0">
              <a:buNone/>
            </a:pPr>
            <a:r>
              <a:rPr lang="en-US" sz="1020" dirty="0">
                <a:solidFill>
                  <a:srgbClr val="64748B"/>
                </a:solidFill>
              </a:rPr>
              <a:t>Tables metier, migrations, seeders, soft deletes, indexes</a:t>
            </a:r>
            <a:endParaRPr lang="en-US" sz="1020" dirty="0"/>
          </a:p>
        </p:txBody>
      </p:sp>
      <p:sp>
        <p:nvSpPr>
          <p:cNvPr id="25" name="Text 23"/>
          <p:cNvSpPr/>
          <p:nvPr/>
        </p:nvSpPr>
        <p:spPr>
          <a:xfrm>
            <a:off x="3383280" y="2240280"/>
            <a:ext cx="182880" cy="164592"/>
          </a:xfrm>
          <a:prstGeom prst="rect">
            <a:avLst/>
          </a:prstGeom>
          <a:noFill/>
          <a:ln/>
        </p:spPr>
        <p:txBody>
          <a:bodyPr wrap="square" lIns="0" tIns="0" rIns="0" bIns="0" rtlCol="0" anchor="ctr"/>
          <a:lstStyle/>
          <a:p>
            <a:pPr algn="ctr" indent="0" marL="0">
              <a:buNone/>
            </a:pPr>
            <a:r>
              <a:rPr lang="en-US" sz="2000" b="1" dirty="0">
                <a:solidFill>
                  <a:srgbClr val="2563EB"/>
                </a:solidFill>
              </a:rPr>
              <a:t>↓</a:t>
            </a:r>
            <a:endParaRPr lang="en-US" sz="2000" dirty="0"/>
          </a:p>
        </p:txBody>
      </p:sp>
      <p:sp>
        <p:nvSpPr>
          <p:cNvPr id="26" name="Text 24"/>
          <p:cNvSpPr/>
          <p:nvPr/>
        </p:nvSpPr>
        <p:spPr>
          <a:xfrm>
            <a:off x="3383280" y="3383280"/>
            <a:ext cx="182880" cy="164592"/>
          </a:xfrm>
          <a:prstGeom prst="rect">
            <a:avLst/>
          </a:prstGeom>
          <a:noFill/>
          <a:ln/>
        </p:spPr>
        <p:txBody>
          <a:bodyPr wrap="square" lIns="0" tIns="0" rIns="0" bIns="0" rtlCol="0" anchor="ctr"/>
          <a:lstStyle/>
          <a:p>
            <a:pPr algn="ctr" indent="0" marL="0">
              <a:buNone/>
            </a:pPr>
            <a:r>
              <a:rPr lang="en-US" sz="2000" b="1" dirty="0">
                <a:solidFill>
                  <a:srgbClr val="2563EB"/>
                </a:solidFill>
              </a:rPr>
              <a:t>↓</a:t>
            </a:r>
            <a:endParaRPr lang="en-US" sz="2000" dirty="0"/>
          </a:p>
        </p:txBody>
      </p:sp>
      <p:sp>
        <p:nvSpPr>
          <p:cNvPr id="27" name="Text 25"/>
          <p:cNvSpPr/>
          <p:nvPr/>
        </p:nvSpPr>
        <p:spPr>
          <a:xfrm>
            <a:off x="3383280" y="4526280"/>
            <a:ext cx="182880" cy="164592"/>
          </a:xfrm>
          <a:prstGeom prst="rect">
            <a:avLst/>
          </a:prstGeom>
          <a:noFill/>
          <a:ln/>
        </p:spPr>
        <p:txBody>
          <a:bodyPr wrap="square" lIns="0" tIns="0" rIns="0" bIns="0" rtlCol="0" anchor="ctr"/>
          <a:lstStyle/>
          <a:p>
            <a:pPr algn="ctr" indent="0" marL="0">
              <a:buNone/>
            </a:pPr>
            <a:r>
              <a:rPr lang="en-US" sz="2000" b="1" dirty="0">
                <a:solidFill>
                  <a:srgbClr val="2563EB"/>
                </a:solidFill>
              </a:rPr>
              <a:t>↓</a:t>
            </a:r>
            <a:endParaRPr lang="en-US" sz="2000" dirty="0"/>
          </a:p>
        </p:txBody>
      </p:sp>
      <p:sp>
        <p:nvSpPr>
          <p:cNvPr id="28" name="Shape 26"/>
          <p:cNvSpPr/>
          <p:nvPr/>
        </p:nvSpPr>
        <p:spPr>
          <a:xfrm>
            <a:off x="6812280" y="1444752"/>
            <a:ext cx="4572000" cy="1115568"/>
          </a:xfrm>
          <a:prstGeom prst="roundRect">
            <a:avLst>
              <a:gd name="adj" fmla="val 8197"/>
            </a:avLst>
          </a:prstGeom>
          <a:solidFill>
            <a:srgbClr val="FFFFFF"/>
          </a:solidFill>
          <a:ln w="12700">
            <a:solidFill>
              <a:srgbClr val="CBD5E1"/>
            </a:solidFill>
            <a:prstDash val="solid"/>
          </a:ln>
        </p:spPr>
      </p:sp>
      <p:sp>
        <p:nvSpPr>
          <p:cNvPr id="29" name="Shape 27"/>
          <p:cNvSpPr/>
          <p:nvPr/>
        </p:nvSpPr>
        <p:spPr>
          <a:xfrm>
            <a:off x="6976872" y="1609344"/>
            <a:ext cx="73152" cy="786384"/>
          </a:xfrm>
          <a:prstGeom prst="rect">
            <a:avLst/>
          </a:prstGeom>
          <a:solidFill>
            <a:srgbClr val="2563EB"/>
          </a:solidFill>
          <a:ln w="12700">
            <a:solidFill>
              <a:srgbClr val="2563EB">
                <a:alpha val="0"/>
              </a:srgbClr>
            </a:solidFill>
            <a:prstDash val="solid"/>
          </a:ln>
        </p:spPr>
      </p:sp>
      <p:sp>
        <p:nvSpPr>
          <p:cNvPr id="30" name="Text 28"/>
          <p:cNvSpPr/>
          <p:nvPr/>
        </p:nvSpPr>
        <p:spPr>
          <a:xfrm>
            <a:off x="7132320" y="1609344"/>
            <a:ext cx="4114800" cy="219456"/>
          </a:xfrm>
          <a:prstGeom prst="rect">
            <a:avLst/>
          </a:prstGeom>
          <a:noFill/>
          <a:ln/>
        </p:spPr>
        <p:txBody>
          <a:bodyPr wrap="square" lIns="0" tIns="0" rIns="0" bIns="0" rtlCol="0" anchor="ctr"/>
          <a:lstStyle/>
          <a:p>
            <a:pPr indent="0" marL="0">
              <a:buNone/>
            </a:pPr>
            <a:r>
              <a:rPr lang="en-US" sz="1300" b="1" dirty="0">
                <a:solidFill>
                  <a:srgbClr val="0F172A"/>
                </a:solidFill>
              </a:rPr>
              <a:t>Frontend</a:t>
            </a:r>
            <a:endParaRPr lang="en-US" sz="1300" dirty="0"/>
          </a:p>
        </p:txBody>
      </p:sp>
      <p:sp>
        <p:nvSpPr>
          <p:cNvPr id="31" name="Text 29"/>
          <p:cNvSpPr/>
          <p:nvPr/>
        </p:nvSpPr>
        <p:spPr>
          <a:xfrm>
            <a:off x="7132320" y="1920240"/>
            <a:ext cx="4160520" cy="493776"/>
          </a:xfrm>
          <a:prstGeom prst="rect">
            <a:avLst/>
          </a:prstGeom>
          <a:noFill/>
          <a:ln/>
        </p:spPr>
        <p:txBody>
          <a:bodyPr wrap="square" lIns="0" tIns="0" rIns="0" bIns="0" rtlCol="0" anchor="t"/>
          <a:lstStyle/>
          <a:p>
            <a:pPr indent="0" marL="0">
              <a:buNone/>
            </a:pPr>
            <a:r>
              <a:rPr lang="en-US" sz="1050" dirty="0">
                <a:solidFill>
                  <a:srgbClr val="64748B"/>
                </a:solidFill>
              </a:rPr>
              <a:t>• React Router 7, Axios, Tailwind, Recharts, Leaflet, Lucide, i18next.</a:t>
            </a:r>
            <a:endParaRPr lang="en-US" sz="1050" dirty="0"/>
          </a:p>
        </p:txBody>
      </p:sp>
      <p:sp>
        <p:nvSpPr>
          <p:cNvPr id="32" name="Shape 30"/>
          <p:cNvSpPr/>
          <p:nvPr/>
        </p:nvSpPr>
        <p:spPr>
          <a:xfrm>
            <a:off x="6812280" y="2761488"/>
            <a:ext cx="4572000" cy="1115568"/>
          </a:xfrm>
          <a:prstGeom prst="roundRect">
            <a:avLst>
              <a:gd name="adj" fmla="val 8197"/>
            </a:avLst>
          </a:prstGeom>
          <a:solidFill>
            <a:srgbClr val="FFFFFF"/>
          </a:solidFill>
          <a:ln w="12700">
            <a:solidFill>
              <a:srgbClr val="CBD5E1"/>
            </a:solidFill>
            <a:prstDash val="solid"/>
          </a:ln>
        </p:spPr>
      </p:sp>
      <p:sp>
        <p:nvSpPr>
          <p:cNvPr id="33" name="Shape 31"/>
          <p:cNvSpPr/>
          <p:nvPr/>
        </p:nvSpPr>
        <p:spPr>
          <a:xfrm>
            <a:off x="6976872" y="2926080"/>
            <a:ext cx="73152" cy="786384"/>
          </a:xfrm>
          <a:prstGeom prst="rect">
            <a:avLst/>
          </a:prstGeom>
          <a:solidFill>
            <a:srgbClr val="0891B2"/>
          </a:solidFill>
          <a:ln w="12700">
            <a:solidFill>
              <a:srgbClr val="0891B2">
                <a:alpha val="0"/>
              </a:srgbClr>
            </a:solidFill>
            <a:prstDash val="solid"/>
          </a:ln>
        </p:spPr>
      </p:sp>
      <p:sp>
        <p:nvSpPr>
          <p:cNvPr id="34" name="Text 32"/>
          <p:cNvSpPr/>
          <p:nvPr/>
        </p:nvSpPr>
        <p:spPr>
          <a:xfrm>
            <a:off x="7132320" y="2926080"/>
            <a:ext cx="4114800" cy="219456"/>
          </a:xfrm>
          <a:prstGeom prst="rect">
            <a:avLst/>
          </a:prstGeom>
          <a:noFill/>
          <a:ln/>
        </p:spPr>
        <p:txBody>
          <a:bodyPr wrap="square" lIns="0" tIns="0" rIns="0" bIns="0" rtlCol="0" anchor="ctr"/>
          <a:lstStyle/>
          <a:p>
            <a:pPr indent="0" marL="0">
              <a:buNone/>
            </a:pPr>
            <a:r>
              <a:rPr lang="en-US" sz="1300" b="1" dirty="0">
                <a:solidFill>
                  <a:srgbClr val="0F172A"/>
                </a:solidFill>
              </a:rPr>
              <a:t>Backend</a:t>
            </a:r>
            <a:endParaRPr lang="en-US" sz="1300" dirty="0"/>
          </a:p>
        </p:txBody>
      </p:sp>
      <p:sp>
        <p:nvSpPr>
          <p:cNvPr id="35" name="Text 33"/>
          <p:cNvSpPr/>
          <p:nvPr/>
        </p:nvSpPr>
        <p:spPr>
          <a:xfrm>
            <a:off x="7132320" y="3236976"/>
            <a:ext cx="4160520" cy="493776"/>
          </a:xfrm>
          <a:prstGeom prst="rect">
            <a:avLst/>
          </a:prstGeom>
          <a:noFill/>
          <a:ln/>
        </p:spPr>
        <p:txBody>
          <a:bodyPr wrap="square" lIns="0" tIns="0" rIns="0" bIns="0" rtlCol="0" anchor="t"/>
          <a:lstStyle/>
          <a:p>
            <a:pPr indent="0" marL="0">
              <a:buNone/>
            </a:pPr>
            <a:r>
              <a:rPr lang="en-US" sz="1050" dirty="0">
                <a:solidFill>
                  <a:srgbClr val="64748B"/>
                </a:solidFill>
              </a:rPr>
              <a:t>• Controllers, Resources, ReparationRequest, InterventionPolicy, NotificationService, OperatorAccess.</a:t>
            </a:r>
            <a:endParaRPr lang="en-US" sz="1050" dirty="0"/>
          </a:p>
        </p:txBody>
      </p:sp>
      <p:sp>
        <p:nvSpPr>
          <p:cNvPr id="36" name="Shape 34"/>
          <p:cNvSpPr/>
          <p:nvPr/>
        </p:nvSpPr>
        <p:spPr>
          <a:xfrm>
            <a:off x="6812280" y="4078224"/>
            <a:ext cx="4572000" cy="1115568"/>
          </a:xfrm>
          <a:prstGeom prst="roundRect">
            <a:avLst>
              <a:gd name="adj" fmla="val 8197"/>
            </a:avLst>
          </a:prstGeom>
          <a:solidFill>
            <a:srgbClr val="FFFFFF"/>
          </a:solidFill>
          <a:ln w="12700">
            <a:solidFill>
              <a:srgbClr val="CBD5E1"/>
            </a:solidFill>
            <a:prstDash val="solid"/>
          </a:ln>
        </p:spPr>
      </p:sp>
      <p:sp>
        <p:nvSpPr>
          <p:cNvPr id="37" name="Shape 35"/>
          <p:cNvSpPr/>
          <p:nvPr/>
        </p:nvSpPr>
        <p:spPr>
          <a:xfrm>
            <a:off x="6976872" y="4242816"/>
            <a:ext cx="73152" cy="786384"/>
          </a:xfrm>
          <a:prstGeom prst="rect">
            <a:avLst/>
          </a:prstGeom>
          <a:solidFill>
            <a:srgbClr val="D97706"/>
          </a:solidFill>
          <a:ln w="12700">
            <a:solidFill>
              <a:srgbClr val="D97706">
                <a:alpha val="0"/>
              </a:srgbClr>
            </a:solidFill>
            <a:prstDash val="solid"/>
          </a:ln>
        </p:spPr>
      </p:sp>
      <p:sp>
        <p:nvSpPr>
          <p:cNvPr id="38" name="Text 36"/>
          <p:cNvSpPr/>
          <p:nvPr/>
        </p:nvSpPr>
        <p:spPr>
          <a:xfrm>
            <a:off x="7132320" y="4242816"/>
            <a:ext cx="4114800" cy="219456"/>
          </a:xfrm>
          <a:prstGeom prst="rect">
            <a:avLst/>
          </a:prstGeom>
          <a:noFill/>
          <a:ln/>
        </p:spPr>
        <p:txBody>
          <a:bodyPr wrap="square" lIns="0" tIns="0" rIns="0" bIns="0" rtlCol="0" anchor="ctr"/>
          <a:lstStyle/>
          <a:p>
            <a:pPr indent="0" marL="0">
              <a:buNone/>
            </a:pPr>
            <a:r>
              <a:rPr lang="en-US" sz="1300" b="1" dirty="0">
                <a:solidFill>
                  <a:srgbClr val="0F172A"/>
                </a:solidFill>
              </a:rPr>
              <a:t>Sorties et services</a:t>
            </a:r>
            <a:endParaRPr lang="en-US" sz="1300" dirty="0"/>
          </a:p>
        </p:txBody>
      </p:sp>
      <p:sp>
        <p:nvSpPr>
          <p:cNvPr id="39" name="Text 37"/>
          <p:cNvSpPr/>
          <p:nvPr/>
        </p:nvSpPr>
        <p:spPr>
          <a:xfrm>
            <a:off x="7132320" y="4553712"/>
            <a:ext cx="4160520" cy="493776"/>
          </a:xfrm>
          <a:prstGeom prst="rect">
            <a:avLst/>
          </a:prstGeom>
          <a:noFill/>
          <a:ln/>
        </p:spPr>
        <p:txBody>
          <a:bodyPr wrap="square" lIns="0" tIns="0" rIns="0" bIns="0" rtlCol="0" anchor="t"/>
          <a:lstStyle/>
          <a:p>
            <a:pPr indent="0" marL="0">
              <a:buNone/>
            </a:pPr>
            <a:r>
              <a:rPr lang="en-US" sz="1050" dirty="0">
                <a:solidFill>
                  <a:srgbClr val="64748B"/>
                </a:solidFill>
              </a:rPr>
              <a:t>• Exports PDF / Excel, notifications en base, cartographie OpenStreetMap, dashboards.</a:t>
            </a:r>
            <a:endParaRPr lang="en-US" sz="1050" dirty="0"/>
          </a:p>
        </p:txBody>
      </p:sp>
      <p:sp>
        <p:nvSpPr>
          <p:cNvPr id="40" name="Text 38"/>
          <p:cNvSpPr/>
          <p:nvPr/>
        </p:nvSpPr>
        <p:spPr>
          <a:xfrm>
            <a:off x="713232" y="5897880"/>
            <a:ext cx="10698480" cy="219456"/>
          </a:xfrm>
          <a:prstGeom prst="rect">
            <a:avLst/>
          </a:prstGeom>
          <a:noFill/>
          <a:ln/>
        </p:spPr>
        <p:txBody>
          <a:bodyPr wrap="square" lIns="0" tIns="0" rIns="0" bIns="0" rtlCol="0" anchor="ctr"/>
          <a:lstStyle/>
          <a:p>
            <a:pPr indent="0" marL="0">
              <a:buNone/>
            </a:pPr>
            <a:r>
              <a:rPr lang="en-US" sz="960" dirty="0">
                <a:solidFill>
                  <a:srgbClr val="64748B"/>
                </a:solidFill>
              </a:rPr>
              <a:t>Base API frontend observee : http://127.0.0.1:8000/api - Base backend locale observee : MySQL / radeeta_db</a:t>
            </a:r>
            <a:endParaRPr lang="en-US" sz="96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563EB"/>
          </a:solidFill>
          <a:ln w="12700">
            <a:solidFill>
              <a:srgbClr val="2563EB">
                <a:alpha val="0"/>
              </a:srgbClr>
            </a:solidFill>
            <a:prstDash val="solid"/>
          </a:ln>
        </p:spPr>
      </p:sp>
      <p:sp>
        <p:nvSpPr>
          <p:cNvPr id="3" name="Shape 1"/>
          <p:cNvSpPr/>
          <p:nvPr/>
        </p:nvSpPr>
        <p:spPr>
          <a:xfrm>
            <a:off x="9738360" y="310896"/>
            <a:ext cx="1874520" cy="310896"/>
          </a:xfrm>
          <a:prstGeom prst="roundRect">
            <a:avLst>
              <a:gd name="adj" fmla="val 23529"/>
            </a:avLst>
          </a:prstGeom>
          <a:solidFill>
            <a:srgbClr val="DBEAFE"/>
          </a:solidFill>
          <a:ln w="12700">
            <a:solidFill>
              <a:srgbClr val="DBEAFE">
                <a:alpha val="0"/>
              </a:srgbClr>
            </a:solidFill>
            <a:prstDash val="solid"/>
          </a:ln>
        </p:spPr>
      </p:sp>
      <p:sp>
        <p:nvSpPr>
          <p:cNvPr id="4" name="Text 2"/>
          <p:cNvSpPr/>
          <p:nvPr/>
        </p:nvSpPr>
        <p:spPr>
          <a:xfrm>
            <a:off x="9893808" y="374904"/>
            <a:ext cx="1554480" cy="164592"/>
          </a:xfrm>
          <a:prstGeom prst="rect">
            <a:avLst/>
          </a:prstGeom>
          <a:noFill/>
          <a:ln/>
        </p:spPr>
        <p:txBody>
          <a:bodyPr wrap="square" lIns="0" tIns="0" rIns="0" bIns="0" rtlCol="0" anchor="ctr"/>
          <a:lstStyle/>
          <a:p>
            <a:pPr algn="ctr" indent="0" marL="0">
              <a:buNone/>
            </a:pPr>
            <a:r>
              <a:rPr lang="en-US" sz="850" b="1" dirty="0">
                <a:solidFill>
                  <a:srgbClr val="2563EB"/>
                </a:solidFill>
              </a:rPr>
              <a:t>SECURITE</a:t>
            </a:r>
            <a:endParaRPr lang="en-US" sz="850" dirty="0"/>
          </a:p>
        </p:txBody>
      </p:sp>
      <p:sp>
        <p:nvSpPr>
          <p:cNvPr id="5" name="Text 3"/>
          <p:cNvSpPr/>
          <p:nvPr/>
        </p:nvSpPr>
        <p:spPr>
          <a:xfrm>
            <a:off x="548640" y="329184"/>
            <a:ext cx="7498080" cy="411480"/>
          </a:xfrm>
          <a:prstGeom prst="rect">
            <a:avLst/>
          </a:prstGeom>
          <a:noFill/>
          <a:ln/>
        </p:spPr>
        <p:txBody>
          <a:bodyPr wrap="square" lIns="0" tIns="0" rIns="0" bIns="0" rtlCol="0" anchor="ctr"/>
          <a:lstStyle/>
          <a:p>
            <a:pPr indent="0" marL="0">
              <a:buNone/>
            </a:pPr>
            <a:r>
              <a:rPr lang="en-US" sz="2400" b="1" dirty="0">
                <a:solidFill>
                  <a:srgbClr val="0F172A"/>
                </a:solidFill>
              </a:rPr>
              <a:t>API, authentification et controle d acces</a:t>
            </a:r>
            <a:endParaRPr lang="en-US" sz="2400" dirty="0"/>
          </a:p>
        </p:txBody>
      </p:sp>
      <p:sp>
        <p:nvSpPr>
          <p:cNvPr id="6" name="Text 4"/>
          <p:cNvSpPr/>
          <p:nvPr/>
        </p:nvSpPr>
        <p:spPr>
          <a:xfrm>
            <a:off x="566928" y="768096"/>
            <a:ext cx="7863840" cy="329184"/>
          </a:xfrm>
          <a:prstGeom prst="rect">
            <a:avLst/>
          </a:prstGeom>
          <a:noFill/>
          <a:ln/>
        </p:spPr>
        <p:txBody>
          <a:bodyPr wrap="square" lIns="0" tIns="0" rIns="0" bIns="0" rtlCol="0" anchor="ctr"/>
          <a:lstStyle/>
          <a:p>
            <a:pPr indent="0" marL="0">
              <a:buNone/>
            </a:pPr>
            <a:r>
              <a:rPr lang="en-US" sz="1150" dirty="0">
                <a:solidFill>
                  <a:srgbClr val="64748B"/>
                </a:solidFill>
              </a:rPr>
              <a:t>La securite s appuie sur Laravel Sanctum, le middleware role, les policies et des scopes metier dedies aux techniciens.</a:t>
            </a:r>
            <a:endParaRPr lang="en-US" sz="1150" dirty="0"/>
          </a:p>
        </p:txBody>
      </p:sp>
      <p:sp>
        <p:nvSpPr>
          <p:cNvPr id="7" name="Text 5"/>
          <p:cNvSpPr/>
          <p:nvPr/>
        </p:nvSpPr>
        <p:spPr>
          <a:xfrm>
            <a:off x="548640" y="6446520"/>
            <a:ext cx="4389120" cy="182880"/>
          </a:xfrm>
          <a:prstGeom prst="rect">
            <a:avLst/>
          </a:prstGeom>
          <a:noFill/>
          <a:ln/>
        </p:spPr>
        <p:txBody>
          <a:bodyPr wrap="square" lIns="0" tIns="0" rIns="0" bIns="0" rtlCol="0" anchor="ctr"/>
          <a:lstStyle/>
          <a:p>
            <a:pPr indent="0" marL="0">
              <a:buNone/>
            </a:pPr>
            <a:r>
              <a:rPr lang="en-US" sz="850" dirty="0">
                <a:solidFill>
                  <a:srgbClr val="64748B"/>
                </a:solidFill>
              </a:rPr>
              <a:t>Analyse du code source - 10 mai 2026</a:t>
            </a:r>
            <a:endParaRPr lang="en-US" sz="850" dirty="0"/>
          </a:p>
        </p:txBody>
      </p:sp>
      <p:sp>
        <p:nvSpPr>
          <p:cNvPr id="8" name="Text 6"/>
          <p:cNvSpPr/>
          <p:nvPr/>
        </p:nvSpPr>
        <p:spPr>
          <a:xfrm>
            <a:off x="11064240" y="6419088"/>
            <a:ext cx="548640" cy="182880"/>
          </a:xfrm>
          <a:prstGeom prst="rect">
            <a:avLst/>
          </a:prstGeom>
          <a:noFill/>
          <a:ln/>
        </p:spPr>
        <p:txBody>
          <a:bodyPr wrap="square" lIns="0" tIns="0" rIns="0" bIns="0" rtlCol="0" anchor="ctr"/>
          <a:lstStyle/>
          <a:p>
            <a:pPr algn="r" indent="0" marL="0">
              <a:buNone/>
            </a:pPr>
            <a:r>
              <a:rPr lang="en-US" sz="900" b="1" dirty="0">
                <a:solidFill>
                  <a:srgbClr val="64748B"/>
                </a:solidFill>
              </a:rPr>
              <a:t>11/17</a:t>
            </a:r>
            <a:endParaRPr lang="en-US" sz="900" dirty="0"/>
          </a:p>
        </p:txBody>
      </p:sp>
      <p:sp>
        <p:nvSpPr>
          <p:cNvPr id="9" name="Shape 7"/>
          <p:cNvSpPr/>
          <p:nvPr/>
        </p:nvSpPr>
        <p:spPr>
          <a:xfrm>
            <a:off x="713232" y="1444752"/>
            <a:ext cx="1965960" cy="1097280"/>
          </a:xfrm>
          <a:prstGeom prst="roundRect">
            <a:avLst>
              <a:gd name="adj" fmla="val 8333"/>
            </a:avLst>
          </a:prstGeom>
          <a:solidFill>
            <a:srgbClr val="FFFFFF"/>
          </a:solidFill>
          <a:ln w="12700">
            <a:solidFill>
              <a:srgbClr val="CBD5E1"/>
            </a:solidFill>
            <a:prstDash val="solid"/>
          </a:ln>
        </p:spPr>
      </p:sp>
      <p:sp>
        <p:nvSpPr>
          <p:cNvPr id="10" name="Shape 8"/>
          <p:cNvSpPr/>
          <p:nvPr/>
        </p:nvSpPr>
        <p:spPr>
          <a:xfrm>
            <a:off x="877824" y="1609344"/>
            <a:ext cx="73152" cy="768096"/>
          </a:xfrm>
          <a:prstGeom prst="rect">
            <a:avLst/>
          </a:prstGeom>
          <a:solidFill>
            <a:srgbClr val="2563EB"/>
          </a:solidFill>
          <a:ln w="12700">
            <a:solidFill>
              <a:srgbClr val="2563EB">
                <a:alpha val="0"/>
              </a:srgbClr>
            </a:solidFill>
            <a:prstDash val="solid"/>
          </a:ln>
        </p:spPr>
      </p:sp>
      <p:sp>
        <p:nvSpPr>
          <p:cNvPr id="11" name="Text 9"/>
          <p:cNvSpPr/>
          <p:nvPr/>
        </p:nvSpPr>
        <p:spPr>
          <a:xfrm>
            <a:off x="1033272" y="1609344"/>
            <a:ext cx="1508760" cy="219456"/>
          </a:xfrm>
          <a:prstGeom prst="rect">
            <a:avLst/>
          </a:prstGeom>
          <a:noFill/>
          <a:ln/>
        </p:spPr>
        <p:txBody>
          <a:bodyPr wrap="square" lIns="0" tIns="0" rIns="0" bIns="0" rtlCol="0" anchor="ctr"/>
          <a:lstStyle/>
          <a:p>
            <a:pPr indent="0" marL="0">
              <a:buNone/>
            </a:pPr>
            <a:r>
              <a:rPr lang="en-US" sz="1300" b="1" dirty="0">
                <a:solidFill>
                  <a:srgbClr val="0F172A"/>
                </a:solidFill>
              </a:rPr>
              <a:t>1. Login</a:t>
            </a:r>
            <a:endParaRPr lang="en-US" sz="1300" dirty="0"/>
          </a:p>
        </p:txBody>
      </p:sp>
      <p:sp>
        <p:nvSpPr>
          <p:cNvPr id="12" name="Text 10"/>
          <p:cNvSpPr/>
          <p:nvPr/>
        </p:nvSpPr>
        <p:spPr>
          <a:xfrm>
            <a:off x="1033272" y="1920240"/>
            <a:ext cx="1554480" cy="475488"/>
          </a:xfrm>
          <a:prstGeom prst="rect">
            <a:avLst/>
          </a:prstGeom>
          <a:noFill/>
          <a:ln/>
        </p:spPr>
        <p:txBody>
          <a:bodyPr wrap="square" lIns="0" tIns="0" rIns="0" bIns="0" rtlCol="0" anchor="t"/>
          <a:lstStyle/>
          <a:p>
            <a:pPr indent="0" marL="0">
              <a:buNone/>
            </a:pPr>
            <a:r>
              <a:rPr lang="en-US" sz="1050" dirty="0">
                <a:solidFill>
                  <a:srgbClr val="64748B"/>
                </a:solidFill>
              </a:rPr>
              <a:t>• POST /api/login</a:t>
            </a:r>
            <a:endParaRPr lang="en-US" sz="1050" dirty="0"/>
          </a:p>
          <a:p>
            <a:pPr indent="0" marL="0">
              <a:buNone/>
            </a:pPr>
            <a:r>
              <a:rPr lang="en-US" sz="1050" dirty="0">
                <a:solidFill>
                  <a:srgbClr val="64748B"/>
                </a:solidFill>
              </a:rPr>
              <a:t>• identifiant ou email + password</a:t>
            </a:r>
            <a:endParaRPr lang="en-US" sz="1050" dirty="0"/>
          </a:p>
        </p:txBody>
      </p:sp>
      <p:sp>
        <p:nvSpPr>
          <p:cNvPr id="13" name="Shape 11"/>
          <p:cNvSpPr/>
          <p:nvPr/>
        </p:nvSpPr>
        <p:spPr>
          <a:xfrm>
            <a:off x="2816352" y="1444752"/>
            <a:ext cx="1965960" cy="1097280"/>
          </a:xfrm>
          <a:prstGeom prst="roundRect">
            <a:avLst>
              <a:gd name="adj" fmla="val 8333"/>
            </a:avLst>
          </a:prstGeom>
          <a:solidFill>
            <a:srgbClr val="FFFFFF"/>
          </a:solidFill>
          <a:ln w="12700">
            <a:solidFill>
              <a:srgbClr val="CBD5E1"/>
            </a:solidFill>
            <a:prstDash val="solid"/>
          </a:ln>
        </p:spPr>
      </p:sp>
      <p:sp>
        <p:nvSpPr>
          <p:cNvPr id="14" name="Shape 12"/>
          <p:cNvSpPr/>
          <p:nvPr/>
        </p:nvSpPr>
        <p:spPr>
          <a:xfrm>
            <a:off x="2980944" y="1609344"/>
            <a:ext cx="73152" cy="768096"/>
          </a:xfrm>
          <a:prstGeom prst="rect">
            <a:avLst/>
          </a:prstGeom>
          <a:solidFill>
            <a:srgbClr val="0891B2"/>
          </a:solidFill>
          <a:ln w="12700">
            <a:solidFill>
              <a:srgbClr val="0891B2">
                <a:alpha val="0"/>
              </a:srgbClr>
            </a:solidFill>
            <a:prstDash val="solid"/>
          </a:ln>
        </p:spPr>
      </p:sp>
      <p:sp>
        <p:nvSpPr>
          <p:cNvPr id="15" name="Text 13"/>
          <p:cNvSpPr/>
          <p:nvPr/>
        </p:nvSpPr>
        <p:spPr>
          <a:xfrm>
            <a:off x="3136392" y="1609344"/>
            <a:ext cx="1508760" cy="219456"/>
          </a:xfrm>
          <a:prstGeom prst="rect">
            <a:avLst/>
          </a:prstGeom>
          <a:noFill/>
          <a:ln/>
        </p:spPr>
        <p:txBody>
          <a:bodyPr wrap="square" lIns="0" tIns="0" rIns="0" bIns="0" rtlCol="0" anchor="ctr"/>
          <a:lstStyle/>
          <a:p>
            <a:pPr indent="0" marL="0">
              <a:buNone/>
            </a:pPr>
            <a:r>
              <a:rPr lang="en-US" sz="1300" b="1" dirty="0">
                <a:solidFill>
                  <a:srgbClr val="0F172A"/>
                </a:solidFill>
              </a:rPr>
              <a:t>2. Token</a:t>
            </a:r>
            <a:endParaRPr lang="en-US" sz="1300" dirty="0"/>
          </a:p>
        </p:txBody>
      </p:sp>
      <p:sp>
        <p:nvSpPr>
          <p:cNvPr id="16" name="Text 14"/>
          <p:cNvSpPr/>
          <p:nvPr/>
        </p:nvSpPr>
        <p:spPr>
          <a:xfrm>
            <a:off x="3136392" y="1920240"/>
            <a:ext cx="1554480" cy="475488"/>
          </a:xfrm>
          <a:prstGeom prst="rect">
            <a:avLst/>
          </a:prstGeom>
          <a:noFill/>
          <a:ln/>
        </p:spPr>
        <p:txBody>
          <a:bodyPr wrap="square" lIns="0" tIns="0" rIns="0" bIns="0" rtlCol="0" anchor="t"/>
          <a:lstStyle/>
          <a:p>
            <a:pPr indent="0" marL="0">
              <a:buNone/>
            </a:pPr>
            <a:r>
              <a:rPr lang="en-US" sz="1050" dirty="0">
                <a:solidFill>
                  <a:srgbClr val="64748B"/>
                </a:solidFill>
              </a:rPr>
              <a:t>• Creation d un token Sanctum</a:t>
            </a:r>
            <a:endParaRPr lang="en-US" sz="1050" dirty="0"/>
          </a:p>
          <a:p>
            <a:pPr indent="0" marL="0">
              <a:buNone/>
            </a:pPr>
            <a:r>
              <a:rPr lang="en-US" sz="1050" dirty="0">
                <a:solidFill>
                  <a:srgbClr val="64748B"/>
                </a:solidFill>
              </a:rPr>
              <a:t>• stockage local frontend</a:t>
            </a:r>
            <a:endParaRPr lang="en-US" sz="1050" dirty="0"/>
          </a:p>
        </p:txBody>
      </p:sp>
      <p:sp>
        <p:nvSpPr>
          <p:cNvPr id="17" name="Shape 15"/>
          <p:cNvSpPr/>
          <p:nvPr/>
        </p:nvSpPr>
        <p:spPr>
          <a:xfrm>
            <a:off x="4919472" y="1444752"/>
            <a:ext cx="1965960" cy="1097280"/>
          </a:xfrm>
          <a:prstGeom prst="roundRect">
            <a:avLst>
              <a:gd name="adj" fmla="val 8333"/>
            </a:avLst>
          </a:prstGeom>
          <a:solidFill>
            <a:srgbClr val="FFFFFF"/>
          </a:solidFill>
          <a:ln w="12700">
            <a:solidFill>
              <a:srgbClr val="CBD5E1"/>
            </a:solidFill>
            <a:prstDash val="solid"/>
          </a:ln>
        </p:spPr>
      </p:sp>
      <p:sp>
        <p:nvSpPr>
          <p:cNvPr id="18" name="Shape 16"/>
          <p:cNvSpPr/>
          <p:nvPr/>
        </p:nvSpPr>
        <p:spPr>
          <a:xfrm>
            <a:off x="5084064" y="1609344"/>
            <a:ext cx="73152" cy="768096"/>
          </a:xfrm>
          <a:prstGeom prst="rect">
            <a:avLst/>
          </a:prstGeom>
          <a:solidFill>
            <a:srgbClr val="D97706"/>
          </a:solidFill>
          <a:ln w="12700">
            <a:solidFill>
              <a:srgbClr val="D97706">
                <a:alpha val="0"/>
              </a:srgbClr>
            </a:solidFill>
            <a:prstDash val="solid"/>
          </a:ln>
        </p:spPr>
      </p:sp>
      <p:sp>
        <p:nvSpPr>
          <p:cNvPr id="19" name="Text 17"/>
          <p:cNvSpPr/>
          <p:nvPr/>
        </p:nvSpPr>
        <p:spPr>
          <a:xfrm>
            <a:off x="5239512" y="1609344"/>
            <a:ext cx="1508760" cy="219456"/>
          </a:xfrm>
          <a:prstGeom prst="rect">
            <a:avLst/>
          </a:prstGeom>
          <a:noFill/>
          <a:ln/>
        </p:spPr>
        <p:txBody>
          <a:bodyPr wrap="square" lIns="0" tIns="0" rIns="0" bIns="0" rtlCol="0" anchor="ctr"/>
          <a:lstStyle/>
          <a:p>
            <a:pPr indent="0" marL="0">
              <a:buNone/>
            </a:pPr>
            <a:r>
              <a:rPr lang="en-US" sz="1300" b="1" dirty="0">
                <a:solidFill>
                  <a:srgbClr val="0F172A"/>
                </a:solidFill>
              </a:rPr>
              <a:t>3. Routes</a:t>
            </a:r>
            <a:endParaRPr lang="en-US" sz="1300" dirty="0"/>
          </a:p>
        </p:txBody>
      </p:sp>
      <p:sp>
        <p:nvSpPr>
          <p:cNvPr id="20" name="Text 18"/>
          <p:cNvSpPr/>
          <p:nvPr/>
        </p:nvSpPr>
        <p:spPr>
          <a:xfrm>
            <a:off x="5239512" y="1920240"/>
            <a:ext cx="1554480" cy="475488"/>
          </a:xfrm>
          <a:prstGeom prst="rect">
            <a:avLst/>
          </a:prstGeom>
          <a:noFill/>
          <a:ln/>
        </p:spPr>
        <p:txBody>
          <a:bodyPr wrap="square" lIns="0" tIns="0" rIns="0" bIns="0" rtlCol="0" anchor="t"/>
          <a:lstStyle/>
          <a:p>
            <a:pPr indent="0" marL="0">
              <a:buNone/>
            </a:pPr>
            <a:r>
              <a:rPr lang="en-US" sz="1050" dirty="0">
                <a:solidFill>
                  <a:srgbClr val="64748B"/>
                </a:solidFill>
              </a:rPr>
              <a:t>• ProtectedRoute cote React</a:t>
            </a:r>
            <a:endParaRPr lang="en-US" sz="1050" dirty="0"/>
          </a:p>
          <a:p>
            <a:pPr indent="0" marL="0">
              <a:buNone/>
            </a:pPr>
            <a:r>
              <a:rPr lang="en-US" sz="1050" dirty="0">
                <a:solidFill>
                  <a:srgbClr val="64748B"/>
                </a:solidFill>
              </a:rPr>
              <a:t>• auth:sanctum cote API</a:t>
            </a:r>
            <a:endParaRPr lang="en-US" sz="1050" dirty="0"/>
          </a:p>
        </p:txBody>
      </p:sp>
      <p:sp>
        <p:nvSpPr>
          <p:cNvPr id="21" name="Shape 19"/>
          <p:cNvSpPr/>
          <p:nvPr/>
        </p:nvSpPr>
        <p:spPr>
          <a:xfrm>
            <a:off x="7022592" y="1444752"/>
            <a:ext cx="1965960" cy="1097280"/>
          </a:xfrm>
          <a:prstGeom prst="roundRect">
            <a:avLst>
              <a:gd name="adj" fmla="val 8333"/>
            </a:avLst>
          </a:prstGeom>
          <a:solidFill>
            <a:srgbClr val="FFFFFF"/>
          </a:solidFill>
          <a:ln w="12700">
            <a:solidFill>
              <a:srgbClr val="CBD5E1"/>
            </a:solidFill>
            <a:prstDash val="solid"/>
          </a:ln>
        </p:spPr>
      </p:sp>
      <p:sp>
        <p:nvSpPr>
          <p:cNvPr id="22" name="Shape 20"/>
          <p:cNvSpPr/>
          <p:nvPr/>
        </p:nvSpPr>
        <p:spPr>
          <a:xfrm>
            <a:off x="7187184" y="1609344"/>
            <a:ext cx="73152" cy="768096"/>
          </a:xfrm>
          <a:prstGeom prst="rect">
            <a:avLst/>
          </a:prstGeom>
          <a:solidFill>
            <a:srgbClr val="059669"/>
          </a:solidFill>
          <a:ln w="12700">
            <a:solidFill>
              <a:srgbClr val="059669">
                <a:alpha val="0"/>
              </a:srgbClr>
            </a:solidFill>
            <a:prstDash val="solid"/>
          </a:ln>
        </p:spPr>
      </p:sp>
      <p:sp>
        <p:nvSpPr>
          <p:cNvPr id="23" name="Text 21"/>
          <p:cNvSpPr/>
          <p:nvPr/>
        </p:nvSpPr>
        <p:spPr>
          <a:xfrm>
            <a:off x="7342632" y="1609344"/>
            <a:ext cx="1508760" cy="219456"/>
          </a:xfrm>
          <a:prstGeom prst="rect">
            <a:avLst/>
          </a:prstGeom>
          <a:noFill/>
          <a:ln/>
        </p:spPr>
        <p:txBody>
          <a:bodyPr wrap="square" lIns="0" tIns="0" rIns="0" bIns="0" rtlCol="0" anchor="ctr"/>
          <a:lstStyle/>
          <a:p>
            <a:pPr indent="0" marL="0">
              <a:buNone/>
            </a:pPr>
            <a:r>
              <a:rPr lang="en-US" sz="1300" b="1" dirty="0">
                <a:solidFill>
                  <a:srgbClr val="0F172A"/>
                </a:solidFill>
              </a:rPr>
              <a:t>4. Role</a:t>
            </a:r>
            <a:endParaRPr lang="en-US" sz="1300" dirty="0"/>
          </a:p>
        </p:txBody>
      </p:sp>
      <p:sp>
        <p:nvSpPr>
          <p:cNvPr id="24" name="Text 22"/>
          <p:cNvSpPr/>
          <p:nvPr/>
        </p:nvSpPr>
        <p:spPr>
          <a:xfrm>
            <a:off x="7342632" y="1920240"/>
            <a:ext cx="1554480" cy="475488"/>
          </a:xfrm>
          <a:prstGeom prst="rect">
            <a:avLst/>
          </a:prstGeom>
          <a:noFill/>
          <a:ln/>
        </p:spPr>
        <p:txBody>
          <a:bodyPr wrap="square" lIns="0" tIns="0" rIns="0" bIns="0" rtlCol="0" anchor="t"/>
          <a:lstStyle/>
          <a:p>
            <a:pPr indent="0" marL="0">
              <a:buNone/>
            </a:pPr>
            <a:r>
              <a:rPr lang="en-US" sz="1050" dirty="0">
                <a:solidFill>
                  <a:srgbClr val="64748B"/>
                </a:solidFill>
              </a:rPr>
              <a:t>• middleware role:*</a:t>
            </a:r>
            <a:endParaRPr lang="en-US" sz="1050" dirty="0"/>
          </a:p>
          <a:p>
            <a:pPr indent="0" marL="0">
              <a:buNone/>
            </a:pPr>
            <a:r>
              <a:rPr lang="en-US" sz="1050" dirty="0">
                <a:solidFill>
                  <a:srgbClr val="64748B"/>
                </a:solidFill>
              </a:rPr>
              <a:t>• policy intervention</a:t>
            </a:r>
            <a:endParaRPr lang="en-US" sz="1050" dirty="0"/>
          </a:p>
        </p:txBody>
      </p:sp>
      <p:sp>
        <p:nvSpPr>
          <p:cNvPr id="25" name="Shape 23"/>
          <p:cNvSpPr/>
          <p:nvPr/>
        </p:nvSpPr>
        <p:spPr>
          <a:xfrm>
            <a:off x="9125712" y="1444752"/>
            <a:ext cx="1965960" cy="1097280"/>
          </a:xfrm>
          <a:prstGeom prst="roundRect">
            <a:avLst>
              <a:gd name="adj" fmla="val 8333"/>
            </a:avLst>
          </a:prstGeom>
          <a:solidFill>
            <a:srgbClr val="FFFFFF"/>
          </a:solidFill>
          <a:ln w="12700">
            <a:solidFill>
              <a:srgbClr val="CBD5E1"/>
            </a:solidFill>
            <a:prstDash val="solid"/>
          </a:ln>
        </p:spPr>
      </p:sp>
      <p:sp>
        <p:nvSpPr>
          <p:cNvPr id="26" name="Shape 24"/>
          <p:cNvSpPr/>
          <p:nvPr/>
        </p:nvSpPr>
        <p:spPr>
          <a:xfrm>
            <a:off x="9290304" y="1609344"/>
            <a:ext cx="73152" cy="768096"/>
          </a:xfrm>
          <a:prstGeom prst="rect">
            <a:avLst/>
          </a:prstGeom>
          <a:solidFill>
            <a:srgbClr val="DC2626"/>
          </a:solidFill>
          <a:ln w="12700">
            <a:solidFill>
              <a:srgbClr val="DC2626">
                <a:alpha val="0"/>
              </a:srgbClr>
            </a:solidFill>
            <a:prstDash val="solid"/>
          </a:ln>
        </p:spPr>
      </p:sp>
      <p:sp>
        <p:nvSpPr>
          <p:cNvPr id="27" name="Text 25"/>
          <p:cNvSpPr/>
          <p:nvPr/>
        </p:nvSpPr>
        <p:spPr>
          <a:xfrm>
            <a:off x="9445752" y="1609344"/>
            <a:ext cx="1508760" cy="219456"/>
          </a:xfrm>
          <a:prstGeom prst="rect">
            <a:avLst/>
          </a:prstGeom>
          <a:noFill/>
          <a:ln/>
        </p:spPr>
        <p:txBody>
          <a:bodyPr wrap="square" lIns="0" tIns="0" rIns="0" bIns="0" rtlCol="0" anchor="ctr"/>
          <a:lstStyle/>
          <a:p>
            <a:pPr indent="0" marL="0">
              <a:buNone/>
            </a:pPr>
            <a:r>
              <a:rPr lang="en-US" sz="1300" b="1" dirty="0">
                <a:solidFill>
                  <a:srgbClr val="0F172A"/>
                </a:solidFill>
              </a:rPr>
              <a:t>5. Scope metier</a:t>
            </a:r>
            <a:endParaRPr lang="en-US" sz="1300" dirty="0"/>
          </a:p>
        </p:txBody>
      </p:sp>
      <p:sp>
        <p:nvSpPr>
          <p:cNvPr id="28" name="Text 26"/>
          <p:cNvSpPr/>
          <p:nvPr/>
        </p:nvSpPr>
        <p:spPr>
          <a:xfrm>
            <a:off x="9445752" y="1920240"/>
            <a:ext cx="1554480" cy="475488"/>
          </a:xfrm>
          <a:prstGeom prst="rect">
            <a:avLst/>
          </a:prstGeom>
          <a:noFill/>
          <a:ln/>
        </p:spPr>
        <p:txBody>
          <a:bodyPr wrap="square" lIns="0" tIns="0" rIns="0" bIns="0" rtlCol="0" anchor="t"/>
          <a:lstStyle/>
          <a:p>
            <a:pPr indent="0" marL="0">
              <a:buNone/>
            </a:pPr>
            <a:r>
              <a:rPr lang="en-US" sz="1050" dirty="0">
                <a:solidFill>
                  <a:srgbClr val="64748B"/>
                </a:solidFill>
              </a:rPr>
              <a:t>• OperatorAccess limite les techniciens</a:t>
            </a:r>
            <a:endParaRPr lang="en-US" sz="1050" dirty="0"/>
          </a:p>
          <a:p>
            <a:pPr indent="0" marL="0">
              <a:buNone/>
            </a:pPr>
            <a:r>
              <a:rPr lang="en-US" sz="1050" dirty="0">
                <a:solidFill>
                  <a:srgbClr val="64748B"/>
                </a:solidFill>
              </a:rPr>
              <a:t>• a leurs taches et secteurs</a:t>
            </a:r>
            <a:endParaRPr lang="en-US" sz="1050" dirty="0"/>
          </a:p>
        </p:txBody>
      </p:sp>
      <p:sp>
        <p:nvSpPr>
          <p:cNvPr id="29" name="Text 27"/>
          <p:cNvSpPr/>
          <p:nvPr/>
        </p:nvSpPr>
        <p:spPr>
          <a:xfrm>
            <a:off x="2596896" y="1792224"/>
            <a:ext cx="164592" cy="164592"/>
          </a:xfrm>
          <a:prstGeom prst="rect">
            <a:avLst/>
          </a:prstGeom>
          <a:noFill/>
          <a:ln/>
        </p:spPr>
        <p:txBody>
          <a:bodyPr wrap="square" lIns="0" tIns="0" rIns="0" bIns="0" rtlCol="0" anchor="ctr"/>
          <a:lstStyle/>
          <a:p>
            <a:pPr algn="ctr" indent="0" marL="0">
              <a:buNone/>
            </a:pPr>
            <a:r>
              <a:rPr lang="en-US" sz="1800" b="1" dirty="0">
                <a:solidFill>
                  <a:srgbClr val="2563EB"/>
                </a:solidFill>
              </a:rPr>
              <a:t>→</a:t>
            </a:r>
            <a:endParaRPr lang="en-US" sz="1800" dirty="0"/>
          </a:p>
        </p:txBody>
      </p:sp>
      <p:sp>
        <p:nvSpPr>
          <p:cNvPr id="30" name="Text 28"/>
          <p:cNvSpPr/>
          <p:nvPr/>
        </p:nvSpPr>
        <p:spPr>
          <a:xfrm>
            <a:off x="4700016" y="1792224"/>
            <a:ext cx="164592" cy="164592"/>
          </a:xfrm>
          <a:prstGeom prst="rect">
            <a:avLst/>
          </a:prstGeom>
          <a:noFill/>
          <a:ln/>
        </p:spPr>
        <p:txBody>
          <a:bodyPr wrap="square" lIns="0" tIns="0" rIns="0" bIns="0" rtlCol="0" anchor="ctr"/>
          <a:lstStyle/>
          <a:p>
            <a:pPr algn="ctr" indent="0" marL="0">
              <a:buNone/>
            </a:pPr>
            <a:r>
              <a:rPr lang="en-US" sz="1800" b="1" dirty="0">
                <a:solidFill>
                  <a:srgbClr val="2563EB"/>
                </a:solidFill>
              </a:rPr>
              <a:t>→</a:t>
            </a:r>
            <a:endParaRPr lang="en-US" sz="1800" dirty="0"/>
          </a:p>
        </p:txBody>
      </p:sp>
      <p:sp>
        <p:nvSpPr>
          <p:cNvPr id="31" name="Text 29"/>
          <p:cNvSpPr/>
          <p:nvPr/>
        </p:nvSpPr>
        <p:spPr>
          <a:xfrm>
            <a:off x="6803136" y="1792224"/>
            <a:ext cx="164592" cy="164592"/>
          </a:xfrm>
          <a:prstGeom prst="rect">
            <a:avLst/>
          </a:prstGeom>
          <a:noFill/>
          <a:ln/>
        </p:spPr>
        <p:txBody>
          <a:bodyPr wrap="square" lIns="0" tIns="0" rIns="0" bIns="0" rtlCol="0" anchor="ctr"/>
          <a:lstStyle/>
          <a:p>
            <a:pPr algn="ctr" indent="0" marL="0">
              <a:buNone/>
            </a:pPr>
            <a:r>
              <a:rPr lang="en-US" sz="1800" b="1" dirty="0">
                <a:solidFill>
                  <a:srgbClr val="2563EB"/>
                </a:solidFill>
              </a:rPr>
              <a:t>→</a:t>
            </a:r>
            <a:endParaRPr lang="en-US" sz="1800" dirty="0"/>
          </a:p>
        </p:txBody>
      </p:sp>
      <p:sp>
        <p:nvSpPr>
          <p:cNvPr id="32" name="Text 30"/>
          <p:cNvSpPr/>
          <p:nvPr/>
        </p:nvSpPr>
        <p:spPr>
          <a:xfrm>
            <a:off x="8906256" y="1792224"/>
            <a:ext cx="164592" cy="164592"/>
          </a:xfrm>
          <a:prstGeom prst="rect">
            <a:avLst/>
          </a:prstGeom>
          <a:noFill/>
          <a:ln/>
        </p:spPr>
        <p:txBody>
          <a:bodyPr wrap="square" lIns="0" tIns="0" rIns="0" bIns="0" rtlCol="0" anchor="ctr"/>
          <a:lstStyle/>
          <a:p>
            <a:pPr algn="ctr" indent="0" marL="0">
              <a:buNone/>
            </a:pPr>
            <a:r>
              <a:rPr lang="en-US" sz="1800" b="1" dirty="0">
                <a:solidFill>
                  <a:srgbClr val="2563EB"/>
                </a:solidFill>
              </a:rPr>
              <a:t>→</a:t>
            </a:r>
            <a:endParaRPr lang="en-US" sz="1800" dirty="0"/>
          </a:p>
        </p:txBody>
      </p:sp>
      <p:sp>
        <p:nvSpPr>
          <p:cNvPr id="33" name="Shape 31"/>
          <p:cNvSpPr/>
          <p:nvPr/>
        </p:nvSpPr>
        <p:spPr>
          <a:xfrm>
            <a:off x="713232" y="3063240"/>
            <a:ext cx="5349240" cy="2331720"/>
          </a:xfrm>
          <a:prstGeom prst="roundRect">
            <a:avLst>
              <a:gd name="adj" fmla="val 3922"/>
            </a:avLst>
          </a:prstGeom>
          <a:solidFill>
            <a:srgbClr val="FFFFFF"/>
          </a:solidFill>
          <a:ln w="12700">
            <a:solidFill>
              <a:srgbClr val="CBD5E1"/>
            </a:solidFill>
            <a:prstDash val="solid"/>
          </a:ln>
        </p:spPr>
      </p:sp>
      <p:sp>
        <p:nvSpPr>
          <p:cNvPr id="34" name="Shape 32"/>
          <p:cNvSpPr/>
          <p:nvPr/>
        </p:nvSpPr>
        <p:spPr>
          <a:xfrm>
            <a:off x="877824" y="3227832"/>
            <a:ext cx="73152" cy="2002536"/>
          </a:xfrm>
          <a:prstGeom prst="rect">
            <a:avLst/>
          </a:prstGeom>
          <a:solidFill>
            <a:srgbClr val="2563EB"/>
          </a:solidFill>
          <a:ln w="12700">
            <a:solidFill>
              <a:srgbClr val="2563EB">
                <a:alpha val="0"/>
              </a:srgbClr>
            </a:solidFill>
            <a:prstDash val="solid"/>
          </a:ln>
        </p:spPr>
      </p:sp>
      <p:sp>
        <p:nvSpPr>
          <p:cNvPr id="35" name="Text 33"/>
          <p:cNvSpPr/>
          <p:nvPr/>
        </p:nvSpPr>
        <p:spPr>
          <a:xfrm>
            <a:off x="1033272" y="3227832"/>
            <a:ext cx="4892040" cy="219456"/>
          </a:xfrm>
          <a:prstGeom prst="rect">
            <a:avLst/>
          </a:prstGeom>
          <a:noFill/>
          <a:ln/>
        </p:spPr>
        <p:txBody>
          <a:bodyPr wrap="square" lIns="0" tIns="0" rIns="0" bIns="0" rtlCol="0" anchor="ctr"/>
          <a:lstStyle/>
          <a:p>
            <a:pPr indent="0" marL="0">
              <a:buNone/>
            </a:pPr>
            <a:r>
              <a:rPr lang="en-US" sz="1300" b="1" dirty="0">
                <a:solidFill>
                  <a:srgbClr val="0F172A"/>
                </a:solidFill>
              </a:rPr>
              <a:t>Exemples de protections confirmees</a:t>
            </a:r>
            <a:endParaRPr lang="en-US" sz="1300" dirty="0"/>
          </a:p>
        </p:txBody>
      </p:sp>
      <p:sp>
        <p:nvSpPr>
          <p:cNvPr id="36" name="Text 34"/>
          <p:cNvSpPr/>
          <p:nvPr/>
        </p:nvSpPr>
        <p:spPr>
          <a:xfrm>
            <a:off x="1033272" y="3538728"/>
            <a:ext cx="4937760" cy="1709928"/>
          </a:xfrm>
          <a:prstGeom prst="rect">
            <a:avLst/>
          </a:prstGeom>
          <a:noFill/>
          <a:ln/>
        </p:spPr>
        <p:txBody>
          <a:bodyPr wrap="square" lIns="0" tIns="0" rIns="0" bIns="0" rtlCol="0" anchor="t"/>
          <a:lstStyle/>
          <a:p>
            <a:pPr indent="0" marL="0">
              <a:buNone/>
            </a:pPr>
            <a:r>
              <a:rPr lang="en-US" sz="1050" dirty="0">
                <a:solidFill>
                  <a:srgbClr val="64748B"/>
                </a:solidFill>
              </a:rPr>
              <a:t>• Le role developer est bloque en production.</a:t>
            </a:r>
            <a:endParaRPr lang="en-US" sz="1050" dirty="0"/>
          </a:p>
          <a:p>
            <a:pPr indent="0" marL="0">
              <a:buNone/>
            </a:pPr>
            <a:r>
              <a:rPr lang="en-US" sz="1050" dirty="0">
                <a:solidFill>
                  <a:srgbClr val="64748B"/>
                </a:solidFill>
              </a:rPr>
              <a:t>• Le technicien ne peut modifier qu une partie des donnees de panne.</a:t>
            </a:r>
            <a:endParaRPr lang="en-US" sz="1050" dirty="0"/>
          </a:p>
          <a:p>
            <a:pPr indent="0" marL="0">
              <a:buNone/>
            </a:pPr>
            <a:r>
              <a:rPr lang="en-US" sz="1050" dirty="0">
                <a:solidFill>
                  <a:srgbClr val="64748B"/>
                </a:solidFill>
              </a:rPr>
              <a:t>• Les notifications des profils non managers restent personnelles.</a:t>
            </a:r>
            <a:endParaRPr lang="en-US" sz="1050" dirty="0"/>
          </a:p>
          <a:p>
            <a:pPr indent="0" marL="0">
              <a:buNone/>
            </a:pPr>
            <a:r>
              <a:rPr lang="en-US" sz="1050" dirty="0">
                <a:solidFill>
                  <a:srgbClr val="64748B"/>
                </a:solidFill>
              </a:rPr>
              <a:t>• La creation de client verifie l appartenance du secteur a l agence de l utilisateur.</a:t>
            </a:r>
            <a:endParaRPr lang="en-US" sz="1050" dirty="0"/>
          </a:p>
        </p:txBody>
      </p:sp>
      <p:sp>
        <p:nvSpPr>
          <p:cNvPr id="37" name="Shape 35"/>
          <p:cNvSpPr/>
          <p:nvPr/>
        </p:nvSpPr>
        <p:spPr>
          <a:xfrm>
            <a:off x="6327648" y="3063240"/>
            <a:ext cx="5166360" cy="2331720"/>
          </a:xfrm>
          <a:prstGeom prst="roundRect">
            <a:avLst>
              <a:gd name="adj" fmla="val 3922"/>
            </a:avLst>
          </a:prstGeom>
          <a:solidFill>
            <a:srgbClr val="FFFFFF"/>
          </a:solidFill>
          <a:ln w="12700">
            <a:solidFill>
              <a:srgbClr val="CBD5E1"/>
            </a:solidFill>
            <a:prstDash val="solid"/>
          </a:ln>
        </p:spPr>
      </p:sp>
      <p:sp>
        <p:nvSpPr>
          <p:cNvPr id="38" name="Shape 36"/>
          <p:cNvSpPr/>
          <p:nvPr/>
        </p:nvSpPr>
        <p:spPr>
          <a:xfrm>
            <a:off x="6492240" y="3227832"/>
            <a:ext cx="73152" cy="2002536"/>
          </a:xfrm>
          <a:prstGeom prst="rect">
            <a:avLst/>
          </a:prstGeom>
          <a:solidFill>
            <a:srgbClr val="D97706"/>
          </a:solidFill>
          <a:ln w="12700">
            <a:solidFill>
              <a:srgbClr val="D97706">
                <a:alpha val="0"/>
              </a:srgbClr>
            </a:solidFill>
            <a:prstDash val="solid"/>
          </a:ln>
        </p:spPr>
      </p:sp>
      <p:sp>
        <p:nvSpPr>
          <p:cNvPr id="39" name="Text 37"/>
          <p:cNvSpPr/>
          <p:nvPr/>
        </p:nvSpPr>
        <p:spPr>
          <a:xfrm>
            <a:off x="6647688" y="3227832"/>
            <a:ext cx="4709160" cy="219456"/>
          </a:xfrm>
          <a:prstGeom prst="rect">
            <a:avLst/>
          </a:prstGeom>
          <a:noFill/>
          <a:ln/>
        </p:spPr>
        <p:txBody>
          <a:bodyPr wrap="square" lIns="0" tIns="0" rIns="0" bIns="0" rtlCol="0" anchor="ctr"/>
          <a:lstStyle/>
          <a:p>
            <a:pPr indent="0" marL="0">
              <a:buNone/>
            </a:pPr>
            <a:r>
              <a:rPr lang="en-US" sz="1300" b="1" dirty="0">
                <a:solidFill>
                  <a:srgbClr val="0F172A"/>
                </a:solidFill>
              </a:rPr>
              <a:t>Verification du projet analyse</a:t>
            </a:r>
            <a:endParaRPr lang="en-US" sz="1300" dirty="0"/>
          </a:p>
        </p:txBody>
      </p:sp>
      <p:sp>
        <p:nvSpPr>
          <p:cNvPr id="40" name="Text 38"/>
          <p:cNvSpPr/>
          <p:nvPr/>
        </p:nvSpPr>
        <p:spPr>
          <a:xfrm>
            <a:off x="6647688" y="3538728"/>
            <a:ext cx="4754880" cy="1709928"/>
          </a:xfrm>
          <a:prstGeom prst="rect">
            <a:avLst/>
          </a:prstGeom>
          <a:noFill/>
          <a:ln/>
        </p:spPr>
        <p:txBody>
          <a:bodyPr wrap="square" lIns="0" tIns="0" rIns="0" bIns="0" rtlCol="0" anchor="t"/>
          <a:lstStyle/>
          <a:p>
            <a:pPr indent="0" marL="0">
              <a:buNone/>
            </a:pPr>
            <a:r>
              <a:rPr lang="en-US" sz="1050" dirty="0">
                <a:solidFill>
                  <a:srgbClr val="64748B"/>
                </a:solidFill>
              </a:rPr>
              <a:t>• API recensee : 53 routes /api.</a:t>
            </a:r>
            <a:endParaRPr lang="en-US" sz="1050" dirty="0"/>
          </a:p>
          <a:p>
            <a:pPr indent="0" marL="0">
              <a:buNone/>
            </a:pPr>
            <a:r>
              <a:rPr lang="en-US" sz="1050" dirty="0">
                <a:solidFill>
                  <a:srgbClr val="64748B"/>
                </a:solidFill>
              </a:rPr>
              <a:t>• Tests backend executes : 15 passes.</a:t>
            </a:r>
            <a:endParaRPr lang="en-US" sz="1050" dirty="0"/>
          </a:p>
          <a:p>
            <a:pPr indent="0" marL="0">
              <a:buNone/>
            </a:pPr>
            <a:r>
              <a:rPr lang="en-US" sz="1050" dirty="0">
                <a:solidFill>
                  <a:srgbClr val="64748B"/>
                </a:solidFill>
              </a:rPr>
              <a:t>• Build frontend production execute avec succes.</a:t>
            </a:r>
            <a:endParaRPr lang="en-US" sz="1050" dirty="0"/>
          </a:p>
          <a:p>
            <a:pPr indent="0" marL="0">
              <a:buNone/>
            </a:pPr>
            <a:r>
              <a:rPr lang="en-US" sz="1050" dirty="0">
                <a:solidFill>
                  <a:srgbClr val="64748B"/>
                </a:solidFill>
              </a:rPr>
              <a:t>• Notifications frontend rafraichies par polling toutes les 30 secondes.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563EB"/>
          </a:solidFill>
          <a:ln w="12700">
            <a:solidFill>
              <a:srgbClr val="2563EB">
                <a:alpha val="0"/>
              </a:srgbClr>
            </a:solidFill>
            <a:prstDash val="solid"/>
          </a:ln>
        </p:spPr>
      </p:sp>
      <p:sp>
        <p:nvSpPr>
          <p:cNvPr id="3" name="Shape 1"/>
          <p:cNvSpPr/>
          <p:nvPr/>
        </p:nvSpPr>
        <p:spPr>
          <a:xfrm>
            <a:off x="9738360" y="310896"/>
            <a:ext cx="1874520" cy="310896"/>
          </a:xfrm>
          <a:prstGeom prst="roundRect">
            <a:avLst>
              <a:gd name="adj" fmla="val 23529"/>
            </a:avLst>
          </a:prstGeom>
          <a:solidFill>
            <a:srgbClr val="DBEAFE"/>
          </a:solidFill>
          <a:ln w="12700">
            <a:solidFill>
              <a:srgbClr val="DBEAFE">
                <a:alpha val="0"/>
              </a:srgbClr>
            </a:solidFill>
            <a:prstDash val="solid"/>
          </a:ln>
        </p:spPr>
      </p:sp>
      <p:sp>
        <p:nvSpPr>
          <p:cNvPr id="4" name="Text 2"/>
          <p:cNvSpPr/>
          <p:nvPr/>
        </p:nvSpPr>
        <p:spPr>
          <a:xfrm>
            <a:off x="9893808" y="374904"/>
            <a:ext cx="1554480" cy="164592"/>
          </a:xfrm>
          <a:prstGeom prst="rect">
            <a:avLst/>
          </a:prstGeom>
          <a:noFill/>
          <a:ln/>
        </p:spPr>
        <p:txBody>
          <a:bodyPr wrap="square" lIns="0" tIns="0" rIns="0" bIns="0" rtlCol="0" anchor="ctr"/>
          <a:lstStyle/>
          <a:p>
            <a:pPr algn="ctr" indent="0" marL="0">
              <a:buNone/>
            </a:pPr>
            <a:r>
              <a:rPr lang="en-US" sz="850" b="1" dirty="0">
                <a:solidFill>
                  <a:srgbClr val="2563EB"/>
                </a:solidFill>
              </a:rPr>
              <a:t>REALISATION</a:t>
            </a:r>
            <a:endParaRPr lang="en-US" sz="850" dirty="0"/>
          </a:p>
        </p:txBody>
      </p:sp>
      <p:sp>
        <p:nvSpPr>
          <p:cNvPr id="5" name="Text 3"/>
          <p:cNvSpPr/>
          <p:nvPr/>
        </p:nvSpPr>
        <p:spPr>
          <a:xfrm>
            <a:off x="548640" y="329184"/>
            <a:ext cx="7498080" cy="411480"/>
          </a:xfrm>
          <a:prstGeom prst="rect">
            <a:avLst/>
          </a:prstGeom>
          <a:noFill/>
          <a:ln/>
        </p:spPr>
        <p:txBody>
          <a:bodyPr wrap="square" lIns="0" tIns="0" rIns="0" bIns="0" rtlCol="0" anchor="ctr"/>
          <a:lstStyle/>
          <a:p>
            <a:pPr indent="0" marL="0">
              <a:buNone/>
            </a:pPr>
            <a:r>
              <a:rPr lang="en-US" sz="2400" b="1" dirty="0">
                <a:solidFill>
                  <a:srgbClr val="0F172A"/>
                </a:solidFill>
              </a:rPr>
              <a:t>Interfaces principales realisees</a:t>
            </a:r>
            <a:endParaRPr lang="en-US" sz="2400" dirty="0"/>
          </a:p>
        </p:txBody>
      </p:sp>
      <p:sp>
        <p:nvSpPr>
          <p:cNvPr id="6" name="Text 4"/>
          <p:cNvSpPr/>
          <p:nvPr/>
        </p:nvSpPr>
        <p:spPr>
          <a:xfrm>
            <a:off x="566928" y="768096"/>
            <a:ext cx="7863840" cy="329184"/>
          </a:xfrm>
          <a:prstGeom prst="rect">
            <a:avLst/>
          </a:prstGeom>
          <a:noFill/>
          <a:ln/>
        </p:spPr>
        <p:txBody>
          <a:bodyPr wrap="square" lIns="0" tIns="0" rIns="0" bIns="0" rtlCol="0" anchor="ctr"/>
          <a:lstStyle/>
          <a:p>
            <a:pPr indent="0" marL="0">
              <a:buNone/>
            </a:pPr>
            <a:r>
              <a:rPr lang="en-US" sz="1150" dirty="0">
                <a:solidFill>
                  <a:srgbClr val="64748B"/>
                </a:solidFill>
              </a:rPr>
              <a:t>Des emplacements de captures sont prevus pour la version finale de soutenance.</a:t>
            </a:r>
            <a:endParaRPr lang="en-US" sz="1150" dirty="0"/>
          </a:p>
        </p:txBody>
      </p:sp>
      <p:sp>
        <p:nvSpPr>
          <p:cNvPr id="7" name="Text 5"/>
          <p:cNvSpPr/>
          <p:nvPr/>
        </p:nvSpPr>
        <p:spPr>
          <a:xfrm>
            <a:off x="548640" y="6446520"/>
            <a:ext cx="4389120" cy="182880"/>
          </a:xfrm>
          <a:prstGeom prst="rect">
            <a:avLst/>
          </a:prstGeom>
          <a:noFill/>
          <a:ln/>
        </p:spPr>
        <p:txBody>
          <a:bodyPr wrap="square" lIns="0" tIns="0" rIns="0" bIns="0" rtlCol="0" anchor="ctr"/>
          <a:lstStyle/>
          <a:p>
            <a:pPr indent="0" marL="0">
              <a:buNone/>
            </a:pPr>
            <a:r>
              <a:rPr lang="en-US" sz="850" dirty="0">
                <a:solidFill>
                  <a:srgbClr val="64748B"/>
                </a:solidFill>
              </a:rPr>
              <a:t>Analyse du code source - 10 mai 2026</a:t>
            </a:r>
            <a:endParaRPr lang="en-US" sz="850" dirty="0"/>
          </a:p>
        </p:txBody>
      </p:sp>
      <p:sp>
        <p:nvSpPr>
          <p:cNvPr id="8" name="Text 6"/>
          <p:cNvSpPr/>
          <p:nvPr/>
        </p:nvSpPr>
        <p:spPr>
          <a:xfrm>
            <a:off x="11064240" y="6419088"/>
            <a:ext cx="548640" cy="182880"/>
          </a:xfrm>
          <a:prstGeom prst="rect">
            <a:avLst/>
          </a:prstGeom>
          <a:noFill/>
          <a:ln/>
        </p:spPr>
        <p:txBody>
          <a:bodyPr wrap="square" lIns="0" tIns="0" rIns="0" bIns="0" rtlCol="0" anchor="ctr"/>
          <a:lstStyle/>
          <a:p>
            <a:pPr algn="r" indent="0" marL="0">
              <a:buNone/>
            </a:pPr>
            <a:r>
              <a:rPr lang="en-US" sz="900" b="1" dirty="0">
                <a:solidFill>
                  <a:srgbClr val="64748B"/>
                </a:solidFill>
              </a:rPr>
              <a:t>12/17</a:t>
            </a:r>
            <a:endParaRPr lang="en-US" sz="900" dirty="0"/>
          </a:p>
        </p:txBody>
      </p:sp>
      <p:sp>
        <p:nvSpPr>
          <p:cNvPr id="9" name="Shape 7"/>
          <p:cNvSpPr/>
          <p:nvPr/>
        </p:nvSpPr>
        <p:spPr>
          <a:xfrm>
            <a:off x="685800" y="1417320"/>
            <a:ext cx="2606040" cy="2103120"/>
          </a:xfrm>
          <a:prstGeom prst="roundRect">
            <a:avLst>
              <a:gd name="adj" fmla="val 3478"/>
            </a:avLst>
          </a:prstGeom>
          <a:solidFill>
            <a:srgbClr val="FFFFFF"/>
          </a:solidFill>
          <a:ln w="12700">
            <a:solidFill>
              <a:srgbClr val="CBD5E1"/>
            </a:solidFill>
            <a:prstDash val="solid"/>
          </a:ln>
        </p:spPr>
      </p:sp>
      <p:sp>
        <p:nvSpPr>
          <p:cNvPr id="10" name="Shape 8"/>
          <p:cNvSpPr/>
          <p:nvPr/>
        </p:nvSpPr>
        <p:spPr>
          <a:xfrm>
            <a:off x="685800" y="1417320"/>
            <a:ext cx="2606040" cy="256032"/>
          </a:xfrm>
          <a:prstGeom prst="rect">
            <a:avLst/>
          </a:prstGeom>
          <a:solidFill>
            <a:srgbClr val="2563EB"/>
          </a:solidFill>
          <a:ln w="12700">
            <a:solidFill>
              <a:srgbClr val="2563EB">
                <a:alpha val="0"/>
              </a:srgbClr>
            </a:solidFill>
            <a:prstDash val="solid"/>
          </a:ln>
        </p:spPr>
      </p:sp>
      <p:sp>
        <p:nvSpPr>
          <p:cNvPr id="11" name="Text 9"/>
          <p:cNvSpPr/>
          <p:nvPr/>
        </p:nvSpPr>
        <p:spPr>
          <a:xfrm>
            <a:off x="850392" y="1801368"/>
            <a:ext cx="2276856" cy="219456"/>
          </a:xfrm>
          <a:prstGeom prst="rect">
            <a:avLst/>
          </a:prstGeom>
          <a:noFill/>
          <a:ln/>
        </p:spPr>
        <p:txBody>
          <a:bodyPr wrap="square" lIns="0" tIns="0" rIns="0" bIns="0" rtlCol="0" anchor="ctr"/>
          <a:lstStyle/>
          <a:p>
            <a:pPr algn="ctr" indent="0" marL="0">
              <a:buNone/>
            </a:pPr>
            <a:r>
              <a:rPr lang="en-US" sz="1250" b="1" dirty="0">
                <a:solidFill>
                  <a:srgbClr val="0F172A"/>
                </a:solidFill>
              </a:rPr>
              <a:t>Connexion</a:t>
            </a:r>
            <a:endParaRPr lang="en-US" sz="1250" dirty="0"/>
          </a:p>
        </p:txBody>
      </p:sp>
      <p:sp>
        <p:nvSpPr>
          <p:cNvPr id="12" name="Text 10"/>
          <p:cNvSpPr/>
          <p:nvPr/>
        </p:nvSpPr>
        <p:spPr>
          <a:xfrm>
            <a:off x="850392" y="2295144"/>
            <a:ext cx="2276856" cy="201168"/>
          </a:xfrm>
          <a:prstGeom prst="rect">
            <a:avLst/>
          </a:prstGeom>
          <a:noFill/>
          <a:ln/>
        </p:spPr>
        <p:txBody>
          <a:bodyPr wrap="square" lIns="0" tIns="0" rIns="0" bIns="0" rtlCol="0" anchor="ctr"/>
          <a:lstStyle/>
          <a:p>
            <a:pPr algn="ctr" indent="0" marL="0">
              <a:buNone/>
            </a:pPr>
            <a:r>
              <a:rPr lang="en-US" sz="1000" i="1" dirty="0">
                <a:solidFill>
                  <a:srgbClr val="64748B"/>
                </a:solidFill>
              </a:rPr>
              <a:t>Capture réelle à insérer</a:t>
            </a:r>
            <a:endParaRPr lang="en-US" sz="1000" dirty="0"/>
          </a:p>
        </p:txBody>
      </p:sp>
      <p:sp>
        <p:nvSpPr>
          <p:cNvPr id="13" name="Text 11"/>
          <p:cNvSpPr/>
          <p:nvPr/>
        </p:nvSpPr>
        <p:spPr>
          <a:xfrm>
            <a:off x="850392" y="2880360"/>
            <a:ext cx="2276856" cy="384048"/>
          </a:xfrm>
          <a:prstGeom prst="rect">
            <a:avLst/>
          </a:prstGeom>
          <a:noFill/>
          <a:ln/>
        </p:spPr>
        <p:txBody>
          <a:bodyPr wrap="square" lIns="0" tIns="0" rIns="0" bIns="0" rtlCol="0" anchor="ctr"/>
          <a:lstStyle/>
          <a:p>
            <a:pPr algn="ctr" indent="0" marL="0">
              <a:buNone/>
            </a:pPr>
            <a:r>
              <a:rPr lang="en-US" sz="950" dirty="0">
                <a:solidFill>
                  <a:srgbClr val="64748B"/>
                </a:solidFill>
              </a:rPr>
              <a:t>Login.jsx - identifiant/email, mot de passe, redirection selon le role</a:t>
            </a:r>
            <a:endParaRPr lang="en-US" sz="950" dirty="0"/>
          </a:p>
        </p:txBody>
      </p:sp>
      <p:sp>
        <p:nvSpPr>
          <p:cNvPr id="14" name="Shape 12"/>
          <p:cNvSpPr/>
          <p:nvPr/>
        </p:nvSpPr>
        <p:spPr>
          <a:xfrm>
            <a:off x="3566160" y="1417320"/>
            <a:ext cx="2606040" cy="2103120"/>
          </a:xfrm>
          <a:prstGeom prst="roundRect">
            <a:avLst>
              <a:gd name="adj" fmla="val 3478"/>
            </a:avLst>
          </a:prstGeom>
          <a:solidFill>
            <a:srgbClr val="FFFFFF"/>
          </a:solidFill>
          <a:ln w="12700">
            <a:solidFill>
              <a:srgbClr val="CBD5E1"/>
            </a:solidFill>
            <a:prstDash val="solid"/>
          </a:ln>
        </p:spPr>
      </p:sp>
      <p:sp>
        <p:nvSpPr>
          <p:cNvPr id="15" name="Shape 13"/>
          <p:cNvSpPr/>
          <p:nvPr/>
        </p:nvSpPr>
        <p:spPr>
          <a:xfrm>
            <a:off x="3566160" y="1417320"/>
            <a:ext cx="2606040" cy="256032"/>
          </a:xfrm>
          <a:prstGeom prst="rect">
            <a:avLst/>
          </a:prstGeom>
          <a:solidFill>
            <a:srgbClr val="0891B2"/>
          </a:solidFill>
          <a:ln w="12700">
            <a:solidFill>
              <a:srgbClr val="0891B2">
                <a:alpha val="0"/>
              </a:srgbClr>
            </a:solidFill>
            <a:prstDash val="solid"/>
          </a:ln>
        </p:spPr>
      </p:sp>
      <p:sp>
        <p:nvSpPr>
          <p:cNvPr id="16" name="Text 14"/>
          <p:cNvSpPr/>
          <p:nvPr/>
        </p:nvSpPr>
        <p:spPr>
          <a:xfrm>
            <a:off x="3730752" y="1801368"/>
            <a:ext cx="2276856" cy="219456"/>
          </a:xfrm>
          <a:prstGeom prst="rect">
            <a:avLst/>
          </a:prstGeom>
          <a:noFill/>
          <a:ln/>
        </p:spPr>
        <p:txBody>
          <a:bodyPr wrap="square" lIns="0" tIns="0" rIns="0" bIns="0" rtlCol="0" anchor="ctr"/>
          <a:lstStyle/>
          <a:p>
            <a:pPr algn="ctr" indent="0" marL="0">
              <a:buNone/>
            </a:pPr>
            <a:r>
              <a:rPr lang="en-US" sz="1250" b="1" dirty="0">
                <a:solidFill>
                  <a:srgbClr val="0F172A"/>
                </a:solidFill>
              </a:rPr>
              <a:t>Dashboard</a:t>
            </a:r>
            <a:endParaRPr lang="en-US" sz="1250" dirty="0"/>
          </a:p>
        </p:txBody>
      </p:sp>
      <p:sp>
        <p:nvSpPr>
          <p:cNvPr id="17" name="Text 15"/>
          <p:cNvSpPr/>
          <p:nvPr/>
        </p:nvSpPr>
        <p:spPr>
          <a:xfrm>
            <a:off x="3730752" y="2295144"/>
            <a:ext cx="2276856" cy="201168"/>
          </a:xfrm>
          <a:prstGeom prst="rect">
            <a:avLst/>
          </a:prstGeom>
          <a:noFill/>
          <a:ln/>
        </p:spPr>
        <p:txBody>
          <a:bodyPr wrap="square" lIns="0" tIns="0" rIns="0" bIns="0" rtlCol="0" anchor="ctr"/>
          <a:lstStyle/>
          <a:p>
            <a:pPr algn="ctr" indent="0" marL="0">
              <a:buNone/>
            </a:pPr>
            <a:r>
              <a:rPr lang="en-US" sz="1000" i="1" dirty="0">
                <a:solidFill>
                  <a:srgbClr val="64748B"/>
                </a:solidFill>
              </a:rPr>
              <a:t>Capture réelle à insérer</a:t>
            </a:r>
            <a:endParaRPr lang="en-US" sz="1000" dirty="0"/>
          </a:p>
        </p:txBody>
      </p:sp>
      <p:sp>
        <p:nvSpPr>
          <p:cNvPr id="18" name="Text 16"/>
          <p:cNvSpPr/>
          <p:nvPr/>
        </p:nvSpPr>
        <p:spPr>
          <a:xfrm>
            <a:off x="3730752" y="2880360"/>
            <a:ext cx="2276856" cy="384048"/>
          </a:xfrm>
          <a:prstGeom prst="rect">
            <a:avLst/>
          </a:prstGeom>
          <a:noFill/>
          <a:ln/>
        </p:spPr>
        <p:txBody>
          <a:bodyPr wrap="square" lIns="0" tIns="0" rIns="0" bIns="0" rtlCol="0" anchor="ctr"/>
          <a:lstStyle/>
          <a:p>
            <a:pPr algn="ctr" indent="0" marL="0">
              <a:buNone/>
            </a:pPr>
            <a:r>
              <a:rPr lang="en-US" sz="950" dirty="0">
                <a:solidFill>
                  <a:srgbClr val="64748B"/>
                </a:solidFill>
              </a:rPr>
              <a:t>Dashboards differencies : responsable, manager, technicien, lecteur</a:t>
            </a:r>
            <a:endParaRPr lang="en-US" sz="950" dirty="0"/>
          </a:p>
        </p:txBody>
      </p:sp>
      <p:sp>
        <p:nvSpPr>
          <p:cNvPr id="19" name="Shape 17"/>
          <p:cNvSpPr/>
          <p:nvPr/>
        </p:nvSpPr>
        <p:spPr>
          <a:xfrm>
            <a:off x="6446520" y="1417320"/>
            <a:ext cx="2606040" cy="2103120"/>
          </a:xfrm>
          <a:prstGeom prst="roundRect">
            <a:avLst>
              <a:gd name="adj" fmla="val 3478"/>
            </a:avLst>
          </a:prstGeom>
          <a:solidFill>
            <a:srgbClr val="FFFFFF"/>
          </a:solidFill>
          <a:ln w="12700">
            <a:solidFill>
              <a:srgbClr val="CBD5E1"/>
            </a:solidFill>
            <a:prstDash val="solid"/>
          </a:ln>
        </p:spPr>
      </p:sp>
      <p:sp>
        <p:nvSpPr>
          <p:cNvPr id="20" name="Shape 18"/>
          <p:cNvSpPr/>
          <p:nvPr/>
        </p:nvSpPr>
        <p:spPr>
          <a:xfrm>
            <a:off x="6446520" y="1417320"/>
            <a:ext cx="2606040" cy="256032"/>
          </a:xfrm>
          <a:prstGeom prst="rect">
            <a:avLst/>
          </a:prstGeom>
          <a:solidFill>
            <a:srgbClr val="D97706"/>
          </a:solidFill>
          <a:ln w="12700">
            <a:solidFill>
              <a:srgbClr val="D97706">
                <a:alpha val="0"/>
              </a:srgbClr>
            </a:solidFill>
            <a:prstDash val="solid"/>
          </a:ln>
        </p:spPr>
      </p:sp>
      <p:sp>
        <p:nvSpPr>
          <p:cNvPr id="21" name="Text 19"/>
          <p:cNvSpPr/>
          <p:nvPr/>
        </p:nvSpPr>
        <p:spPr>
          <a:xfrm>
            <a:off x="6611112" y="1801368"/>
            <a:ext cx="2276856" cy="219456"/>
          </a:xfrm>
          <a:prstGeom prst="rect">
            <a:avLst/>
          </a:prstGeom>
          <a:noFill/>
          <a:ln/>
        </p:spPr>
        <p:txBody>
          <a:bodyPr wrap="square" lIns="0" tIns="0" rIns="0" bIns="0" rtlCol="0" anchor="ctr"/>
          <a:lstStyle/>
          <a:p>
            <a:pPr algn="ctr" indent="0" marL="0">
              <a:buNone/>
            </a:pPr>
            <a:r>
              <a:rPr lang="en-US" sz="1250" b="1" dirty="0">
                <a:solidFill>
                  <a:srgbClr val="0F172A"/>
                </a:solidFill>
              </a:rPr>
              <a:t>Clients / Compteurs / Secteurs</a:t>
            </a:r>
            <a:endParaRPr lang="en-US" sz="1250" dirty="0"/>
          </a:p>
        </p:txBody>
      </p:sp>
      <p:sp>
        <p:nvSpPr>
          <p:cNvPr id="22" name="Text 20"/>
          <p:cNvSpPr/>
          <p:nvPr/>
        </p:nvSpPr>
        <p:spPr>
          <a:xfrm>
            <a:off x="6611112" y="2295144"/>
            <a:ext cx="2276856" cy="201168"/>
          </a:xfrm>
          <a:prstGeom prst="rect">
            <a:avLst/>
          </a:prstGeom>
          <a:noFill/>
          <a:ln/>
        </p:spPr>
        <p:txBody>
          <a:bodyPr wrap="square" lIns="0" tIns="0" rIns="0" bIns="0" rtlCol="0" anchor="ctr"/>
          <a:lstStyle/>
          <a:p>
            <a:pPr algn="ctr" indent="0" marL="0">
              <a:buNone/>
            </a:pPr>
            <a:r>
              <a:rPr lang="en-US" sz="1000" i="1" dirty="0">
                <a:solidFill>
                  <a:srgbClr val="64748B"/>
                </a:solidFill>
              </a:rPr>
              <a:t>Capture réelle à insérer</a:t>
            </a:r>
            <a:endParaRPr lang="en-US" sz="1000" dirty="0"/>
          </a:p>
        </p:txBody>
      </p:sp>
      <p:sp>
        <p:nvSpPr>
          <p:cNvPr id="23" name="Text 21"/>
          <p:cNvSpPr/>
          <p:nvPr/>
        </p:nvSpPr>
        <p:spPr>
          <a:xfrm>
            <a:off x="6611112" y="2880360"/>
            <a:ext cx="2276856" cy="384048"/>
          </a:xfrm>
          <a:prstGeom prst="rect">
            <a:avLst/>
          </a:prstGeom>
          <a:noFill/>
          <a:ln/>
        </p:spPr>
        <p:txBody>
          <a:bodyPr wrap="square" lIns="0" tIns="0" rIns="0" bIns="0" rtlCol="0" anchor="ctr"/>
          <a:lstStyle/>
          <a:p>
            <a:pPr algn="ctr" indent="0" marL="0">
              <a:buNone/>
            </a:pPr>
            <a:r>
              <a:rPr lang="en-US" sz="950" dirty="0">
                <a:solidFill>
                  <a:srgbClr val="64748B"/>
                </a:solidFill>
              </a:rPr>
              <a:t>DataTable + EntityFormModal pour la gestion des references</a:t>
            </a:r>
            <a:endParaRPr lang="en-US" sz="950" dirty="0"/>
          </a:p>
        </p:txBody>
      </p:sp>
      <p:sp>
        <p:nvSpPr>
          <p:cNvPr id="24" name="Shape 22"/>
          <p:cNvSpPr/>
          <p:nvPr/>
        </p:nvSpPr>
        <p:spPr>
          <a:xfrm>
            <a:off x="9326880" y="1417320"/>
            <a:ext cx="2148840" cy="2103120"/>
          </a:xfrm>
          <a:prstGeom prst="roundRect">
            <a:avLst>
              <a:gd name="adj" fmla="val 3478"/>
            </a:avLst>
          </a:prstGeom>
          <a:solidFill>
            <a:srgbClr val="FFFFFF"/>
          </a:solidFill>
          <a:ln w="12700">
            <a:solidFill>
              <a:srgbClr val="CBD5E1"/>
            </a:solidFill>
            <a:prstDash val="solid"/>
          </a:ln>
        </p:spPr>
      </p:sp>
      <p:sp>
        <p:nvSpPr>
          <p:cNvPr id="25" name="Shape 23"/>
          <p:cNvSpPr/>
          <p:nvPr/>
        </p:nvSpPr>
        <p:spPr>
          <a:xfrm>
            <a:off x="9326880" y="1417320"/>
            <a:ext cx="2148840" cy="256032"/>
          </a:xfrm>
          <a:prstGeom prst="rect">
            <a:avLst/>
          </a:prstGeom>
          <a:solidFill>
            <a:srgbClr val="DC2626"/>
          </a:solidFill>
          <a:ln w="12700">
            <a:solidFill>
              <a:srgbClr val="DC2626">
                <a:alpha val="0"/>
              </a:srgbClr>
            </a:solidFill>
            <a:prstDash val="solid"/>
          </a:ln>
        </p:spPr>
      </p:sp>
      <p:sp>
        <p:nvSpPr>
          <p:cNvPr id="26" name="Text 24"/>
          <p:cNvSpPr/>
          <p:nvPr/>
        </p:nvSpPr>
        <p:spPr>
          <a:xfrm>
            <a:off x="9491472" y="1801368"/>
            <a:ext cx="1819656" cy="219456"/>
          </a:xfrm>
          <a:prstGeom prst="rect">
            <a:avLst/>
          </a:prstGeom>
          <a:noFill/>
          <a:ln/>
        </p:spPr>
        <p:txBody>
          <a:bodyPr wrap="square" lIns="0" tIns="0" rIns="0" bIns="0" rtlCol="0" anchor="ctr"/>
          <a:lstStyle/>
          <a:p>
            <a:pPr algn="ctr" indent="0" marL="0">
              <a:buNone/>
            </a:pPr>
            <a:r>
              <a:rPr lang="en-US" sz="1250" b="1" dirty="0">
                <a:solidFill>
                  <a:srgbClr val="0F172A"/>
                </a:solidFill>
              </a:rPr>
              <a:t>Pannes</a:t>
            </a:r>
            <a:endParaRPr lang="en-US" sz="1250" dirty="0"/>
          </a:p>
        </p:txBody>
      </p:sp>
      <p:sp>
        <p:nvSpPr>
          <p:cNvPr id="27" name="Text 25"/>
          <p:cNvSpPr/>
          <p:nvPr/>
        </p:nvSpPr>
        <p:spPr>
          <a:xfrm>
            <a:off x="9491472" y="2295144"/>
            <a:ext cx="1819656" cy="201168"/>
          </a:xfrm>
          <a:prstGeom prst="rect">
            <a:avLst/>
          </a:prstGeom>
          <a:noFill/>
          <a:ln/>
        </p:spPr>
        <p:txBody>
          <a:bodyPr wrap="square" lIns="0" tIns="0" rIns="0" bIns="0" rtlCol="0" anchor="ctr"/>
          <a:lstStyle/>
          <a:p>
            <a:pPr algn="ctr" indent="0" marL="0">
              <a:buNone/>
            </a:pPr>
            <a:r>
              <a:rPr lang="en-US" sz="1000" i="1" dirty="0">
                <a:solidFill>
                  <a:srgbClr val="64748B"/>
                </a:solidFill>
              </a:rPr>
              <a:t>Capture réelle à insérer</a:t>
            </a:r>
            <a:endParaRPr lang="en-US" sz="1000" dirty="0"/>
          </a:p>
        </p:txBody>
      </p:sp>
      <p:sp>
        <p:nvSpPr>
          <p:cNvPr id="28" name="Text 26"/>
          <p:cNvSpPr/>
          <p:nvPr/>
        </p:nvSpPr>
        <p:spPr>
          <a:xfrm>
            <a:off x="9491472" y="2880360"/>
            <a:ext cx="1819656" cy="384048"/>
          </a:xfrm>
          <a:prstGeom prst="rect">
            <a:avLst/>
          </a:prstGeom>
          <a:noFill/>
          <a:ln/>
        </p:spPr>
        <p:txBody>
          <a:bodyPr wrap="square" lIns="0" tIns="0" rIns="0" bIns="0" rtlCol="0" anchor="ctr"/>
          <a:lstStyle/>
          <a:p>
            <a:pPr algn="ctr" indent="0" marL="0">
              <a:buNone/>
            </a:pPr>
            <a:r>
              <a:rPr lang="en-US" sz="950" dirty="0">
                <a:solidFill>
                  <a:srgbClr val="64748B"/>
                </a:solidFill>
              </a:rPr>
              <a:t>Filtrage par statut, secteur et technicien, lien vers les reparations</a:t>
            </a:r>
            <a:endParaRPr lang="en-US" sz="950" dirty="0"/>
          </a:p>
        </p:txBody>
      </p:sp>
      <p:sp>
        <p:nvSpPr>
          <p:cNvPr id="29" name="Shape 27"/>
          <p:cNvSpPr/>
          <p:nvPr/>
        </p:nvSpPr>
        <p:spPr>
          <a:xfrm>
            <a:off x="685800" y="3886200"/>
            <a:ext cx="5166360" cy="1554480"/>
          </a:xfrm>
          <a:prstGeom prst="roundRect">
            <a:avLst>
              <a:gd name="adj" fmla="val 5882"/>
            </a:avLst>
          </a:prstGeom>
          <a:solidFill>
            <a:srgbClr val="FFFFFF"/>
          </a:solidFill>
          <a:ln w="12700">
            <a:solidFill>
              <a:srgbClr val="CBD5E1"/>
            </a:solidFill>
            <a:prstDash val="solid"/>
          </a:ln>
        </p:spPr>
      </p:sp>
      <p:sp>
        <p:nvSpPr>
          <p:cNvPr id="30" name="Shape 28"/>
          <p:cNvSpPr/>
          <p:nvPr/>
        </p:nvSpPr>
        <p:spPr>
          <a:xfrm>
            <a:off x="850392" y="4050792"/>
            <a:ext cx="73152" cy="1225296"/>
          </a:xfrm>
          <a:prstGeom prst="rect">
            <a:avLst/>
          </a:prstGeom>
          <a:solidFill>
            <a:srgbClr val="2563EB"/>
          </a:solidFill>
          <a:ln w="12700">
            <a:solidFill>
              <a:srgbClr val="2563EB">
                <a:alpha val="0"/>
              </a:srgbClr>
            </a:solidFill>
            <a:prstDash val="solid"/>
          </a:ln>
        </p:spPr>
      </p:sp>
      <p:sp>
        <p:nvSpPr>
          <p:cNvPr id="31" name="Text 29"/>
          <p:cNvSpPr/>
          <p:nvPr/>
        </p:nvSpPr>
        <p:spPr>
          <a:xfrm>
            <a:off x="1005840" y="4050792"/>
            <a:ext cx="4709160" cy="219456"/>
          </a:xfrm>
          <a:prstGeom prst="rect">
            <a:avLst/>
          </a:prstGeom>
          <a:noFill/>
          <a:ln/>
        </p:spPr>
        <p:txBody>
          <a:bodyPr wrap="square" lIns="0" tIns="0" rIns="0" bIns="0" rtlCol="0" anchor="ctr"/>
          <a:lstStyle/>
          <a:p>
            <a:pPr indent="0" marL="0">
              <a:buNone/>
            </a:pPr>
            <a:r>
              <a:rPr lang="en-US" sz="1300" b="1" dirty="0">
                <a:solidFill>
                  <a:srgbClr val="0F172A"/>
                </a:solidFill>
              </a:rPr>
              <a:t>Logique UI commune</a:t>
            </a:r>
            <a:endParaRPr lang="en-US" sz="1300" dirty="0"/>
          </a:p>
        </p:txBody>
      </p:sp>
      <p:sp>
        <p:nvSpPr>
          <p:cNvPr id="32" name="Text 30"/>
          <p:cNvSpPr/>
          <p:nvPr/>
        </p:nvSpPr>
        <p:spPr>
          <a:xfrm>
            <a:off x="1005840" y="4361688"/>
            <a:ext cx="4754880" cy="932688"/>
          </a:xfrm>
          <a:prstGeom prst="rect">
            <a:avLst/>
          </a:prstGeom>
          <a:noFill/>
          <a:ln/>
        </p:spPr>
        <p:txBody>
          <a:bodyPr wrap="square" lIns="0" tIns="0" rIns="0" bIns="0" rtlCol="0" anchor="t"/>
          <a:lstStyle/>
          <a:p>
            <a:pPr indent="0" marL="0">
              <a:buNone/>
            </a:pPr>
            <a:r>
              <a:rPr lang="en-US" sz="1050" dirty="0">
                <a:solidFill>
                  <a:srgbClr val="64748B"/>
                </a:solidFill>
              </a:rPr>
              <a:t>• Composants reutilisables : DataTable, EntityFormModal, Modal, Badge, ConfirmDialog.</a:t>
            </a:r>
            <a:endParaRPr lang="en-US" sz="1050" dirty="0"/>
          </a:p>
          <a:p>
            <a:pPr indent="0" marL="0">
              <a:buNone/>
            </a:pPr>
            <a:r>
              <a:rPr lang="en-US" sz="1050" dirty="0">
                <a:solidFill>
                  <a:srgbClr val="64748B"/>
                </a:solidFill>
              </a:rPr>
              <a:t>• Hook useResource pour charger les donnees, gerer le loading et rafraichir les listes.</a:t>
            </a:r>
            <a:endParaRPr lang="en-US" sz="1050" dirty="0"/>
          </a:p>
        </p:txBody>
      </p:sp>
      <p:sp>
        <p:nvSpPr>
          <p:cNvPr id="33" name="Shape 31"/>
          <p:cNvSpPr/>
          <p:nvPr/>
        </p:nvSpPr>
        <p:spPr>
          <a:xfrm>
            <a:off x="6172200" y="3886200"/>
            <a:ext cx="5303520" cy="1554480"/>
          </a:xfrm>
          <a:prstGeom prst="roundRect">
            <a:avLst>
              <a:gd name="adj" fmla="val 5882"/>
            </a:avLst>
          </a:prstGeom>
          <a:solidFill>
            <a:srgbClr val="FFFFFF"/>
          </a:solidFill>
          <a:ln w="12700">
            <a:solidFill>
              <a:srgbClr val="CBD5E1"/>
            </a:solidFill>
            <a:prstDash val="solid"/>
          </a:ln>
        </p:spPr>
      </p:sp>
      <p:sp>
        <p:nvSpPr>
          <p:cNvPr id="34" name="Shape 32"/>
          <p:cNvSpPr/>
          <p:nvPr/>
        </p:nvSpPr>
        <p:spPr>
          <a:xfrm>
            <a:off x="6336792" y="4050792"/>
            <a:ext cx="73152" cy="1225296"/>
          </a:xfrm>
          <a:prstGeom prst="rect">
            <a:avLst/>
          </a:prstGeom>
          <a:solidFill>
            <a:srgbClr val="059669"/>
          </a:solidFill>
          <a:ln w="12700">
            <a:solidFill>
              <a:srgbClr val="059669">
                <a:alpha val="0"/>
              </a:srgbClr>
            </a:solidFill>
            <a:prstDash val="solid"/>
          </a:ln>
        </p:spPr>
      </p:sp>
      <p:sp>
        <p:nvSpPr>
          <p:cNvPr id="35" name="Text 33"/>
          <p:cNvSpPr/>
          <p:nvPr/>
        </p:nvSpPr>
        <p:spPr>
          <a:xfrm>
            <a:off x="6492240" y="4050792"/>
            <a:ext cx="4846320" cy="219456"/>
          </a:xfrm>
          <a:prstGeom prst="rect">
            <a:avLst/>
          </a:prstGeom>
          <a:noFill/>
          <a:ln/>
        </p:spPr>
        <p:txBody>
          <a:bodyPr wrap="square" lIns="0" tIns="0" rIns="0" bIns="0" rtlCol="0" anchor="ctr"/>
          <a:lstStyle/>
          <a:p>
            <a:pPr indent="0" marL="0">
              <a:buNone/>
            </a:pPr>
            <a:r>
              <a:rPr lang="en-US" sz="1300" b="1" dirty="0">
                <a:solidFill>
                  <a:srgbClr val="0F172A"/>
                </a:solidFill>
              </a:rPr>
              <a:t>A dire a l oral</a:t>
            </a:r>
            <a:endParaRPr lang="en-US" sz="1300" dirty="0"/>
          </a:p>
        </p:txBody>
      </p:sp>
      <p:sp>
        <p:nvSpPr>
          <p:cNvPr id="36" name="Text 34"/>
          <p:cNvSpPr/>
          <p:nvPr/>
        </p:nvSpPr>
        <p:spPr>
          <a:xfrm>
            <a:off x="6492240" y="4361688"/>
            <a:ext cx="4892040" cy="932688"/>
          </a:xfrm>
          <a:prstGeom prst="rect">
            <a:avLst/>
          </a:prstGeom>
          <a:noFill/>
          <a:ln/>
        </p:spPr>
        <p:txBody>
          <a:bodyPr wrap="square" lIns="0" tIns="0" rIns="0" bIns="0" rtlCol="0" anchor="t"/>
          <a:lstStyle/>
          <a:p>
            <a:pPr indent="0" marL="0">
              <a:buNone/>
            </a:pPr>
            <a:r>
              <a:rPr lang="en-US" sz="1050" dirty="0">
                <a:solidFill>
                  <a:srgbClr val="64748B"/>
                </a:solidFill>
              </a:rPr>
              <a:t>• Les captures peuvent etre ajoutees apres lancement local de l application.</a:t>
            </a:r>
            <a:endParaRPr lang="en-US" sz="1050" dirty="0"/>
          </a:p>
          <a:p>
            <a:pPr indent="0" marL="0">
              <a:buNone/>
            </a:pPr>
            <a:r>
              <a:rPr lang="en-US" sz="1050" dirty="0">
                <a:solidFill>
                  <a:srgbClr val="64748B"/>
                </a:solidFill>
              </a:rPr>
              <a:t>• Le contenu fonctionnel de chaque ecran est deja confirme par le code analyse.</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563EB"/>
          </a:solidFill>
          <a:ln w="12700">
            <a:solidFill>
              <a:srgbClr val="2563EB">
                <a:alpha val="0"/>
              </a:srgbClr>
            </a:solidFill>
            <a:prstDash val="solid"/>
          </a:ln>
        </p:spPr>
      </p:sp>
      <p:sp>
        <p:nvSpPr>
          <p:cNvPr id="3" name="Shape 1"/>
          <p:cNvSpPr/>
          <p:nvPr/>
        </p:nvSpPr>
        <p:spPr>
          <a:xfrm>
            <a:off x="9738360" y="310896"/>
            <a:ext cx="1874520" cy="310896"/>
          </a:xfrm>
          <a:prstGeom prst="roundRect">
            <a:avLst>
              <a:gd name="adj" fmla="val 23529"/>
            </a:avLst>
          </a:prstGeom>
          <a:solidFill>
            <a:srgbClr val="DBEAFE"/>
          </a:solidFill>
          <a:ln w="12700">
            <a:solidFill>
              <a:srgbClr val="DBEAFE">
                <a:alpha val="0"/>
              </a:srgbClr>
            </a:solidFill>
            <a:prstDash val="solid"/>
          </a:ln>
        </p:spPr>
      </p:sp>
      <p:sp>
        <p:nvSpPr>
          <p:cNvPr id="4" name="Text 2"/>
          <p:cNvSpPr/>
          <p:nvPr/>
        </p:nvSpPr>
        <p:spPr>
          <a:xfrm>
            <a:off x="9893808" y="374904"/>
            <a:ext cx="1554480" cy="164592"/>
          </a:xfrm>
          <a:prstGeom prst="rect">
            <a:avLst/>
          </a:prstGeom>
          <a:noFill/>
          <a:ln/>
        </p:spPr>
        <p:txBody>
          <a:bodyPr wrap="square" lIns="0" tIns="0" rIns="0" bIns="0" rtlCol="0" anchor="ctr"/>
          <a:lstStyle/>
          <a:p>
            <a:pPr algn="ctr" indent="0" marL="0">
              <a:buNone/>
            </a:pPr>
            <a:r>
              <a:rPr lang="en-US" sz="850" b="1" dirty="0">
                <a:solidFill>
                  <a:srgbClr val="2563EB"/>
                </a:solidFill>
              </a:rPr>
              <a:t>REALISATION</a:t>
            </a:r>
            <a:endParaRPr lang="en-US" sz="850" dirty="0"/>
          </a:p>
        </p:txBody>
      </p:sp>
      <p:sp>
        <p:nvSpPr>
          <p:cNvPr id="5" name="Text 3"/>
          <p:cNvSpPr/>
          <p:nvPr/>
        </p:nvSpPr>
        <p:spPr>
          <a:xfrm>
            <a:off x="548640" y="329184"/>
            <a:ext cx="7498080" cy="411480"/>
          </a:xfrm>
          <a:prstGeom prst="rect">
            <a:avLst/>
          </a:prstGeom>
          <a:noFill/>
          <a:ln/>
        </p:spPr>
        <p:txBody>
          <a:bodyPr wrap="square" lIns="0" tIns="0" rIns="0" bIns="0" rtlCol="0" anchor="ctr"/>
          <a:lstStyle/>
          <a:p>
            <a:pPr indent="0" marL="0">
              <a:buNone/>
            </a:pPr>
            <a:r>
              <a:rPr lang="en-US" sz="2400" b="1" dirty="0">
                <a:solidFill>
                  <a:srgbClr val="0F172A"/>
                </a:solidFill>
              </a:rPr>
              <a:t>Fonctionnalites metier et ecrans a valoriser</a:t>
            </a:r>
            <a:endParaRPr lang="en-US" sz="2400" dirty="0"/>
          </a:p>
        </p:txBody>
      </p:sp>
      <p:sp>
        <p:nvSpPr>
          <p:cNvPr id="6" name="Text 4"/>
          <p:cNvSpPr/>
          <p:nvPr/>
        </p:nvSpPr>
        <p:spPr>
          <a:xfrm>
            <a:off x="566928" y="768096"/>
            <a:ext cx="7863840" cy="329184"/>
          </a:xfrm>
          <a:prstGeom prst="rect">
            <a:avLst/>
          </a:prstGeom>
          <a:noFill/>
          <a:ln/>
        </p:spPr>
        <p:txBody>
          <a:bodyPr wrap="square" lIns="0" tIns="0" rIns="0" bIns="0" rtlCol="0" anchor="ctr"/>
          <a:lstStyle/>
          <a:p>
            <a:pPr indent="0" marL="0">
              <a:buNone/>
            </a:pPr>
            <a:r>
              <a:rPr lang="en-US" sz="1150" dirty="0">
                <a:solidFill>
                  <a:srgbClr val="64748B"/>
                </a:solidFill>
              </a:rPr>
              <a:t>Les modules ci dessous sont actifs dans le code et interessants a montrer pendant la demonstration.</a:t>
            </a:r>
            <a:endParaRPr lang="en-US" sz="1150" dirty="0"/>
          </a:p>
        </p:txBody>
      </p:sp>
      <p:sp>
        <p:nvSpPr>
          <p:cNvPr id="7" name="Text 5"/>
          <p:cNvSpPr/>
          <p:nvPr/>
        </p:nvSpPr>
        <p:spPr>
          <a:xfrm>
            <a:off x="548640" y="6446520"/>
            <a:ext cx="4389120" cy="182880"/>
          </a:xfrm>
          <a:prstGeom prst="rect">
            <a:avLst/>
          </a:prstGeom>
          <a:noFill/>
          <a:ln/>
        </p:spPr>
        <p:txBody>
          <a:bodyPr wrap="square" lIns="0" tIns="0" rIns="0" bIns="0" rtlCol="0" anchor="ctr"/>
          <a:lstStyle/>
          <a:p>
            <a:pPr indent="0" marL="0">
              <a:buNone/>
            </a:pPr>
            <a:r>
              <a:rPr lang="en-US" sz="850" dirty="0">
                <a:solidFill>
                  <a:srgbClr val="64748B"/>
                </a:solidFill>
              </a:rPr>
              <a:t>Analyse du code source - 10 mai 2026</a:t>
            </a:r>
            <a:endParaRPr lang="en-US" sz="850" dirty="0"/>
          </a:p>
        </p:txBody>
      </p:sp>
      <p:sp>
        <p:nvSpPr>
          <p:cNvPr id="8" name="Text 6"/>
          <p:cNvSpPr/>
          <p:nvPr/>
        </p:nvSpPr>
        <p:spPr>
          <a:xfrm>
            <a:off x="11064240" y="6419088"/>
            <a:ext cx="548640" cy="182880"/>
          </a:xfrm>
          <a:prstGeom prst="rect">
            <a:avLst/>
          </a:prstGeom>
          <a:noFill/>
          <a:ln/>
        </p:spPr>
        <p:txBody>
          <a:bodyPr wrap="square" lIns="0" tIns="0" rIns="0" bIns="0" rtlCol="0" anchor="ctr"/>
          <a:lstStyle/>
          <a:p>
            <a:pPr algn="r" indent="0" marL="0">
              <a:buNone/>
            </a:pPr>
            <a:r>
              <a:rPr lang="en-US" sz="900" b="1" dirty="0">
                <a:solidFill>
                  <a:srgbClr val="64748B"/>
                </a:solidFill>
              </a:rPr>
              <a:t>13/17</a:t>
            </a:r>
            <a:endParaRPr lang="en-US" sz="900" dirty="0"/>
          </a:p>
        </p:txBody>
      </p:sp>
      <p:sp>
        <p:nvSpPr>
          <p:cNvPr id="9" name="Shape 7"/>
          <p:cNvSpPr/>
          <p:nvPr/>
        </p:nvSpPr>
        <p:spPr>
          <a:xfrm>
            <a:off x="713232" y="1417320"/>
            <a:ext cx="2606040" cy="2011680"/>
          </a:xfrm>
          <a:prstGeom prst="roundRect">
            <a:avLst>
              <a:gd name="adj" fmla="val 3636"/>
            </a:avLst>
          </a:prstGeom>
          <a:solidFill>
            <a:srgbClr val="FFFFFF"/>
          </a:solidFill>
          <a:ln w="12700">
            <a:solidFill>
              <a:srgbClr val="CBD5E1"/>
            </a:solidFill>
            <a:prstDash val="solid"/>
          </a:ln>
        </p:spPr>
      </p:sp>
      <p:sp>
        <p:nvSpPr>
          <p:cNvPr id="10" name="Shape 8"/>
          <p:cNvSpPr/>
          <p:nvPr/>
        </p:nvSpPr>
        <p:spPr>
          <a:xfrm>
            <a:off x="713232" y="1417320"/>
            <a:ext cx="2606040" cy="256032"/>
          </a:xfrm>
          <a:prstGeom prst="rect">
            <a:avLst/>
          </a:prstGeom>
          <a:solidFill>
            <a:srgbClr val="2563EB"/>
          </a:solidFill>
          <a:ln w="12700">
            <a:solidFill>
              <a:srgbClr val="2563EB">
                <a:alpha val="0"/>
              </a:srgbClr>
            </a:solidFill>
            <a:prstDash val="solid"/>
          </a:ln>
        </p:spPr>
      </p:sp>
      <p:sp>
        <p:nvSpPr>
          <p:cNvPr id="11" name="Text 9"/>
          <p:cNvSpPr/>
          <p:nvPr/>
        </p:nvSpPr>
        <p:spPr>
          <a:xfrm>
            <a:off x="877824" y="1801368"/>
            <a:ext cx="2276856" cy="219456"/>
          </a:xfrm>
          <a:prstGeom prst="rect">
            <a:avLst/>
          </a:prstGeom>
          <a:noFill/>
          <a:ln/>
        </p:spPr>
        <p:txBody>
          <a:bodyPr wrap="square" lIns="0" tIns="0" rIns="0" bIns="0" rtlCol="0" anchor="ctr"/>
          <a:lstStyle/>
          <a:p>
            <a:pPr algn="ctr" indent="0" marL="0">
              <a:buNone/>
            </a:pPr>
            <a:r>
              <a:rPr lang="en-US" sz="1250" b="1" dirty="0">
                <a:solidFill>
                  <a:srgbClr val="0F172A"/>
                </a:solidFill>
              </a:rPr>
              <a:t>Interventions</a:t>
            </a:r>
            <a:endParaRPr lang="en-US" sz="1250" dirty="0"/>
          </a:p>
        </p:txBody>
      </p:sp>
      <p:sp>
        <p:nvSpPr>
          <p:cNvPr id="12" name="Text 10"/>
          <p:cNvSpPr/>
          <p:nvPr/>
        </p:nvSpPr>
        <p:spPr>
          <a:xfrm>
            <a:off x="877824" y="2295144"/>
            <a:ext cx="2276856" cy="201168"/>
          </a:xfrm>
          <a:prstGeom prst="rect">
            <a:avLst/>
          </a:prstGeom>
          <a:noFill/>
          <a:ln/>
        </p:spPr>
        <p:txBody>
          <a:bodyPr wrap="square" lIns="0" tIns="0" rIns="0" bIns="0" rtlCol="0" anchor="ctr"/>
          <a:lstStyle/>
          <a:p>
            <a:pPr algn="ctr" indent="0" marL="0">
              <a:buNone/>
            </a:pPr>
            <a:r>
              <a:rPr lang="en-US" sz="1000" i="1" dirty="0">
                <a:solidFill>
                  <a:srgbClr val="64748B"/>
                </a:solidFill>
              </a:rPr>
              <a:t>Capture réelle à insérer</a:t>
            </a:r>
            <a:endParaRPr lang="en-US" sz="1000" dirty="0"/>
          </a:p>
        </p:txBody>
      </p:sp>
      <p:sp>
        <p:nvSpPr>
          <p:cNvPr id="13" name="Text 11"/>
          <p:cNvSpPr/>
          <p:nvPr/>
        </p:nvSpPr>
        <p:spPr>
          <a:xfrm>
            <a:off x="877824" y="2788920"/>
            <a:ext cx="2276856" cy="384048"/>
          </a:xfrm>
          <a:prstGeom prst="rect">
            <a:avLst/>
          </a:prstGeom>
          <a:noFill/>
          <a:ln/>
        </p:spPr>
        <p:txBody>
          <a:bodyPr wrap="square" lIns="0" tIns="0" rIns="0" bIns="0" rtlCol="0" anchor="ctr"/>
          <a:lstStyle/>
          <a:p>
            <a:pPr algn="ctr" indent="0" marL="0">
              <a:buNone/>
            </a:pPr>
            <a:r>
              <a:rPr lang="en-US" sz="950" dirty="0">
                <a:solidFill>
                  <a:srgbClr val="64748B"/>
                </a:solidFill>
              </a:rPr>
              <a:t>Creation, edition, priorite, statut, materiels utilises, liaison panne/client/compteur</a:t>
            </a:r>
            <a:endParaRPr lang="en-US" sz="950" dirty="0"/>
          </a:p>
        </p:txBody>
      </p:sp>
      <p:sp>
        <p:nvSpPr>
          <p:cNvPr id="14" name="Shape 12"/>
          <p:cNvSpPr/>
          <p:nvPr/>
        </p:nvSpPr>
        <p:spPr>
          <a:xfrm>
            <a:off x="3584448" y="1417320"/>
            <a:ext cx="2606040" cy="2011680"/>
          </a:xfrm>
          <a:prstGeom prst="roundRect">
            <a:avLst>
              <a:gd name="adj" fmla="val 3636"/>
            </a:avLst>
          </a:prstGeom>
          <a:solidFill>
            <a:srgbClr val="FFFFFF"/>
          </a:solidFill>
          <a:ln w="12700">
            <a:solidFill>
              <a:srgbClr val="CBD5E1"/>
            </a:solidFill>
            <a:prstDash val="solid"/>
          </a:ln>
        </p:spPr>
      </p:sp>
      <p:sp>
        <p:nvSpPr>
          <p:cNvPr id="15" name="Shape 13"/>
          <p:cNvSpPr/>
          <p:nvPr/>
        </p:nvSpPr>
        <p:spPr>
          <a:xfrm>
            <a:off x="3584448" y="1417320"/>
            <a:ext cx="2606040" cy="256032"/>
          </a:xfrm>
          <a:prstGeom prst="rect">
            <a:avLst/>
          </a:prstGeom>
          <a:solidFill>
            <a:srgbClr val="0891B2"/>
          </a:solidFill>
          <a:ln w="12700">
            <a:solidFill>
              <a:srgbClr val="0891B2">
                <a:alpha val="0"/>
              </a:srgbClr>
            </a:solidFill>
            <a:prstDash val="solid"/>
          </a:ln>
        </p:spPr>
      </p:sp>
      <p:sp>
        <p:nvSpPr>
          <p:cNvPr id="16" name="Text 14"/>
          <p:cNvSpPr/>
          <p:nvPr/>
        </p:nvSpPr>
        <p:spPr>
          <a:xfrm>
            <a:off x="3749040" y="1801368"/>
            <a:ext cx="2276856" cy="219456"/>
          </a:xfrm>
          <a:prstGeom prst="rect">
            <a:avLst/>
          </a:prstGeom>
          <a:noFill/>
          <a:ln/>
        </p:spPr>
        <p:txBody>
          <a:bodyPr wrap="square" lIns="0" tIns="0" rIns="0" bIns="0" rtlCol="0" anchor="ctr"/>
          <a:lstStyle/>
          <a:p>
            <a:pPr algn="ctr" indent="0" marL="0">
              <a:buNone/>
            </a:pPr>
            <a:r>
              <a:rPr lang="en-US" sz="1250" b="1" dirty="0">
                <a:solidFill>
                  <a:srgbClr val="0F172A"/>
                </a:solidFill>
              </a:rPr>
              <a:t>Reparations</a:t>
            </a:r>
            <a:endParaRPr lang="en-US" sz="1250" dirty="0"/>
          </a:p>
        </p:txBody>
      </p:sp>
      <p:sp>
        <p:nvSpPr>
          <p:cNvPr id="17" name="Text 15"/>
          <p:cNvSpPr/>
          <p:nvPr/>
        </p:nvSpPr>
        <p:spPr>
          <a:xfrm>
            <a:off x="3749040" y="2295144"/>
            <a:ext cx="2276856" cy="201168"/>
          </a:xfrm>
          <a:prstGeom prst="rect">
            <a:avLst/>
          </a:prstGeom>
          <a:noFill/>
          <a:ln/>
        </p:spPr>
        <p:txBody>
          <a:bodyPr wrap="square" lIns="0" tIns="0" rIns="0" bIns="0" rtlCol="0" anchor="ctr"/>
          <a:lstStyle/>
          <a:p>
            <a:pPr algn="ctr" indent="0" marL="0">
              <a:buNone/>
            </a:pPr>
            <a:r>
              <a:rPr lang="en-US" sz="1000" i="1" dirty="0">
                <a:solidFill>
                  <a:srgbClr val="64748B"/>
                </a:solidFill>
              </a:rPr>
              <a:t>Capture réelle à insérer</a:t>
            </a:r>
            <a:endParaRPr lang="en-US" sz="1000" dirty="0"/>
          </a:p>
        </p:txBody>
      </p:sp>
      <p:sp>
        <p:nvSpPr>
          <p:cNvPr id="18" name="Text 16"/>
          <p:cNvSpPr/>
          <p:nvPr/>
        </p:nvSpPr>
        <p:spPr>
          <a:xfrm>
            <a:off x="3749040" y="2788920"/>
            <a:ext cx="2276856" cy="384048"/>
          </a:xfrm>
          <a:prstGeom prst="rect">
            <a:avLst/>
          </a:prstGeom>
          <a:noFill/>
          <a:ln/>
        </p:spPr>
        <p:txBody>
          <a:bodyPr wrap="square" lIns="0" tIns="0" rIns="0" bIns="0" rtlCol="0" anchor="ctr"/>
          <a:lstStyle/>
          <a:p>
            <a:pPr algn="ctr" indent="0" marL="0">
              <a:buNone/>
            </a:pPr>
            <a:r>
              <a:rPr lang="en-US" sz="950" dirty="0">
                <a:solidFill>
                  <a:srgbClr val="64748B"/>
                </a:solidFill>
              </a:rPr>
              <a:t>Creation d une reparation avec cloture automatique de la panne</a:t>
            </a:r>
            <a:endParaRPr lang="en-US" sz="950" dirty="0"/>
          </a:p>
        </p:txBody>
      </p:sp>
      <p:sp>
        <p:nvSpPr>
          <p:cNvPr id="19" name="Shape 17"/>
          <p:cNvSpPr/>
          <p:nvPr/>
        </p:nvSpPr>
        <p:spPr>
          <a:xfrm>
            <a:off x="6455664" y="1417320"/>
            <a:ext cx="2606040" cy="2011680"/>
          </a:xfrm>
          <a:prstGeom prst="roundRect">
            <a:avLst>
              <a:gd name="adj" fmla="val 3636"/>
            </a:avLst>
          </a:prstGeom>
          <a:solidFill>
            <a:srgbClr val="FFFFFF"/>
          </a:solidFill>
          <a:ln w="12700">
            <a:solidFill>
              <a:srgbClr val="CBD5E1"/>
            </a:solidFill>
            <a:prstDash val="solid"/>
          </a:ln>
        </p:spPr>
      </p:sp>
      <p:sp>
        <p:nvSpPr>
          <p:cNvPr id="20" name="Shape 18"/>
          <p:cNvSpPr/>
          <p:nvPr/>
        </p:nvSpPr>
        <p:spPr>
          <a:xfrm>
            <a:off x="6455664" y="1417320"/>
            <a:ext cx="2606040" cy="256032"/>
          </a:xfrm>
          <a:prstGeom prst="rect">
            <a:avLst/>
          </a:prstGeom>
          <a:solidFill>
            <a:srgbClr val="D97706"/>
          </a:solidFill>
          <a:ln w="12700">
            <a:solidFill>
              <a:srgbClr val="D97706">
                <a:alpha val="0"/>
              </a:srgbClr>
            </a:solidFill>
            <a:prstDash val="solid"/>
          </a:ln>
        </p:spPr>
      </p:sp>
      <p:sp>
        <p:nvSpPr>
          <p:cNvPr id="21" name="Text 19"/>
          <p:cNvSpPr/>
          <p:nvPr/>
        </p:nvSpPr>
        <p:spPr>
          <a:xfrm>
            <a:off x="6620256" y="1801368"/>
            <a:ext cx="2276856" cy="219456"/>
          </a:xfrm>
          <a:prstGeom prst="rect">
            <a:avLst/>
          </a:prstGeom>
          <a:noFill/>
          <a:ln/>
        </p:spPr>
        <p:txBody>
          <a:bodyPr wrap="square" lIns="0" tIns="0" rIns="0" bIns="0" rtlCol="0" anchor="ctr"/>
          <a:lstStyle/>
          <a:p>
            <a:pPr algn="ctr" indent="0" marL="0">
              <a:buNone/>
            </a:pPr>
            <a:r>
              <a:rPr lang="en-US" sz="1250" b="1" dirty="0">
                <a:solidFill>
                  <a:srgbClr val="0F172A"/>
                </a:solidFill>
              </a:rPr>
              <a:t>Cartographie GIS</a:t>
            </a:r>
            <a:endParaRPr lang="en-US" sz="1250" dirty="0"/>
          </a:p>
        </p:txBody>
      </p:sp>
      <p:sp>
        <p:nvSpPr>
          <p:cNvPr id="22" name="Text 20"/>
          <p:cNvSpPr/>
          <p:nvPr/>
        </p:nvSpPr>
        <p:spPr>
          <a:xfrm>
            <a:off x="6620256" y="2295144"/>
            <a:ext cx="2276856" cy="201168"/>
          </a:xfrm>
          <a:prstGeom prst="rect">
            <a:avLst/>
          </a:prstGeom>
          <a:noFill/>
          <a:ln/>
        </p:spPr>
        <p:txBody>
          <a:bodyPr wrap="square" lIns="0" tIns="0" rIns="0" bIns="0" rtlCol="0" anchor="ctr"/>
          <a:lstStyle/>
          <a:p>
            <a:pPr algn="ctr" indent="0" marL="0">
              <a:buNone/>
            </a:pPr>
            <a:r>
              <a:rPr lang="en-US" sz="1000" i="1" dirty="0">
                <a:solidFill>
                  <a:srgbClr val="64748B"/>
                </a:solidFill>
              </a:rPr>
              <a:t>Capture réelle à insérer</a:t>
            </a:r>
            <a:endParaRPr lang="en-US" sz="1000" dirty="0"/>
          </a:p>
        </p:txBody>
      </p:sp>
      <p:sp>
        <p:nvSpPr>
          <p:cNvPr id="23" name="Text 21"/>
          <p:cNvSpPr/>
          <p:nvPr/>
        </p:nvSpPr>
        <p:spPr>
          <a:xfrm>
            <a:off x="6620256" y="2788920"/>
            <a:ext cx="2276856" cy="384048"/>
          </a:xfrm>
          <a:prstGeom prst="rect">
            <a:avLst/>
          </a:prstGeom>
          <a:noFill/>
          <a:ln/>
        </p:spPr>
        <p:txBody>
          <a:bodyPr wrap="square" lIns="0" tIns="0" rIns="0" bIns="0" rtlCol="0" anchor="ctr"/>
          <a:lstStyle/>
          <a:p>
            <a:pPr algn="ctr" indent="0" marL="0">
              <a:buNone/>
            </a:pPr>
            <a:r>
              <a:rPr lang="en-US" sz="950" dirty="0">
                <a:solidFill>
                  <a:srgbClr val="64748B"/>
                </a:solidFill>
              </a:rPr>
              <a:t>PanneMap.jsx - Leaflet + coordonnees GPS des secteurs</a:t>
            </a:r>
            <a:endParaRPr lang="en-US" sz="950" dirty="0"/>
          </a:p>
        </p:txBody>
      </p:sp>
      <p:sp>
        <p:nvSpPr>
          <p:cNvPr id="24" name="Shape 22"/>
          <p:cNvSpPr/>
          <p:nvPr/>
        </p:nvSpPr>
        <p:spPr>
          <a:xfrm>
            <a:off x="9326880" y="1417320"/>
            <a:ext cx="2148840" cy="2011680"/>
          </a:xfrm>
          <a:prstGeom prst="roundRect">
            <a:avLst>
              <a:gd name="adj" fmla="val 3636"/>
            </a:avLst>
          </a:prstGeom>
          <a:solidFill>
            <a:srgbClr val="FFFFFF"/>
          </a:solidFill>
          <a:ln w="12700">
            <a:solidFill>
              <a:srgbClr val="CBD5E1"/>
            </a:solidFill>
            <a:prstDash val="solid"/>
          </a:ln>
        </p:spPr>
      </p:sp>
      <p:sp>
        <p:nvSpPr>
          <p:cNvPr id="25" name="Shape 23"/>
          <p:cNvSpPr/>
          <p:nvPr/>
        </p:nvSpPr>
        <p:spPr>
          <a:xfrm>
            <a:off x="9326880" y="1417320"/>
            <a:ext cx="2148840" cy="256032"/>
          </a:xfrm>
          <a:prstGeom prst="rect">
            <a:avLst/>
          </a:prstGeom>
          <a:solidFill>
            <a:srgbClr val="DC2626"/>
          </a:solidFill>
          <a:ln w="12700">
            <a:solidFill>
              <a:srgbClr val="DC2626">
                <a:alpha val="0"/>
              </a:srgbClr>
            </a:solidFill>
            <a:prstDash val="solid"/>
          </a:ln>
        </p:spPr>
      </p:sp>
      <p:sp>
        <p:nvSpPr>
          <p:cNvPr id="26" name="Text 24"/>
          <p:cNvSpPr/>
          <p:nvPr/>
        </p:nvSpPr>
        <p:spPr>
          <a:xfrm>
            <a:off x="9491472" y="1801368"/>
            <a:ext cx="1819656" cy="219456"/>
          </a:xfrm>
          <a:prstGeom prst="rect">
            <a:avLst/>
          </a:prstGeom>
          <a:noFill/>
          <a:ln/>
        </p:spPr>
        <p:txBody>
          <a:bodyPr wrap="square" lIns="0" tIns="0" rIns="0" bIns="0" rtlCol="0" anchor="ctr"/>
          <a:lstStyle/>
          <a:p>
            <a:pPr algn="ctr" indent="0" marL="0">
              <a:buNone/>
            </a:pPr>
            <a:r>
              <a:rPr lang="en-US" sz="1250" b="1" dirty="0">
                <a:solidFill>
                  <a:srgbClr val="0F172A"/>
                </a:solidFill>
              </a:rPr>
              <a:t>Administration</a:t>
            </a:r>
            <a:endParaRPr lang="en-US" sz="1250" dirty="0"/>
          </a:p>
        </p:txBody>
      </p:sp>
      <p:sp>
        <p:nvSpPr>
          <p:cNvPr id="27" name="Text 25"/>
          <p:cNvSpPr/>
          <p:nvPr/>
        </p:nvSpPr>
        <p:spPr>
          <a:xfrm>
            <a:off x="9491472" y="2295144"/>
            <a:ext cx="1819656" cy="201168"/>
          </a:xfrm>
          <a:prstGeom prst="rect">
            <a:avLst/>
          </a:prstGeom>
          <a:noFill/>
          <a:ln/>
        </p:spPr>
        <p:txBody>
          <a:bodyPr wrap="square" lIns="0" tIns="0" rIns="0" bIns="0" rtlCol="0" anchor="ctr"/>
          <a:lstStyle/>
          <a:p>
            <a:pPr algn="ctr" indent="0" marL="0">
              <a:buNone/>
            </a:pPr>
            <a:r>
              <a:rPr lang="en-US" sz="1000" i="1" dirty="0">
                <a:solidFill>
                  <a:srgbClr val="64748B"/>
                </a:solidFill>
              </a:rPr>
              <a:t>Capture réelle à insérer</a:t>
            </a:r>
            <a:endParaRPr lang="en-US" sz="1000" dirty="0"/>
          </a:p>
        </p:txBody>
      </p:sp>
      <p:sp>
        <p:nvSpPr>
          <p:cNvPr id="28" name="Text 26"/>
          <p:cNvSpPr/>
          <p:nvPr/>
        </p:nvSpPr>
        <p:spPr>
          <a:xfrm>
            <a:off x="9491472" y="2788920"/>
            <a:ext cx="1819656" cy="384048"/>
          </a:xfrm>
          <a:prstGeom prst="rect">
            <a:avLst/>
          </a:prstGeom>
          <a:noFill/>
          <a:ln/>
        </p:spPr>
        <p:txBody>
          <a:bodyPr wrap="square" lIns="0" tIns="0" rIns="0" bIns="0" rtlCol="0" anchor="ctr"/>
          <a:lstStyle/>
          <a:p>
            <a:pPr algn="ctr" indent="0" marL="0">
              <a:buNone/>
            </a:pPr>
            <a:r>
              <a:rPr lang="en-US" sz="950" dirty="0">
                <a:solidFill>
                  <a:srgbClr val="64748B"/>
                </a:solidFill>
              </a:rPr>
              <a:t>Utilisateurs, roles, settings et activity logs</a:t>
            </a:r>
            <a:endParaRPr lang="en-US" sz="950" dirty="0"/>
          </a:p>
        </p:txBody>
      </p:sp>
      <p:sp>
        <p:nvSpPr>
          <p:cNvPr id="29" name="Shape 27"/>
          <p:cNvSpPr/>
          <p:nvPr/>
        </p:nvSpPr>
        <p:spPr>
          <a:xfrm>
            <a:off x="713232" y="3794760"/>
            <a:ext cx="5303520" cy="1691640"/>
          </a:xfrm>
          <a:prstGeom prst="roundRect">
            <a:avLst>
              <a:gd name="adj" fmla="val 5405"/>
            </a:avLst>
          </a:prstGeom>
          <a:solidFill>
            <a:srgbClr val="FFFFFF"/>
          </a:solidFill>
          <a:ln w="12700">
            <a:solidFill>
              <a:srgbClr val="CBD5E1"/>
            </a:solidFill>
            <a:prstDash val="solid"/>
          </a:ln>
        </p:spPr>
      </p:sp>
      <p:sp>
        <p:nvSpPr>
          <p:cNvPr id="30" name="Shape 28"/>
          <p:cNvSpPr/>
          <p:nvPr/>
        </p:nvSpPr>
        <p:spPr>
          <a:xfrm>
            <a:off x="877824" y="3959352"/>
            <a:ext cx="73152" cy="1362456"/>
          </a:xfrm>
          <a:prstGeom prst="rect">
            <a:avLst/>
          </a:prstGeom>
          <a:solidFill>
            <a:srgbClr val="059669"/>
          </a:solidFill>
          <a:ln w="12700">
            <a:solidFill>
              <a:srgbClr val="059669">
                <a:alpha val="0"/>
              </a:srgbClr>
            </a:solidFill>
            <a:prstDash val="solid"/>
          </a:ln>
        </p:spPr>
      </p:sp>
      <p:sp>
        <p:nvSpPr>
          <p:cNvPr id="31" name="Text 29"/>
          <p:cNvSpPr/>
          <p:nvPr/>
        </p:nvSpPr>
        <p:spPr>
          <a:xfrm>
            <a:off x="1033272" y="3959352"/>
            <a:ext cx="4846320" cy="219456"/>
          </a:xfrm>
          <a:prstGeom prst="rect">
            <a:avLst/>
          </a:prstGeom>
          <a:noFill/>
          <a:ln/>
        </p:spPr>
        <p:txBody>
          <a:bodyPr wrap="square" lIns="0" tIns="0" rIns="0" bIns="0" rtlCol="0" anchor="ctr"/>
          <a:lstStyle/>
          <a:p>
            <a:pPr indent="0" marL="0">
              <a:buNone/>
            </a:pPr>
            <a:r>
              <a:rPr lang="en-US" sz="1300" b="1" dirty="0">
                <a:solidFill>
                  <a:srgbClr val="0F172A"/>
                </a:solidFill>
              </a:rPr>
              <a:t>Exports et suivi</a:t>
            </a:r>
            <a:endParaRPr lang="en-US" sz="1300" dirty="0"/>
          </a:p>
        </p:txBody>
      </p:sp>
      <p:sp>
        <p:nvSpPr>
          <p:cNvPr id="32" name="Text 30"/>
          <p:cNvSpPr/>
          <p:nvPr/>
        </p:nvSpPr>
        <p:spPr>
          <a:xfrm>
            <a:off x="1033272" y="4270248"/>
            <a:ext cx="4892040" cy="1069848"/>
          </a:xfrm>
          <a:prstGeom prst="rect">
            <a:avLst/>
          </a:prstGeom>
          <a:noFill/>
          <a:ln/>
        </p:spPr>
        <p:txBody>
          <a:bodyPr wrap="square" lIns="0" tIns="0" rIns="0" bIns="0" rtlCol="0" anchor="t"/>
          <a:lstStyle/>
          <a:p>
            <a:pPr indent="0" marL="0">
              <a:buNone/>
            </a:pPr>
            <a:r>
              <a:rPr lang="en-US" sz="1050" dirty="0">
                <a:solidFill>
                  <a:srgbClr val="64748B"/>
                </a:solidFill>
              </a:rPr>
              <a:t>• Reports.jsx telecharge le PDF mensuel des pannes et l export Excel clients + compteurs.</a:t>
            </a:r>
            <a:endParaRPr lang="en-US" sz="1050" dirty="0"/>
          </a:p>
          <a:p>
            <a:pPr indent="0" marL="0">
              <a:buNone/>
            </a:pPr>
            <a:r>
              <a:rPr lang="en-US" sz="1050" dirty="0">
                <a:solidFill>
                  <a:srgbClr val="64748B"/>
                </a:solidFill>
              </a:rPr>
              <a:t>• NotificationBell recharge les notifications toutes les 30 secondes.</a:t>
            </a:r>
            <a:endParaRPr lang="en-US" sz="1050" dirty="0"/>
          </a:p>
        </p:txBody>
      </p:sp>
      <p:sp>
        <p:nvSpPr>
          <p:cNvPr id="33" name="Shape 31"/>
          <p:cNvSpPr/>
          <p:nvPr/>
        </p:nvSpPr>
        <p:spPr>
          <a:xfrm>
            <a:off x="6263640" y="3794760"/>
            <a:ext cx="5230368" cy="1691640"/>
          </a:xfrm>
          <a:prstGeom prst="roundRect">
            <a:avLst>
              <a:gd name="adj" fmla="val 5405"/>
            </a:avLst>
          </a:prstGeom>
          <a:solidFill>
            <a:srgbClr val="FFFFFF"/>
          </a:solidFill>
          <a:ln w="12700">
            <a:solidFill>
              <a:srgbClr val="CBD5E1"/>
            </a:solidFill>
            <a:prstDash val="solid"/>
          </a:ln>
        </p:spPr>
      </p:sp>
      <p:sp>
        <p:nvSpPr>
          <p:cNvPr id="34" name="Shape 32"/>
          <p:cNvSpPr/>
          <p:nvPr/>
        </p:nvSpPr>
        <p:spPr>
          <a:xfrm>
            <a:off x="6428232" y="3959352"/>
            <a:ext cx="73152" cy="1362456"/>
          </a:xfrm>
          <a:prstGeom prst="rect">
            <a:avLst/>
          </a:prstGeom>
          <a:solidFill>
            <a:srgbClr val="2563EB"/>
          </a:solidFill>
          <a:ln w="12700">
            <a:solidFill>
              <a:srgbClr val="2563EB">
                <a:alpha val="0"/>
              </a:srgbClr>
            </a:solidFill>
            <a:prstDash val="solid"/>
          </a:ln>
        </p:spPr>
      </p:sp>
      <p:sp>
        <p:nvSpPr>
          <p:cNvPr id="35" name="Text 33"/>
          <p:cNvSpPr/>
          <p:nvPr/>
        </p:nvSpPr>
        <p:spPr>
          <a:xfrm>
            <a:off x="6583680" y="3959352"/>
            <a:ext cx="4773168" cy="219456"/>
          </a:xfrm>
          <a:prstGeom prst="rect">
            <a:avLst/>
          </a:prstGeom>
          <a:noFill/>
          <a:ln/>
        </p:spPr>
        <p:txBody>
          <a:bodyPr wrap="square" lIns="0" tIns="0" rIns="0" bIns="0" rtlCol="0" anchor="ctr"/>
          <a:lstStyle/>
          <a:p>
            <a:pPr indent="0" marL="0">
              <a:buNone/>
            </a:pPr>
            <a:r>
              <a:rPr lang="en-US" sz="1300" b="1" dirty="0">
                <a:solidFill>
                  <a:srgbClr val="0F172A"/>
                </a:solidFill>
              </a:rPr>
              <a:t>Remarque utile</a:t>
            </a:r>
            <a:endParaRPr lang="en-US" sz="1300" dirty="0"/>
          </a:p>
        </p:txBody>
      </p:sp>
      <p:sp>
        <p:nvSpPr>
          <p:cNvPr id="36" name="Text 34"/>
          <p:cNvSpPr/>
          <p:nvPr/>
        </p:nvSpPr>
        <p:spPr>
          <a:xfrm>
            <a:off x="6583680" y="4270248"/>
            <a:ext cx="4818888" cy="1069848"/>
          </a:xfrm>
          <a:prstGeom prst="rect">
            <a:avLst/>
          </a:prstGeom>
          <a:noFill/>
          <a:ln/>
        </p:spPr>
        <p:txBody>
          <a:bodyPr wrap="square" lIns="0" tIns="0" rIns="0" bIns="0" rtlCol="0" anchor="t"/>
          <a:lstStyle/>
          <a:p>
            <a:pPr indent="0" marL="0">
              <a:buNone/>
            </a:pPr>
            <a:r>
              <a:rPr lang="en-US" sz="1050" dirty="0">
                <a:solidFill>
                  <a:srgbClr val="64748B"/>
                </a:solidFill>
              </a:rPr>
              <a:t>• Une page Releves.jsx existe et le backend expose /api/releves, mais le module n est pas raccorde au routage principal a la date analysee.</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563EB"/>
          </a:solidFill>
          <a:ln w="12700">
            <a:solidFill>
              <a:srgbClr val="2563EB">
                <a:alpha val="0"/>
              </a:srgbClr>
            </a:solidFill>
            <a:prstDash val="solid"/>
          </a:ln>
        </p:spPr>
      </p:sp>
      <p:sp>
        <p:nvSpPr>
          <p:cNvPr id="3" name="Shape 1"/>
          <p:cNvSpPr/>
          <p:nvPr/>
        </p:nvSpPr>
        <p:spPr>
          <a:xfrm>
            <a:off x="9738360" y="310896"/>
            <a:ext cx="1874520" cy="310896"/>
          </a:xfrm>
          <a:prstGeom prst="roundRect">
            <a:avLst>
              <a:gd name="adj" fmla="val 23529"/>
            </a:avLst>
          </a:prstGeom>
          <a:solidFill>
            <a:srgbClr val="DBEAFE"/>
          </a:solidFill>
          <a:ln w="12700">
            <a:solidFill>
              <a:srgbClr val="DBEAFE">
                <a:alpha val="0"/>
              </a:srgbClr>
            </a:solidFill>
            <a:prstDash val="solid"/>
          </a:ln>
        </p:spPr>
      </p:sp>
      <p:sp>
        <p:nvSpPr>
          <p:cNvPr id="4" name="Text 2"/>
          <p:cNvSpPr/>
          <p:nvPr/>
        </p:nvSpPr>
        <p:spPr>
          <a:xfrm>
            <a:off x="9893808" y="374904"/>
            <a:ext cx="1554480" cy="164592"/>
          </a:xfrm>
          <a:prstGeom prst="rect">
            <a:avLst/>
          </a:prstGeom>
          <a:noFill/>
          <a:ln/>
        </p:spPr>
        <p:txBody>
          <a:bodyPr wrap="square" lIns="0" tIns="0" rIns="0" bIns="0" rtlCol="0" anchor="ctr"/>
          <a:lstStyle/>
          <a:p>
            <a:pPr algn="ctr" indent="0" marL="0">
              <a:buNone/>
            </a:pPr>
            <a:r>
              <a:rPr lang="en-US" sz="850" b="1" dirty="0">
                <a:solidFill>
                  <a:srgbClr val="2563EB"/>
                </a:solidFill>
              </a:rPr>
              <a:t>CODE</a:t>
            </a:r>
            <a:endParaRPr lang="en-US" sz="850" dirty="0"/>
          </a:p>
        </p:txBody>
      </p:sp>
      <p:sp>
        <p:nvSpPr>
          <p:cNvPr id="5" name="Text 3"/>
          <p:cNvSpPr/>
          <p:nvPr/>
        </p:nvSpPr>
        <p:spPr>
          <a:xfrm>
            <a:off x="548640" y="329184"/>
            <a:ext cx="7498080" cy="411480"/>
          </a:xfrm>
          <a:prstGeom prst="rect">
            <a:avLst/>
          </a:prstGeom>
          <a:noFill/>
          <a:ln/>
        </p:spPr>
        <p:txBody>
          <a:bodyPr wrap="square" lIns="0" tIns="0" rIns="0" bIns="0" rtlCol="0" anchor="ctr"/>
          <a:lstStyle/>
          <a:p>
            <a:pPr indent="0" marL="0">
              <a:buNone/>
            </a:pPr>
            <a:r>
              <a:rPr lang="en-US" sz="2400" b="1" dirty="0">
                <a:solidFill>
                  <a:srgbClr val="0F172A"/>
                </a:solidFill>
              </a:rPr>
              <a:t>Extraits backend significatifs</a:t>
            </a:r>
            <a:endParaRPr lang="en-US" sz="2400" dirty="0"/>
          </a:p>
        </p:txBody>
      </p:sp>
      <p:sp>
        <p:nvSpPr>
          <p:cNvPr id="6" name="Text 4"/>
          <p:cNvSpPr/>
          <p:nvPr/>
        </p:nvSpPr>
        <p:spPr>
          <a:xfrm>
            <a:off x="566928" y="768096"/>
            <a:ext cx="7863840" cy="329184"/>
          </a:xfrm>
          <a:prstGeom prst="rect">
            <a:avLst/>
          </a:prstGeom>
          <a:noFill/>
          <a:ln/>
        </p:spPr>
        <p:txBody>
          <a:bodyPr wrap="square" lIns="0" tIns="0" rIns="0" bIns="0" rtlCol="0" anchor="ctr"/>
          <a:lstStyle/>
          <a:p>
            <a:pPr indent="0" marL="0">
              <a:buNone/>
            </a:pPr>
            <a:r>
              <a:rPr lang="en-US" sz="1150" dirty="0">
                <a:solidFill>
                  <a:srgbClr val="64748B"/>
                </a:solidFill>
              </a:rPr>
              <a:t>Deux exemples qui montrent la logique metier embarquee directement dans le backend Laravel.</a:t>
            </a:r>
            <a:endParaRPr lang="en-US" sz="1150" dirty="0"/>
          </a:p>
        </p:txBody>
      </p:sp>
      <p:sp>
        <p:nvSpPr>
          <p:cNvPr id="7" name="Text 5"/>
          <p:cNvSpPr/>
          <p:nvPr/>
        </p:nvSpPr>
        <p:spPr>
          <a:xfrm>
            <a:off x="548640" y="6446520"/>
            <a:ext cx="4389120" cy="182880"/>
          </a:xfrm>
          <a:prstGeom prst="rect">
            <a:avLst/>
          </a:prstGeom>
          <a:noFill/>
          <a:ln/>
        </p:spPr>
        <p:txBody>
          <a:bodyPr wrap="square" lIns="0" tIns="0" rIns="0" bIns="0" rtlCol="0" anchor="ctr"/>
          <a:lstStyle/>
          <a:p>
            <a:pPr indent="0" marL="0">
              <a:buNone/>
            </a:pPr>
            <a:r>
              <a:rPr lang="en-US" sz="850" dirty="0">
                <a:solidFill>
                  <a:srgbClr val="64748B"/>
                </a:solidFill>
              </a:rPr>
              <a:t>Analyse du code source - 10 mai 2026</a:t>
            </a:r>
            <a:endParaRPr lang="en-US" sz="850" dirty="0"/>
          </a:p>
        </p:txBody>
      </p:sp>
      <p:sp>
        <p:nvSpPr>
          <p:cNvPr id="8" name="Text 6"/>
          <p:cNvSpPr/>
          <p:nvPr/>
        </p:nvSpPr>
        <p:spPr>
          <a:xfrm>
            <a:off x="11064240" y="6419088"/>
            <a:ext cx="548640" cy="182880"/>
          </a:xfrm>
          <a:prstGeom prst="rect">
            <a:avLst/>
          </a:prstGeom>
          <a:noFill/>
          <a:ln/>
        </p:spPr>
        <p:txBody>
          <a:bodyPr wrap="square" lIns="0" tIns="0" rIns="0" bIns="0" rtlCol="0" anchor="ctr"/>
          <a:lstStyle/>
          <a:p>
            <a:pPr algn="r" indent="0" marL="0">
              <a:buNone/>
            </a:pPr>
            <a:r>
              <a:rPr lang="en-US" sz="900" b="1" dirty="0">
                <a:solidFill>
                  <a:srgbClr val="64748B"/>
                </a:solidFill>
              </a:rPr>
              <a:t>14/17</a:t>
            </a:r>
            <a:endParaRPr lang="en-US" sz="900" dirty="0"/>
          </a:p>
        </p:txBody>
      </p:sp>
      <p:sp>
        <p:nvSpPr>
          <p:cNvPr id="9" name="Shape 7"/>
          <p:cNvSpPr/>
          <p:nvPr/>
        </p:nvSpPr>
        <p:spPr>
          <a:xfrm>
            <a:off x="658368" y="1417320"/>
            <a:ext cx="5349240" cy="3246120"/>
          </a:xfrm>
          <a:prstGeom prst="roundRect">
            <a:avLst>
              <a:gd name="adj" fmla="val 2254"/>
            </a:avLst>
          </a:prstGeom>
          <a:solidFill>
            <a:srgbClr val="111827"/>
          </a:solidFill>
          <a:ln w="12700">
            <a:solidFill>
              <a:srgbClr val="1F2937"/>
            </a:solidFill>
            <a:prstDash val="solid"/>
          </a:ln>
        </p:spPr>
      </p:sp>
      <p:sp>
        <p:nvSpPr>
          <p:cNvPr id="10" name="Text 8"/>
          <p:cNvSpPr/>
          <p:nvPr/>
        </p:nvSpPr>
        <p:spPr>
          <a:xfrm>
            <a:off x="822960" y="1545336"/>
            <a:ext cx="5020056" cy="201168"/>
          </a:xfrm>
          <a:prstGeom prst="rect">
            <a:avLst/>
          </a:prstGeom>
          <a:noFill/>
          <a:ln/>
        </p:spPr>
        <p:txBody>
          <a:bodyPr wrap="square" lIns="0" tIns="0" rIns="0" bIns="0" rtlCol="0" anchor="ctr"/>
          <a:lstStyle/>
          <a:p>
            <a:pPr indent="0" marL="0">
              <a:buNone/>
            </a:pPr>
            <a:r>
              <a:rPr lang="en-US" sz="1150" b="1" dirty="0">
                <a:solidFill>
                  <a:srgbClr val="FFFFFF"/>
                </a:solidFill>
              </a:rPr>
              <a:t>Calcul automatique de la consommation</a:t>
            </a:r>
            <a:endParaRPr lang="en-US" sz="1150" dirty="0"/>
          </a:p>
        </p:txBody>
      </p:sp>
      <p:sp>
        <p:nvSpPr>
          <p:cNvPr id="11" name="Text 9"/>
          <p:cNvSpPr/>
          <p:nvPr/>
        </p:nvSpPr>
        <p:spPr>
          <a:xfrm>
            <a:off x="822960" y="1746504"/>
            <a:ext cx="5020056" cy="164592"/>
          </a:xfrm>
          <a:prstGeom prst="rect">
            <a:avLst/>
          </a:prstGeom>
          <a:noFill/>
          <a:ln/>
        </p:spPr>
        <p:txBody>
          <a:bodyPr wrap="square" lIns="0" tIns="0" rIns="0" bIns="0" rtlCol="0" anchor="ctr"/>
          <a:lstStyle/>
          <a:p>
            <a:pPr indent="0" marL="0">
              <a:buNone/>
            </a:pPr>
            <a:r>
              <a:rPr lang="en-US" sz="800" i="1" dirty="0">
                <a:solidFill>
                  <a:srgbClr val="93C5FD"/>
                </a:solidFill>
              </a:rPr>
              <a:t>backend/app/Models/Releve.php</a:t>
            </a:r>
            <a:endParaRPr lang="en-US" sz="800" dirty="0"/>
          </a:p>
        </p:txBody>
      </p:sp>
      <p:sp>
        <p:nvSpPr>
          <p:cNvPr id="12" name="Text 10"/>
          <p:cNvSpPr/>
          <p:nvPr/>
        </p:nvSpPr>
        <p:spPr>
          <a:xfrm>
            <a:off x="822960" y="1984248"/>
            <a:ext cx="5038344" cy="2551176"/>
          </a:xfrm>
          <a:prstGeom prst="rect">
            <a:avLst/>
          </a:prstGeom>
          <a:noFill/>
          <a:ln/>
        </p:spPr>
        <p:txBody>
          <a:bodyPr wrap="square" lIns="0" tIns="0" rIns="0" bIns="0" rtlCol="0" anchor="ctr"/>
          <a:lstStyle/>
          <a:p>
            <a:pPr indent="0" marL="0">
              <a:buNone/>
            </a:pPr>
            <a:r>
              <a:rPr lang="en-US" sz="820" dirty="0">
                <a:solidFill>
                  <a:srgbClr val="E2E8F0"/>
                </a:solidFill>
                <a:latin typeface="Consolas" pitchFamily="34" charset="0"/>
                <a:ea typeface="Consolas" pitchFamily="34" charset="-122"/>
                <a:cs typeface="Consolas" pitchFamily="34" charset="-120"/>
              </a:rPr>
              <a:t>protected static function booted(): void</a:t>
            </a:r>
            <a:endParaRPr lang="en-US" sz="820" dirty="0"/>
          </a:p>
          <a:p>
            <a:pPr indent="0" marL="0">
              <a:buNone/>
            </a:pPr>
            <a:r>
              <a:rPr lang="en-US" sz="820" dirty="0">
                <a:solidFill>
                  <a:srgbClr val="E2E8F0"/>
                </a:solidFill>
                <a:latin typeface="Consolas" pitchFamily="34" charset="0"/>
                <a:ea typeface="Consolas" pitchFamily="34" charset="-122"/>
                <a:cs typeface="Consolas" pitchFamily="34" charset="-120"/>
              </a:rPr>
              <a:t>{</a:t>
            </a:r>
            <a:endParaRPr lang="en-US" sz="820" dirty="0"/>
          </a:p>
          <a:p>
            <a:pPr indent="0" marL="0">
              <a:buNone/>
            </a:pPr>
            <a:r>
              <a:rPr lang="en-US" sz="820" dirty="0">
                <a:solidFill>
                  <a:srgbClr val="E2E8F0"/>
                </a:solidFill>
                <a:latin typeface="Consolas" pitchFamily="34" charset="0"/>
                <a:ea typeface="Consolas" pitchFamily="34" charset="-122"/>
                <a:cs typeface="Consolas" pitchFamily="34" charset="-120"/>
              </a:rPr>
              <a:t>    static::saving(function (Releve $releve): void {</a:t>
            </a:r>
            <a:endParaRPr lang="en-US" sz="820" dirty="0"/>
          </a:p>
          <a:p>
            <a:pPr indent="0" marL="0">
              <a:buNone/>
            </a:pPr>
            <a:r>
              <a:rPr lang="en-US" sz="820" dirty="0">
                <a:solidFill>
                  <a:srgbClr val="E2E8F0"/>
                </a:solidFill>
                <a:latin typeface="Consolas" pitchFamily="34" charset="0"/>
                <a:ea typeface="Consolas" pitchFamily="34" charset="-122"/>
                <a:cs typeface="Consolas" pitchFamily="34" charset="-120"/>
              </a:rPr>
              <a:t>        $releve-&gt;consommation = max(</a:t>
            </a:r>
            <a:endParaRPr lang="en-US" sz="820" dirty="0"/>
          </a:p>
          <a:p>
            <a:pPr indent="0" marL="0">
              <a:buNone/>
            </a:pPr>
            <a:r>
              <a:rPr lang="en-US" sz="820" dirty="0">
                <a:solidFill>
                  <a:srgbClr val="E2E8F0"/>
                </a:solidFill>
                <a:latin typeface="Consolas" pitchFamily="34" charset="0"/>
                <a:ea typeface="Consolas" pitchFamily="34" charset="-122"/>
                <a:cs typeface="Consolas" pitchFamily="34" charset="-120"/>
              </a:rPr>
              <a:t>            0,</a:t>
            </a:r>
            <a:endParaRPr lang="en-US" sz="820" dirty="0"/>
          </a:p>
          <a:p>
            <a:pPr indent="0" marL="0">
              <a:buNone/>
            </a:pPr>
            <a:r>
              <a:rPr lang="en-US" sz="820" dirty="0">
                <a:solidFill>
                  <a:srgbClr val="E2E8F0"/>
                </a:solidFill>
                <a:latin typeface="Consolas" pitchFamily="34" charset="0"/>
                <a:ea typeface="Consolas" pitchFamily="34" charset="-122"/>
                <a:cs typeface="Consolas" pitchFamily="34" charset="-120"/>
              </a:rPr>
              <a:t>            (float) $releve-&gt;nouvel_index</a:t>
            </a:r>
            <a:endParaRPr lang="en-US" sz="820" dirty="0"/>
          </a:p>
          <a:p>
            <a:pPr indent="0" marL="0">
              <a:buNone/>
            </a:pPr>
            <a:r>
              <a:rPr lang="en-US" sz="820" dirty="0">
                <a:solidFill>
                  <a:srgbClr val="E2E8F0"/>
                </a:solidFill>
                <a:latin typeface="Consolas" pitchFamily="34" charset="0"/>
                <a:ea typeface="Consolas" pitchFamily="34" charset="-122"/>
                <a:cs typeface="Consolas" pitchFamily="34" charset="-120"/>
              </a:rPr>
              <a:t>            - (float) $releve-&gt;ancien_index</a:t>
            </a:r>
            <a:endParaRPr lang="en-US" sz="820" dirty="0"/>
          </a:p>
          <a:p>
            <a:pPr indent="0" marL="0">
              <a:buNone/>
            </a:pPr>
            <a:r>
              <a:rPr lang="en-US" sz="820" dirty="0">
                <a:solidFill>
                  <a:srgbClr val="E2E8F0"/>
                </a:solidFill>
                <a:latin typeface="Consolas" pitchFamily="34" charset="0"/>
                <a:ea typeface="Consolas" pitchFamily="34" charset="-122"/>
                <a:cs typeface="Consolas" pitchFamily="34" charset="-120"/>
              </a:rPr>
              <a:t>        );</a:t>
            </a:r>
            <a:endParaRPr lang="en-US" sz="820" dirty="0"/>
          </a:p>
          <a:p>
            <a:pPr indent="0" marL="0">
              <a:buNone/>
            </a:pPr>
            <a:r>
              <a:rPr lang="en-US" sz="820" dirty="0">
                <a:solidFill>
                  <a:srgbClr val="E2E8F0"/>
                </a:solidFill>
                <a:latin typeface="Consolas" pitchFamily="34" charset="0"/>
                <a:ea typeface="Consolas" pitchFamily="34" charset="-122"/>
                <a:cs typeface="Consolas" pitchFamily="34" charset="-120"/>
              </a:rPr>
              <a:t>    });</a:t>
            </a:r>
            <a:endParaRPr lang="en-US" sz="820" dirty="0"/>
          </a:p>
          <a:p>
            <a:pPr indent="0" marL="0">
              <a:buNone/>
            </a:pPr>
            <a:r>
              <a:rPr lang="en-US" sz="820" dirty="0">
                <a:solidFill>
                  <a:srgbClr val="E2E8F0"/>
                </a:solidFill>
                <a:latin typeface="Consolas" pitchFamily="34" charset="0"/>
                <a:ea typeface="Consolas" pitchFamily="34" charset="-122"/>
                <a:cs typeface="Consolas" pitchFamily="34" charset="-120"/>
              </a:rPr>
              <a:t>}</a:t>
            </a:r>
            <a:endParaRPr lang="en-US" sz="820" dirty="0"/>
          </a:p>
        </p:txBody>
      </p:sp>
      <p:sp>
        <p:nvSpPr>
          <p:cNvPr id="13" name="Shape 11"/>
          <p:cNvSpPr/>
          <p:nvPr/>
        </p:nvSpPr>
        <p:spPr>
          <a:xfrm>
            <a:off x="6199632" y="1417320"/>
            <a:ext cx="5349240" cy="3246120"/>
          </a:xfrm>
          <a:prstGeom prst="roundRect">
            <a:avLst>
              <a:gd name="adj" fmla="val 2254"/>
            </a:avLst>
          </a:prstGeom>
          <a:solidFill>
            <a:srgbClr val="111827"/>
          </a:solidFill>
          <a:ln w="12700">
            <a:solidFill>
              <a:srgbClr val="1F2937"/>
            </a:solidFill>
            <a:prstDash val="solid"/>
          </a:ln>
        </p:spPr>
      </p:sp>
      <p:sp>
        <p:nvSpPr>
          <p:cNvPr id="14" name="Text 12"/>
          <p:cNvSpPr/>
          <p:nvPr/>
        </p:nvSpPr>
        <p:spPr>
          <a:xfrm>
            <a:off x="6364224" y="1545336"/>
            <a:ext cx="5020056" cy="201168"/>
          </a:xfrm>
          <a:prstGeom prst="rect">
            <a:avLst/>
          </a:prstGeom>
          <a:noFill/>
          <a:ln/>
        </p:spPr>
        <p:txBody>
          <a:bodyPr wrap="square" lIns="0" tIns="0" rIns="0" bIns="0" rtlCol="0" anchor="ctr"/>
          <a:lstStyle/>
          <a:p>
            <a:pPr indent="0" marL="0">
              <a:buNone/>
            </a:pPr>
            <a:r>
              <a:rPr lang="en-US" sz="1150" b="1" dirty="0">
                <a:solidFill>
                  <a:srgbClr val="FFFFFF"/>
                </a:solidFill>
              </a:rPr>
              <a:t>Cloture transactionnelle d une panne</a:t>
            </a:r>
            <a:endParaRPr lang="en-US" sz="1150" dirty="0"/>
          </a:p>
        </p:txBody>
      </p:sp>
      <p:sp>
        <p:nvSpPr>
          <p:cNvPr id="15" name="Text 13"/>
          <p:cNvSpPr/>
          <p:nvPr/>
        </p:nvSpPr>
        <p:spPr>
          <a:xfrm>
            <a:off x="6364224" y="1746504"/>
            <a:ext cx="5020056" cy="164592"/>
          </a:xfrm>
          <a:prstGeom prst="rect">
            <a:avLst/>
          </a:prstGeom>
          <a:noFill/>
          <a:ln/>
        </p:spPr>
        <p:txBody>
          <a:bodyPr wrap="square" lIns="0" tIns="0" rIns="0" bIns="0" rtlCol="0" anchor="ctr"/>
          <a:lstStyle/>
          <a:p>
            <a:pPr indent="0" marL="0">
              <a:buNone/>
            </a:pPr>
            <a:r>
              <a:rPr lang="en-US" sz="800" i="1" dirty="0">
                <a:solidFill>
                  <a:srgbClr val="93C5FD"/>
                </a:solidFill>
              </a:rPr>
              <a:t>backend/app/Http/Controllers/ReparationController.php</a:t>
            </a:r>
            <a:endParaRPr lang="en-US" sz="800" dirty="0"/>
          </a:p>
        </p:txBody>
      </p:sp>
      <p:sp>
        <p:nvSpPr>
          <p:cNvPr id="16" name="Text 14"/>
          <p:cNvSpPr/>
          <p:nvPr/>
        </p:nvSpPr>
        <p:spPr>
          <a:xfrm>
            <a:off x="6364224" y="1984248"/>
            <a:ext cx="5038344" cy="2551176"/>
          </a:xfrm>
          <a:prstGeom prst="rect">
            <a:avLst/>
          </a:prstGeom>
          <a:noFill/>
          <a:ln/>
        </p:spPr>
        <p:txBody>
          <a:bodyPr wrap="square" lIns="0" tIns="0" rIns="0" bIns="0" rtlCol="0" anchor="ctr"/>
          <a:lstStyle/>
          <a:p>
            <a:pPr indent="0" marL="0">
              <a:buNone/>
            </a:pPr>
            <a:r>
              <a:rPr lang="en-US" sz="820" dirty="0">
                <a:solidFill>
                  <a:srgbClr val="E2E8F0"/>
                </a:solidFill>
                <a:latin typeface="Consolas" pitchFamily="34" charset="0"/>
                <a:ea typeface="Consolas" pitchFamily="34" charset="-122"/>
                <a:cs typeface="Consolas" pitchFamily="34" charset="-120"/>
              </a:rPr>
              <a:t>$reparation = DB::transaction(function () use ($validated) {</a:t>
            </a:r>
            <a:endParaRPr lang="en-US" sz="820" dirty="0"/>
          </a:p>
          <a:p>
            <a:pPr indent="0" marL="0">
              <a:buNone/>
            </a:pPr>
            <a:r>
              <a:rPr lang="en-US" sz="820" dirty="0">
                <a:solidFill>
                  <a:srgbClr val="E2E8F0"/>
                </a:solidFill>
                <a:latin typeface="Consolas" pitchFamily="34" charset="0"/>
                <a:ea typeface="Consolas" pitchFamily="34" charset="-122"/>
                <a:cs typeface="Consolas" pitchFamily="34" charset="-120"/>
              </a:rPr>
              <a:t>    $reparation = Reparation::create($validated);</a:t>
            </a:r>
            <a:endParaRPr lang="en-US" sz="820" dirty="0"/>
          </a:p>
          <a:p>
            <a:pPr indent="0" marL="0">
              <a:buNone/>
            </a:pPr>
            <a:r>
              <a:rPr lang="en-US" sz="820" dirty="0">
                <a:solidFill>
                  <a:srgbClr val="E2E8F0"/>
                </a:solidFill>
                <a:latin typeface="Consolas" pitchFamily="34" charset="0"/>
                <a:ea typeface="Consolas" pitchFamily="34" charset="-122"/>
                <a:cs typeface="Consolas" pitchFamily="34" charset="-120"/>
              </a:rPr>
              <a:t>    $reparation-&gt;panne()-&gt;update([</a:t>
            </a:r>
            <a:endParaRPr lang="en-US" sz="820" dirty="0"/>
          </a:p>
          <a:p>
            <a:pPr indent="0" marL="0">
              <a:buNone/>
            </a:pPr>
            <a:r>
              <a:rPr lang="en-US" sz="820" dirty="0">
                <a:solidFill>
                  <a:srgbClr val="E2E8F0"/>
                </a:solidFill>
                <a:latin typeface="Consolas" pitchFamily="34" charset="0"/>
                <a:ea typeface="Consolas" pitchFamily="34" charset="-122"/>
                <a:cs typeface="Consolas" pitchFamily="34" charset="-120"/>
              </a:rPr>
              <a:t>        'status' =&gt; PanneStatus::Resolved-&gt;value,</a:t>
            </a:r>
            <a:endParaRPr lang="en-US" sz="820" dirty="0"/>
          </a:p>
          <a:p>
            <a:pPr indent="0" marL="0">
              <a:buNone/>
            </a:pPr>
            <a:r>
              <a:rPr lang="en-US" sz="820" dirty="0">
                <a:solidFill>
                  <a:srgbClr val="E2E8F0"/>
                </a:solidFill>
                <a:latin typeface="Consolas" pitchFamily="34" charset="0"/>
                <a:ea typeface="Consolas" pitchFamily="34" charset="-122"/>
                <a:cs typeface="Consolas" pitchFamily="34" charset="-120"/>
              </a:rPr>
              <a:t>    ]);</a:t>
            </a:r>
            <a:endParaRPr lang="en-US" sz="820" dirty="0"/>
          </a:p>
          <a:p>
            <a:pPr indent="0" marL="0">
              <a:buNone/>
            </a:pPr>
            <a:endParaRPr lang="en-US" sz="820" dirty="0"/>
          </a:p>
          <a:p>
            <a:pPr indent="0" marL="0">
              <a:buNone/>
            </a:pPr>
            <a:r>
              <a:rPr lang="en-US" sz="820" dirty="0">
                <a:solidFill>
                  <a:srgbClr val="E2E8F0"/>
                </a:solidFill>
                <a:latin typeface="Consolas" pitchFamily="34" charset="0"/>
                <a:ea typeface="Consolas" pitchFamily="34" charset="-122"/>
                <a:cs typeface="Consolas" pitchFamily="34" charset="-120"/>
              </a:rPr>
              <a:t>    return $reparation;</a:t>
            </a:r>
            <a:endParaRPr lang="en-US" sz="820" dirty="0"/>
          </a:p>
          <a:p>
            <a:pPr indent="0" marL="0">
              <a:buNone/>
            </a:pPr>
            <a:r>
              <a:rPr lang="en-US" sz="820" dirty="0">
                <a:solidFill>
                  <a:srgbClr val="E2E8F0"/>
                </a:solidFill>
                <a:latin typeface="Consolas" pitchFamily="34" charset="0"/>
                <a:ea typeface="Consolas" pitchFamily="34" charset="-122"/>
                <a:cs typeface="Consolas" pitchFamily="34" charset="-120"/>
              </a:rPr>
              <a:t>});</a:t>
            </a:r>
            <a:endParaRPr lang="en-US" sz="820" dirty="0"/>
          </a:p>
        </p:txBody>
      </p:sp>
      <p:sp>
        <p:nvSpPr>
          <p:cNvPr id="17" name="Shape 15"/>
          <p:cNvSpPr/>
          <p:nvPr/>
        </p:nvSpPr>
        <p:spPr>
          <a:xfrm>
            <a:off x="658368" y="4983480"/>
            <a:ext cx="5349240" cy="914400"/>
          </a:xfrm>
          <a:prstGeom prst="roundRect">
            <a:avLst>
              <a:gd name="adj" fmla="val 10000"/>
            </a:avLst>
          </a:prstGeom>
          <a:solidFill>
            <a:srgbClr val="FFFFFF"/>
          </a:solidFill>
          <a:ln w="12700">
            <a:solidFill>
              <a:srgbClr val="CBD5E1"/>
            </a:solidFill>
            <a:prstDash val="solid"/>
          </a:ln>
        </p:spPr>
      </p:sp>
      <p:sp>
        <p:nvSpPr>
          <p:cNvPr id="18" name="Shape 16"/>
          <p:cNvSpPr/>
          <p:nvPr/>
        </p:nvSpPr>
        <p:spPr>
          <a:xfrm>
            <a:off x="822960" y="5148072"/>
            <a:ext cx="73152" cy="585216"/>
          </a:xfrm>
          <a:prstGeom prst="rect">
            <a:avLst/>
          </a:prstGeom>
          <a:solidFill>
            <a:srgbClr val="2563EB"/>
          </a:solidFill>
          <a:ln w="12700">
            <a:solidFill>
              <a:srgbClr val="2563EB">
                <a:alpha val="0"/>
              </a:srgbClr>
            </a:solidFill>
            <a:prstDash val="solid"/>
          </a:ln>
        </p:spPr>
      </p:sp>
      <p:sp>
        <p:nvSpPr>
          <p:cNvPr id="19" name="Text 17"/>
          <p:cNvSpPr/>
          <p:nvPr/>
        </p:nvSpPr>
        <p:spPr>
          <a:xfrm>
            <a:off x="978408" y="5148072"/>
            <a:ext cx="4892040" cy="219456"/>
          </a:xfrm>
          <a:prstGeom prst="rect">
            <a:avLst/>
          </a:prstGeom>
          <a:noFill/>
          <a:ln/>
        </p:spPr>
        <p:txBody>
          <a:bodyPr wrap="square" lIns="0" tIns="0" rIns="0" bIns="0" rtlCol="0" anchor="ctr"/>
          <a:lstStyle/>
          <a:p>
            <a:pPr indent="0" marL="0">
              <a:buNone/>
            </a:pPr>
            <a:r>
              <a:rPr lang="en-US" sz="1300" b="1" dirty="0">
                <a:solidFill>
                  <a:srgbClr val="0F172A"/>
                </a:solidFill>
              </a:rPr>
              <a:t>Pourquoi cet extrait est important</a:t>
            </a:r>
            <a:endParaRPr lang="en-US" sz="1300" dirty="0"/>
          </a:p>
        </p:txBody>
      </p:sp>
      <p:sp>
        <p:nvSpPr>
          <p:cNvPr id="20" name="Text 18"/>
          <p:cNvSpPr/>
          <p:nvPr/>
        </p:nvSpPr>
        <p:spPr>
          <a:xfrm>
            <a:off x="978408" y="5458968"/>
            <a:ext cx="4937760" cy="292608"/>
          </a:xfrm>
          <a:prstGeom prst="rect">
            <a:avLst/>
          </a:prstGeom>
          <a:noFill/>
          <a:ln/>
        </p:spPr>
        <p:txBody>
          <a:bodyPr wrap="square" lIns="0" tIns="0" rIns="0" bIns="0" rtlCol="0" anchor="t"/>
          <a:lstStyle/>
          <a:p>
            <a:pPr indent="0" marL="0">
              <a:buNone/>
            </a:pPr>
            <a:r>
              <a:rPr lang="en-US" sz="1050" dirty="0">
                <a:solidFill>
                  <a:srgbClr val="64748B"/>
                </a:solidFill>
              </a:rPr>
              <a:t>• Le calcul critique ne depend pas du frontend : il reste fiabilise dans le modele.</a:t>
            </a:r>
            <a:endParaRPr lang="en-US" sz="1050" dirty="0"/>
          </a:p>
        </p:txBody>
      </p:sp>
      <p:sp>
        <p:nvSpPr>
          <p:cNvPr id="21" name="Shape 19"/>
          <p:cNvSpPr/>
          <p:nvPr/>
        </p:nvSpPr>
        <p:spPr>
          <a:xfrm>
            <a:off x="6199632" y="4983480"/>
            <a:ext cx="5349240" cy="914400"/>
          </a:xfrm>
          <a:prstGeom prst="roundRect">
            <a:avLst>
              <a:gd name="adj" fmla="val 10000"/>
            </a:avLst>
          </a:prstGeom>
          <a:solidFill>
            <a:srgbClr val="FFFFFF"/>
          </a:solidFill>
          <a:ln w="12700">
            <a:solidFill>
              <a:srgbClr val="CBD5E1"/>
            </a:solidFill>
            <a:prstDash val="solid"/>
          </a:ln>
        </p:spPr>
      </p:sp>
      <p:sp>
        <p:nvSpPr>
          <p:cNvPr id="22" name="Shape 20"/>
          <p:cNvSpPr/>
          <p:nvPr/>
        </p:nvSpPr>
        <p:spPr>
          <a:xfrm>
            <a:off x="6364224" y="5148072"/>
            <a:ext cx="73152" cy="585216"/>
          </a:xfrm>
          <a:prstGeom prst="rect">
            <a:avLst/>
          </a:prstGeom>
          <a:solidFill>
            <a:srgbClr val="D97706"/>
          </a:solidFill>
          <a:ln w="12700">
            <a:solidFill>
              <a:srgbClr val="D97706">
                <a:alpha val="0"/>
              </a:srgbClr>
            </a:solidFill>
            <a:prstDash val="solid"/>
          </a:ln>
        </p:spPr>
      </p:sp>
      <p:sp>
        <p:nvSpPr>
          <p:cNvPr id="23" name="Text 21"/>
          <p:cNvSpPr/>
          <p:nvPr/>
        </p:nvSpPr>
        <p:spPr>
          <a:xfrm>
            <a:off x="6519672" y="5148072"/>
            <a:ext cx="4892040" cy="219456"/>
          </a:xfrm>
          <a:prstGeom prst="rect">
            <a:avLst/>
          </a:prstGeom>
          <a:noFill/>
          <a:ln/>
        </p:spPr>
        <p:txBody>
          <a:bodyPr wrap="square" lIns="0" tIns="0" rIns="0" bIns="0" rtlCol="0" anchor="ctr"/>
          <a:lstStyle/>
          <a:p>
            <a:pPr indent="0" marL="0">
              <a:buNone/>
            </a:pPr>
            <a:r>
              <a:rPr lang="en-US" sz="1300" b="1" dirty="0">
                <a:solidFill>
                  <a:srgbClr val="0F172A"/>
                </a:solidFill>
              </a:rPr>
              <a:t>Pourquoi cet extrait est important</a:t>
            </a:r>
            <a:endParaRPr lang="en-US" sz="1300" dirty="0"/>
          </a:p>
        </p:txBody>
      </p:sp>
      <p:sp>
        <p:nvSpPr>
          <p:cNvPr id="24" name="Text 22"/>
          <p:cNvSpPr/>
          <p:nvPr/>
        </p:nvSpPr>
        <p:spPr>
          <a:xfrm>
            <a:off x="6519672" y="5458968"/>
            <a:ext cx="4937760" cy="292608"/>
          </a:xfrm>
          <a:prstGeom prst="rect">
            <a:avLst/>
          </a:prstGeom>
          <a:noFill/>
          <a:ln/>
        </p:spPr>
        <p:txBody>
          <a:bodyPr wrap="square" lIns="0" tIns="0" rIns="0" bIns="0" rtlCol="0" anchor="t"/>
          <a:lstStyle/>
          <a:p>
            <a:pPr indent="0" marL="0">
              <a:buNone/>
            </a:pPr>
            <a:r>
              <a:rPr lang="en-US" sz="1050" dirty="0">
                <a:solidFill>
                  <a:srgbClr val="64748B"/>
                </a:solidFill>
              </a:rPr>
              <a:t>• La reparation et la mise a jour du statut sont executees ensemble, sans incoherence de donnees.</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563EB"/>
          </a:solidFill>
          <a:ln w="12700">
            <a:solidFill>
              <a:srgbClr val="2563EB">
                <a:alpha val="0"/>
              </a:srgbClr>
            </a:solidFill>
            <a:prstDash val="solid"/>
          </a:ln>
        </p:spPr>
      </p:sp>
      <p:sp>
        <p:nvSpPr>
          <p:cNvPr id="3" name="Shape 1"/>
          <p:cNvSpPr/>
          <p:nvPr/>
        </p:nvSpPr>
        <p:spPr>
          <a:xfrm>
            <a:off x="9738360" y="310896"/>
            <a:ext cx="1874520" cy="310896"/>
          </a:xfrm>
          <a:prstGeom prst="roundRect">
            <a:avLst>
              <a:gd name="adj" fmla="val 23529"/>
            </a:avLst>
          </a:prstGeom>
          <a:solidFill>
            <a:srgbClr val="DBEAFE"/>
          </a:solidFill>
          <a:ln w="12700">
            <a:solidFill>
              <a:srgbClr val="DBEAFE">
                <a:alpha val="0"/>
              </a:srgbClr>
            </a:solidFill>
            <a:prstDash val="solid"/>
          </a:ln>
        </p:spPr>
      </p:sp>
      <p:sp>
        <p:nvSpPr>
          <p:cNvPr id="4" name="Text 2"/>
          <p:cNvSpPr/>
          <p:nvPr/>
        </p:nvSpPr>
        <p:spPr>
          <a:xfrm>
            <a:off x="9893808" y="374904"/>
            <a:ext cx="1554480" cy="164592"/>
          </a:xfrm>
          <a:prstGeom prst="rect">
            <a:avLst/>
          </a:prstGeom>
          <a:noFill/>
          <a:ln/>
        </p:spPr>
        <p:txBody>
          <a:bodyPr wrap="square" lIns="0" tIns="0" rIns="0" bIns="0" rtlCol="0" anchor="ctr"/>
          <a:lstStyle/>
          <a:p>
            <a:pPr algn="ctr" indent="0" marL="0">
              <a:buNone/>
            </a:pPr>
            <a:r>
              <a:rPr lang="en-US" sz="850" b="1" dirty="0">
                <a:solidFill>
                  <a:srgbClr val="2563EB"/>
                </a:solidFill>
              </a:rPr>
              <a:t>CODE</a:t>
            </a:r>
            <a:endParaRPr lang="en-US" sz="850" dirty="0"/>
          </a:p>
        </p:txBody>
      </p:sp>
      <p:sp>
        <p:nvSpPr>
          <p:cNvPr id="5" name="Text 3"/>
          <p:cNvSpPr/>
          <p:nvPr/>
        </p:nvSpPr>
        <p:spPr>
          <a:xfrm>
            <a:off x="548640" y="329184"/>
            <a:ext cx="7498080" cy="411480"/>
          </a:xfrm>
          <a:prstGeom prst="rect">
            <a:avLst/>
          </a:prstGeom>
          <a:noFill/>
          <a:ln/>
        </p:spPr>
        <p:txBody>
          <a:bodyPr wrap="square" lIns="0" tIns="0" rIns="0" bIns="0" rtlCol="0" anchor="ctr"/>
          <a:lstStyle/>
          <a:p>
            <a:pPr indent="0" marL="0">
              <a:buNone/>
            </a:pPr>
            <a:r>
              <a:rPr lang="en-US" sz="2400" b="1" dirty="0">
                <a:solidFill>
                  <a:srgbClr val="0F172A"/>
                </a:solidFill>
              </a:rPr>
              <a:t>Extraits frontend significatifs</a:t>
            </a:r>
            <a:endParaRPr lang="en-US" sz="2400" dirty="0"/>
          </a:p>
        </p:txBody>
      </p:sp>
      <p:sp>
        <p:nvSpPr>
          <p:cNvPr id="6" name="Text 4"/>
          <p:cNvSpPr/>
          <p:nvPr/>
        </p:nvSpPr>
        <p:spPr>
          <a:xfrm>
            <a:off x="566928" y="768096"/>
            <a:ext cx="7863840" cy="329184"/>
          </a:xfrm>
          <a:prstGeom prst="rect">
            <a:avLst/>
          </a:prstGeom>
          <a:noFill/>
          <a:ln/>
        </p:spPr>
        <p:txBody>
          <a:bodyPr wrap="square" lIns="0" tIns="0" rIns="0" bIns="0" rtlCol="0" anchor="ctr"/>
          <a:lstStyle/>
          <a:p>
            <a:pPr indent="0" marL="0">
              <a:buNone/>
            </a:pPr>
            <a:r>
              <a:rPr lang="en-US" sz="1150" dirty="0">
                <a:solidFill>
                  <a:srgbClr val="64748B"/>
                </a:solidFill>
              </a:rPr>
              <a:t>Le frontend ne sert pas seulement a afficher : il structure aussi la navigation securisee et l experience utilisateur.</a:t>
            </a:r>
            <a:endParaRPr lang="en-US" sz="1150" dirty="0"/>
          </a:p>
        </p:txBody>
      </p:sp>
      <p:sp>
        <p:nvSpPr>
          <p:cNvPr id="7" name="Text 5"/>
          <p:cNvSpPr/>
          <p:nvPr/>
        </p:nvSpPr>
        <p:spPr>
          <a:xfrm>
            <a:off x="548640" y="6446520"/>
            <a:ext cx="4389120" cy="182880"/>
          </a:xfrm>
          <a:prstGeom prst="rect">
            <a:avLst/>
          </a:prstGeom>
          <a:noFill/>
          <a:ln/>
        </p:spPr>
        <p:txBody>
          <a:bodyPr wrap="square" lIns="0" tIns="0" rIns="0" bIns="0" rtlCol="0" anchor="ctr"/>
          <a:lstStyle/>
          <a:p>
            <a:pPr indent="0" marL="0">
              <a:buNone/>
            </a:pPr>
            <a:r>
              <a:rPr lang="en-US" sz="850" dirty="0">
                <a:solidFill>
                  <a:srgbClr val="64748B"/>
                </a:solidFill>
              </a:rPr>
              <a:t>Analyse du code source - 10 mai 2026</a:t>
            </a:r>
            <a:endParaRPr lang="en-US" sz="850" dirty="0"/>
          </a:p>
        </p:txBody>
      </p:sp>
      <p:sp>
        <p:nvSpPr>
          <p:cNvPr id="8" name="Text 6"/>
          <p:cNvSpPr/>
          <p:nvPr/>
        </p:nvSpPr>
        <p:spPr>
          <a:xfrm>
            <a:off x="11064240" y="6419088"/>
            <a:ext cx="548640" cy="182880"/>
          </a:xfrm>
          <a:prstGeom prst="rect">
            <a:avLst/>
          </a:prstGeom>
          <a:noFill/>
          <a:ln/>
        </p:spPr>
        <p:txBody>
          <a:bodyPr wrap="square" lIns="0" tIns="0" rIns="0" bIns="0" rtlCol="0" anchor="ctr"/>
          <a:lstStyle/>
          <a:p>
            <a:pPr algn="r" indent="0" marL="0">
              <a:buNone/>
            </a:pPr>
            <a:r>
              <a:rPr lang="en-US" sz="900" b="1" dirty="0">
                <a:solidFill>
                  <a:srgbClr val="64748B"/>
                </a:solidFill>
              </a:rPr>
              <a:t>15/17</a:t>
            </a:r>
            <a:endParaRPr lang="en-US" sz="900" dirty="0"/>
          </a:p>
        </p:txBody>
      </p:sp>
      <p:sp>
        <p:nvSpPr>
          <p:cNvPr id="9" name="Shape 7"/>
          <p:cNvSpPr/>
          <p:nvPr/>
        </p:nvSpPr>
        <p:spPr>
          <a:xfrm>
            <a:off x="658368" y="1417320"/>
            <a:ext cx="5349240" cy="3063240"/>
          </a:xfrm>
          <a:prstGeom prst="roundRect">
            <a:avLst>
              <a:gd name="adj" fmla="val 2388"/>
            </a:avLst>
          </a:prstGeom>
          <a:solidFill>
            <a:srgbClr val="111827"/>
          </a:solidFill>
          <a:ln w="12700">
            <a:solidFill>
              <a:srgbClr val="1F2937"/>
            </a:solidFill>
            <a:prstDash val="solid"/>
          </a:ln>
        </p:spPr>
      </p:sp>
      <p:sp>
        <p:nvSpPr>
          <p:cNvPr id="10" name="Text 8"/>
          <p:cNvSpPr/>
          <p:nvPr/>
        </p:nvSpPr>
        <p:spPr>
          <a:xfrm>
            <a:off x="822960" y="1545336"/>
            <a:ext cx="5020056" cy="201168"/>
          </a:xfrm>
          <a:prstGeom prst="rect">
            <a:avLst/>
          </a:prstGeom>
          <a:noFill/>
          <a:ln/>
        </p:spPr>
        <p:txBody>
          <a:bodyPr wrap="square" lIns="0" tIns="0" rIns="0" bIns="0" rtlCol="0" anchor="ctr"/>
          <a:lstStyle/>
          <a:p>
            <a:pPr indent="0" marL="0">
              <a:buNone/>
            </a:pPr>
            <a:r>
              <a:rPr lang="en-US" sz="1150" b="1" dirty="0">
                <a:solidFill>
                  <a:srgbClr val="FFFFFF"/>
                </a:solidFill>
              </a:rPr>
              <a:t>Protection des routes</a:t>
            </a:r>
            <a:endParaRPr lang="en-US" sz="1150" dirty="0"/>
          </a:p>
        </p:txBody>
      </p:sp>
      <p:sp>
        <p:nvSpPr>
          <p:cNvPr id="11" name="Text 9"/>
          <p:cNvSpPr/>
          <p:nvPr/>
        </p:nvSpPr>
        <p:spPr>
          <a:xfrm>
            <a:off x="822960" y="1746504"/>
            <a:ext cx="5020056" cy="164592"/>
          </a:xfrm>
          <a:prstGeom prst="rect">
            <a:avLst/>
          </a:prstGeom>
          <a:noFill/>
          <a:ln/>
        </p:spPr>
        <p:txBody>
          <a:bodyPr wrap="square" lIns="0" tIns="0" rIns="0" bIns="0" rtlCol="0" anchor="ctr"/>
          <a:lstStyle/>
          <a:p>
            <a:pPr indent="0" marL="0">
              <a:buNone/>
            </a:pPr>
            <a:r>
              <a:rPr lang="en-US" sz="800" i="1" dirty="0">
                <a:solidFill>
                  <a:srgbClr val="93C5FD"/>
                </a:solidFill>
              </a:rPr>
              <a:t>frontend/src/routes/ProtectedRoute.jsx</a:t>
            </a:r>
            <a:endParaRPr lang="en-US" sz="800" dirty="0"/>
          </a:p>
        </p:txBody>
      </p:sp>
      <p:sp>
        <p:nvSpPr>
          <p:cNvPr id="12" name="Text 10"/>
          <p:cNvSpPr/>
          <p:nvPr/>
        </p:nvSpPr>
        <p:spPr>
          <a:xfrm>
            <a:off x="822960" y="1984248"/>
            <a:ext cx="5038344" cy="2368296"/>
          </a:xfrm>
          <a:prstGeom prst="rect">
            <a:avLst/>
          </a:prstGeom>
          <a:noFill/>
          <a:ln/>
        </p:spPr>
        <p:txBody>
          <a:bodyPr wrap="square" lIns="0" tIns="0" rIns="0" bIns="0" rtlCol="0" anchor="ctr"/>
          <a:lstStyle/>
          <a:p>
            <a:pPr indent="0" marL="0">
              <a:buNone/>
            </a:pPr>
            <a:r>
              <a:rPr lang="en-US" sz="820" dirty="0">
                <a:solidFill>
                  <a:srgbClr val="E2E8F0"/>
                </a:solidFill>
                <a:latin typeface="Consolas" pitchFamily="34" charset="0"/>
                <a:ea typeface="Consolas" pitchFamily="34" charset="-122"/>
                <a:cs typeface="Consolas" pitchFamily="34" charset="-120"/>
              </a:rPr>
              <a:t>if (!isAuthenticated || !isKnownRole(role)) {</a:t>
            </a:r>
            <a:endParaRPr lang="en-US" sz="820" dirty="0"/>
          </a:p>
          <a:p>
            <a:pPr indent="0" marL="0">
              <a:buNone/>
            </a:pPr>
            <a:r>
              <a:rPr lang="en-US" sz="820" dirty="0">
                <a:solidFill>
                  <a:srgbClr val="E2E8F0"/>
                </a:solidFill>
                <a:latin typeface="Consolas" pitchFamily="34" charset="0"/>
                <a:ea typeface="Consolas" pitchFamily="34" charset="-122"/>
                <a:cs typeface="Consolas" pitchFamily="34" charset="-120"/>
              </a:rPr>
              <a:t>  return &lt;Navigate to="/login" replace state={{ from: location }} /&gt;;</a:t>
            </a:r>
            <a:endParaRPr lang="en-US" sz="820" dirty="0"/>
          </a:p>
          <a:p>
            <a:pPr indent="0" marL="0">
              <a:buNone/>
            </a:pPr>
            <a:r>
              <a:rPr lang="en-US" sz="820" dirty="0">
                <a:solidFill>
                  <a:srgbClr val="E2E8F0"/>
                </a:solidFill>
                <a:latin typeface="Consolas" pitchFamily="34" charset="0"/>
                <a:ea typeface="Consolas" pitchFamily="34" charset="-122"/>
                <a:cs typeface="Consolas" pitchFamily="34" charset="-120"/>
              </a:rPr>
              <a:t>}</a:t>
            </a:r>
            <a:endParaRPr lang="en-US" sz="820" dirty="0"/>
          </a:p>
          <a:p>
            <a:pPr indent="0" marL="0">
              <a:buNone/>
            </a:pPr>
            <a:endParaRPr lang="en-US" sz="820" dirty="0"/>
          </a:p>
          <a:p>
            <a:pPr indent="0" marL="0">
              <a:buNone/>
            </a:pPr>
            <a:r>
              <a:rPr lang="en-US" sz="820" dirty="0">
                <a:solidFill>
                  <a:srgbClr val="E2E8F0"/>
                </a:solidFill>
                <a:latin typeface="Consolas" pitchFamily="34" charset="0"/>
                <a:ea typeface="Consolas" pitchFamily="34" charset="-122"/>
                <a:cs typeface="Consolas" pitchFamily="34" charset="-120"/>
              </a:rPr>
              <a:t>if (roles &amp;&amp; !hasRole(role, roles)) {</a:t>
            </a:r>
            <a:endParaRPr lang="en-US" sz="820" dirty="0"/>
          </a:p>
          <a:p>
            <a:pPr indent="0" marL="0">
              <a:buNone/>
            </a:pPr>
            <a:r>
              <a:rPr lang="en-US" sz="820" dirty="0">
                <a:solidFill>
                  <a:srgbClr val="E2E8F0"/>
                </a:solidFill>
                <a:latin typeface="Consolas" pitchFamily="34" charset="0"/>
                <a:ea typeface="Consolas" pitchFamily="34" charset="-122"/>
                <a:cs typeface="Consolas" pitchFamily="34" charset="-120"/>
              </a:rPr>
              <a:t>  return &lt;Navigate to="/access-denied" replace /&gt;;</a:t>
            </a:r>
            <a:endParaRPr lang="en-US" sz="820" dirty="0"/>
          </a:p>
          <a:p>
            <a:pPr indent="0" marL="0">
              <a:buNone/>
            </a:pPr>
            <a:r>
              <a:rPr lang="en-US" sz="820" dirty="0">
                <a:solidFill>
                  <a:srgbClr val="E2E8F0"/>
                </a:solidFill>
                <a:latin typeface="Consolas" pitchFamily="34" charset="0"/>
                <a:ea typeface="Consolas" pitchFamily="34" charset="-122"/>
                <a:cs typeface="Consolas" pitchFamily="34" charset="-120"/>
              </a:rPr>
              <a:t>}</a:t>
            </a:r>
            <a:endParaRPr lang="en-US" sz="820" dirty="0"/>
          </a:p>
          <a:p>
            <a:pPr indent="0" marL="0">
              <a:buNone/>
            </a:pPr>
            <a:endParaRPr lang="en-US" sz="820" dirty="0"/>
          </a:p>
          <a:p>
            <a:pPr indent="0" marL="0">
              <a:buNone/>
            </a:pPr>
            <a:r>
              <a:rPr lang="en-US" sz="820" dirty="0">
                <a:solidFill>
                  <a:srgbClr val="E2E8F0"/>
                </a:solidFill>
                <a:latin typeface="Consolas" pitchFamily="34" charset="0"/>
                <a:ea typeface="Consolas" pitchFamily="34" charset="-122"/>
                <a:cs typeface="Consolas" pitchFamily="34" charset="-120"/>
              </a:rPr>
              <a:t>return &lt;Outlet /&gt;;</a:t>
            </a:r>
            <a:endParaRPr lang="en-US" sz="820" dirty="0"/>
          </a:p>
        </p:txBody>
      </p:sp>
      <p:sp>
        <p:nvSpPr>
          <p:cNvPr id="13" name="Shape 11"/>
          <p:cNvSpPr/>
          <p:nvPr/>
        </p:nvSpPr>
        <p:spPr>
          <a:xfrm>
            <a:off x="6199632" y="1417320"/>
            <a:ext cx="5349240" cy="3063240"/>
          </a:xfrm>
          <a:prstGeom prst="roundRect">
            <a:avLst>
              <a:gd name="adj" fmla="val 2388"/>
            </a:avLst>
          </a:prstGeom>
          <a:solidFill>
            <a:srgbClr val="111827"/>
          </a:solidFill>
          <a:ln w="12700">
            <a:solidFill>
              <a:srgbClr val="1F2937"/>
            </a:solidFill>
            <a:prstDash val="solid"/>
          </a:ln>
        </p:spPr>
      </p:sp>
      <p:sp>
        <p:nvSpPr>
          <p:cNvPr id="14" name="Text 12"/>
          <p:cNvSpPr/>
          <p:nvPr/>
        </p:nvSpPr>
        <p:spPr>
          <a:xfrm>
            <a:off x="6364224" y="1545336"/>
            <a:ext cx="5020056" cy="201168"/>
          </a:xfrm>
          <a:prstGeom prst="rect">
            <a:avLst/>
          </a:prstGeom>
          <a:noFill/>
          <a:ln/>
        </p:spPr>
        <p:txBody>
          <a:bodyPr wrap="square" lIns="0" tIns="0" rIns="0" bIns="0" rtlCol="0" anchor="ctr"/>
          <a:lstStyle/>
          <a:p>
            <a:pPr indent="0" marL="0">
              <a:buNone/>
            </a:pPr>
            <a:r>
              <a:rPr lang="en-US" sz="1150" b="1" dirty="0">
                <a:solidFill>
                  <a:srgbClr val="FFFFFF"/>
                </a:solidFill>
              </a:rPr>
              <a:t>Notifications rafraichies periodiquement</a:t>
            </a:r>
            <a:endParaRPr lang="en-US" sz="1150" dirty="0"/>
          </a:p>
        </p:txBody>
      </p:sp>
      <p:sp>
        <p:nvSpPr>
          <p:cNvPr id="15" name="Text 13"/>
          <p:cNvSpPr/>
          <p:nvPr/>
        </p:nvSpPr>
        <p:spPr>
          <a:xfrm>
            <a:off x="6364224" y="1746504"/>
            <a:ext cx="5020056" cy="164592"/>
          </a:xfrm>
          <a:prstGeom prst="rect">
            <a:avLst/>
          </a:prstGeom>
          <a:noFill/>
          <a:ln/>
        </p:spPr>
        <p:txBody>
          <a:bodyPr wrap="square" lIns="0" tIns="0" rIns="0" bIns="0" rtlCol="0" anchor="ctr"/>
          <a:lstStyle/>
          <a:p>
            <a:pPr indent="0" marL="0">
              <a:buNone/>
            </a:pPr>
            <a:r>
              <a:rPr lang="en-US" sz="800" i="1" dirty="0">
                <a:solidFill>
                  <a:srgbClr val="93C5FD"/>
                </a:solidFill>
              </a:rPr>
              <a:t>frontend/src/components/NotificationBell.jsx</a:t>
            </a:r>
            <a:endParaRPr lang="en-US" sz="800" dirty="0"/>
          </a:p>
        </p:txBody>
      </p:sp>
      <p:sp>
        <p:nvSpPr>
          <p:cNvPr id="16" name="Text 14"/>
          <p:cNvSpPr/>
          <p:nvPr/>
        </p:nvSpPr>
        <p:spPr>
          <a:xfrm>
            <a:off x="6364224" y="1984248"/>
            <a:ext cx="5038344" cy="2368296"/>
          </a:xfrm>
          <a:prstGeom prst="rect">
            <a:avLst/>
          </a:prstGeom>
          <a:noFill/>
          <a:ln/>
        </p:spPr>
        <p:txBody>
          <a:bodyPr wrap="square" lIns="0" tIns="0" rIns="0" bIns="0" rtlCol="0" anchor="ctr"/>
          <a:lstStyle/>
          <a:p>
            <a:pPr indent="0" marL="0">
              <a:buNone/>
            </a:pPr>
            <a:r>
              <a:rPr lang="en-US" sz="820" dirty="0">
                <a:solidFill>
                  <a:srgbClr val="E2E8F0"/>
                </a:solidFill>
                <a:latin typeface="Consolas" pitchFamily="34" charset="0"/>
                <a:ea typeface="Consolas" pitchFamily="34" charset="-122"/>
                <a:cs typeface="Consolas" pitchFamily="34" charset="-120"/>
              </a:rPr>
              <a:t>useEffect(() =&gt; {</a:t>
            </a:r>
            <a:endParaRPr lang="en-US" sz="820" dirty="0"/>
          </a:p>
          <a:p>
            <a:pPr indent="0" marL="0">
              <a:buNone/>
            </a:pPr>
            <a:r>
              <a:rPr lang="en-US" sz="820" dirty="0">
                <a:solidFill>
                  <a:srgbClr val="E2E8F0"/>
                </a:solidFill>
                <a:latin typeface="Consolas" pitchFamily="34" charset="0"/>
                <a:ea typeface="Consolas" pitchFamily="34" charset="-122"/>
                <a:cs typeface="Consolas" pitchFamily="34" charset="-120"/>
              </a:rPr>
              <a:t>  load();</a:t>
            </a:r>
            <a:endParaRPr lang="en-US" sz="820" dirty="0"/>
          </a:p>
          <a:p>
            <a:pPr indent="0" marL="0">
              <a:buNone/>
            </a:pPr>
            <a:r>
              <a:rPr lang="en-US" sz="820" dirty="0">
                <a:solidFill>
                  <a:srgbClr val="E2E8F0"/>
                </a:solidFill>
                <a:latin typeface="Consolas" pitchFamily="34" charset="0"/>
                <a:ea typeface="Consolas" pitchFamily="34" charset="-122"/>
                <a:cs typeface="Consolas" pitchFamily="34" charset="-120"/>
              </a:rPr>
              <a:t>  const interval = window.setInterval(load, 30000);</a:t>
            </a:r>
            <a:endParaRPr lang="en-US" sz="820" dirty="0"/>
          </a:p>
          <a:p>
            <a:pPr indent="0" marL="0">
              <a:buNone/>
            </a:pPr>
            <a:r>
              <a:rPr lang="en-US" sz="820" dirty="0">
                <a:solidFill>
                  <a:srgbClr val="E2E8F0"/>
                </a:solidFill>
                <a:latin typeface="Consolas" pitchFamily="34" charset="0"/>
                <a:ea typeface="Consolas" pitchFamily="34" charset="-122"/>
                <a:cs typeface="Consolas" pitchFamily="34" charset="-120"/>
              </a:rPr>
              <a:t>  return () =&gt; window.clearInterval(interval);</a:t>
            </a:r>
            <a:endParaRPr lang="en-US" sz="820" dirty="0"/>
          </a:p>
          <a:p>
            <a:pPr indent="0" marL="0">
              <a:buNone/>
            </a:pPr>
            <a:r>
              <a:rPr lang="en-US" sz="820" dirty="0">
                <a:solidFill>
                  <a:srgbClr val="E2E8F0"/>
                </a:solidFill>
                <a:latin typeface="Consolas" pitchFamily="34" charset="0"/>
                <a:ea typeface="Consolas" pitchFamily="34" charset="-122"/>
                <a:cs typeface="Consolas" pitchFamily="34" charset="-120"/>
              </a:rPr>
              <a:t>}, [load]);</a:t>
            </a:r>
            <a:endParaRPr lang="en-US" sz="820" dirty="0"/>
          </a:p>
        </p:txBody>
      </p:sp>
      <p:sp>
        <p:nvSpPr>
          <p:cNvPr id="17" name="Shape 15"/>
          <p:cNvSpPr/>
          <p:nvPr/>
        </p:nvSpPr>
        <p:spPr>
          <a:xfrm>
            <a:off x="658368" y="4754880"/>
            <a:ext cx="5349240" cy="1097280"/>
          </a:xfrm>
          <a:prstGeom prst="roundRect">
            <a:avLst>
              <a:gd name="adj" fmla="val 8333"/>
            </a:avLst>
          </a:prstGeom>
          <a:solidFill>
            <a:srgbClr val="FFFFFF"/>
          </a:solidFill>
          <a:ln w="12700">
            <a:solidFill>
              <a:srgbClr val="CBD5E1"/>
            </a:solidFill>
            <a:prstDash val="solid"/>
          </a:ln>
        </p:spPr>
      </p:sp>
      <p:sp>
        <p:nvSpPr>
          <p:cNvPr id="18" name="Shape 16"/>
          <p:cNvSpPr/>
          <p:nvPr/>
        </p:nvSpPr>
        <p:spPr>
          <a:xfrm>
            <a:off x="822960" y="4919472"/>
            <a:ext cx="73152" cy="768096"/>
          </a:xfrm>
          <a:prstGeom prst="rect">
            <a:avLst/>
          </a:prstGeom>
          <a:solidFill>
            <a:srgbClr val="2563EB"/>
          </a:solidFill>
          <a:ln w="12700">
            <a:solidFill>
              <a:srgbClr val="2563EB">
                <a:alpha val="0"/>
              </a:srgbClr>
            </a:solidFill>
            <a:prstDash val="solid"/>
          </a:ln>
        </p:spPr>
      </p:sp>
      <p:sp>
        <p:nvSpPr>
          <p:cNvPr id="19" name="Text 17"/>
          <p:cNvSpPr/>
          <p:nvPr/>
        </p:nvSpPr>
        <p:spPr>
          <a:xfrm>
            <a:off x="978408" y="4919472"/>
            <a:ext cx="4892040" cy="219456"/>
          </a:xfrm>
          <a:prstGeom prst="rect">
            <a:avLst/>
          </a:prstGeom>
          <a:noFill/>
          <a:ln/>
        </p:spPr>
        <p:txBody>
          <a:bodyPr wrap="square" lIns="0" tIns="0" rIns="0" bIns="0" rtlCol="0" anchor="ctr"/>
          <a:lstStyle/>
          <a:p>
            <a:pPr indent="0" marL="0">
              <a:buNone/>
            </a:pPr>
            <a:r>
              <a:rPr lang="en-US" sz="1300" b="1" dirty="0">
                <a:solidFill>
                  <a:srgbClr val="0F172A"/>
                </a:solidFill>
              </a:rPr>
              <a:t>Lecture simple</a:t>
            </a:r>
            <a:endParaRPr lang="en-US" sz="1300" dirty="0"/>
          </a:p>
        </p:txBody>
      </p:sp>
      <p:sp>
        <p:nvSpPr>
          <p:cNvPr id="20" name="Text 18"/>
          <p:cNvSpPr/>
          <p:nvPr/>
        </p:nvSpPr>
        <p:spPr>
          <a:xfrm>
            <a:off x="978408" y="5230368"/>
            <a:ext cx="4937760" cy="475488"/>
          </a:xfrm>
          <a:prstGeom prst="rect">
            <a:avLst/>
          </a:prstGeom>
          <a:noFill/>
          <a:ln/>
        </p:spPr>
        <p:txBody>
          <a:bodyPr wrap="square" lIns="0" tIns="0" rIns="0" bIns="0" rtlCol="0" anchor="t"/>
          <a:lstStyle/>
          <a:p>
            <a:pPr indent="0" marL="0">
              <a:buNone/>
            </a:pPr>
            <a:r>
              <a:rPr lang="en-US" sz="1050" dirty="0">
                <a:solidFill>
                  <a:srgbClr val="64748B"/>
                </a:solidFill>
              </a:rPr>
              <a:t>• Le routeur React controle l acces visuel avant meme d entrer dans les pages.</a:t>
            </a:r>
            <a:endParaRPr lang="en-US" sz="1050" dirty="0"/>
          </a:p>
        </p:txBody>
      </p:sp>
      <p:sp>
        <p:nvSpPr>
          <p:cNvPr id="21" name="Shape 19"/>
          <p:cNvSpPr/>
          <p:nvPr/>
        </p:nvSpPr>
        <p:spPr>
          <a:xfrm>
            <a:off x="6199632" y="4754880"/>
            <a:ext cx="5349240" cy="1097280"/>
          </a:xfrm>
          <a:prstGeom prst="roundRect">
            <a:avLst>
              <a:gd name="adj" fmla="val 8333"/>
            </a:avLst>
          </a:prstGeom>
          <a:solidFill>
            <a:srgbClr val="FFFFFF"/>
          </a:solidFill>
          <a:ln w="12700">
            <a:solidFill>
              <a:srgbClr val="CBD5E1"/>
            </a:solidFill>
            <a:prstDash val="solid"/>
          </a:ln>
        </p:spPr>
      </p:sp>
      <p:sp>
        <p:nvSpPr>
          <p:cNvPr id="22" name="Shape 20"/>
          <p:cNvSpPr/>
          <p:nvPr/>
        </p:nvSpPr>
        <p:spPr>
          <a:xfrm>
            <a:off x="6364224" y="4919472"/>
            <a:ext cx="73152" cy="768096"/>
          </a:xfrm>
          <a:prstGeom prst="rect">
            <a:avLst/>
          </a:prstGeom>
          <a:solidFill>
            <a:srgbClr val="0891B2"/>
          </a:solidFill>
          <a:ln w="12700">
            <a:solidFill>
              <a:srgbClr val="0891B2">
                <a:alpha val="0"/>
              </a:srgbClr>
            </a:solidFill>
            <a:prstDash val="solid"/>
          </a:ln>
        </p:spPr>
      </p:sp>
      <p:sp>
        <p:nvSpPr>
          <p:cNvPr id="23" name="Text 21"/>
          <p:cNvSpPr/>
          <p:nvPr/>
        </p:nvSpPr>
        <p:spPr>
          <a:xfrm>
            <a:off x="6519672" y="4919472"/>
            <a:ext cx="4892040" cy="219456"/>
          </a:xfrm>
          <a:prstGeom prst="rect">
            <a:avLst/>
          </a:prstGeom>
          <a:noFill/>
          <a:ln/>
        </p:spPr>
        <p:txBody>
          <a:bodyPr wrap="square" lIns="0" tIns="0" rIns="0" bIns="0" rtlCol="0" anchor="ctr"/>
          <a:lstStyle/>
          <a:p>
            <a:pPr indent="0" marL="0">
              <a:buNone/>
            </a:pPr>
            <a:r>
              <a:rPr lang="en-US" sz="1300" b="1" dirty="0">
                <a:solidFill>
                  <a:srgbClr val="0F172A"/>
                </a:solidFill>
              </a:rPr>
              <a:t>Lecture simple</a:t>
            </a:r>
            <a:endParaRPr lang="en-US" sz="1300" dirty="0"/>
          </a:p>
        </p:txBody>
      </p:sp>
      <p:sp>
        <p:nvSpPr>
          <p:cNvPr id="24" name="Text 22"/>
          <p:cNvSpPr/>
          <p:nvPr/>
        </p:nvSpPr>
        <p:spPr>
          <a:xfrm>
            <a:off x="6519672" y="5230368"/>
            <a:ext cx="4937760" cy="475488"/>
          </a:xfrm>
          <a:prstGeom prst="rect">
            <a:avLst/>
          </a:prstGeom>
          <a:noFill/>
          <a:ln/>
        </p:spPr>
        <p:txBody>
          <a:bodyPr wrap="square" lIns="0" tIns="0" rIns="0" bIns="0" rtlCol="0" anchor="t"/>
          <a:lstStyle/>
          <a:p>
            <a:pPr indent="0" marL="0">
              <a:buNone/>
            </a:pPr>
            <a:r>
              <a:rPr lang="en-US" sz="1050" dirty="0">
                <a:solidFill>
                  <a:srgbClr val="64748B"/>
                </a:solidFill>
              </a:rPr>
              <a:t>• Le tableau de notifications donne un ressenti quasi temps reel sans infrastructure WebSocket.</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563EB"/>
          </a:solidFill>
          <a:ln w="12700">
            <a:solidFill>
              <a:srgbClr val="2563EB">
                <a:alpha val="0"/>
              </a:srgbClr>
            </a:solidFill>
            <a:prstDash val="solid"/>
          </a:ln>
        </p:spPr>
      </p:sp>
      <p:sp>
        <p:nvSpPr>
          <p:cNvPr id="3" name="Shape 1"/>
          <p:cNvSpPr/>
          <p:nvPr/>
        </p:nvSpPr>
        <p:spPr>
          <a:xfrm>
            <a:off x="9738360" y="310896"/>
            <a:ext cx="1874520" cy="310896"/>
          </a:xfrm>
          <a:prstGeom prst="roundRect">
            <a:avLst>
              <a:gd name="adj" fmla="val 23529"/>
            </a:avLst>
          </a:prstGeom>
          <a:solidFill>
            <a:srgbClr val="DBEAFE"/>
          </a:solidFill>
          <a:ln w="12700">
            <a:solidFill>
              <a:srgbClr val="DBEAFE">
                <a:alpha val="0"/>
              </a:srgbClr>
            </a:solidFill>
            <a:prstDash val="solid"/>
          </a:ln>
        </p:spPr>
      </p:sp>
      <p:sp>
        <p:nvSpPr>
          <p:cNvPr id="4" name="Text 2"/>
          <p:cNvSpPr/>
          <p:nvPr/>
        </p:nvSpPr>
        <p:spPr>
          <a:xfrm>
            <a:off x="9893808" y="374904"/>
            <a:ext cx="1554480" cy="164592"/>
          </a:xfrm>
          <a:prstGeom prst="rect">
            <a:avLst/>
          </a:prstGeom>
          <a:noFill/>
          <a:ln/>
        </p:spPr>
        <p:txBody>
          <a:bodyPr wrap="square" lIns="0" tIns="0" rIns="0" bIns="0" rtlCol="0" anchor="ctr"/>
          <a:lstStyle/>
          <a:p>
            <a:pPr algn="ctr" indent="0" marL="0">
              <a:buNone/>
            </a:pPr>
            <a:r>
              <a:rPr lang="en-US" sz="850" b="1" dirty="0">
                <a:solidFill>
                  <a:srgbClr val="2563EB"/>
                </a:solidFill>
              </a:rPr>
              <a:t>BILAN</a:t>
            </a:r>
            <a:endParaRPr lang="en-US" sz="850" dirty="0"/>
          </a:p>
        </p:txBody>
      </p:sp>
      <p:sp>
        <p:nvSpPr>
          <p:cNvPr id="5" name="Text 3"/>
          <p:cNvSpPr/>
          <p:nvPr/>
        </p:nvSpPr>
        <p:spPr>
          <a:xfrm>
            <a:off x="548640" y="329184"/>
            <a:ext cx="7498080" cy="411480"/>
          </a:xfrm>
          <a:prstGeom prst="rect">
            <a:avLst/>
          </a:prstGeom>
          <a:noFill/>
          <a:ln/>
        </p:spPr>
        <p:txBody>
          <a:bodyPr wrap="square" lIns="0" tIns="0" rIns="0" bIns="0" rtlCol="0" anchor="ctr"/>
          <a:lstStyle/>
          <a:p>
            <a:pPr indent="0" marL="0">
              <a:buNone/>
            </a:pPr>
            <a:r>
              <a:rPr lang="en-US" sz="2400" b="1" dirty="0">
                <a:solidFill>
                  <a:srgbClr val="0F172A"/>
                </a:solidFill>
              </a:rPr>
              <a:t>Difficultes rencontrees et solutions observees</a:t>
            </a:r>
            <a:endParaRPr lang="en-US" sz="2400" dirty="0"/>
          </a:p>
        </p:txBody>
      </p:sp>
      <p:sp>
        <p:nvSpPr>
          <p:cNvPr id="6" name="Text 4"/>
          <p:cNvSpPr/>
          <p:nvPr/>
        </p:nvSpPr>
        <p:spPr>
          <a:xfrm>
            <a:off x="566928" y="768096"/>
            <a:ext cx="7863840" cy="329184"/>
          </a:xfrm>
          <a:prstGeom prst="rect">
            <a:avLst/>
          </a:prstGeom>
          <a:noFill/>
          <a:ln/>
        </p:spPr>
        <p:txBody>
          <a:bodyPr wrap="square" lIns="0" tIns="0" rIns="0" bIns="0" rtlCol="0" anchor="ctr"/>
          <a:lstStyle/>
          <a:p>
            <a:pPr indent="0" marL="0">
              <a:buNone/>
            </a:pPr>
            <a:r>
              <a:rPr lang="en-US" sz="1150" dirty="0">
                <a:solidFill>
                  <a:srgbClr val="64748B"/>
                </a:solidFill>
              </a:rPr>
              <a:t>Les difficultes ci dessous sont deduites de l evolution du schema, des normalisations et des adaptations presentes dans le code.</a:t>
            </a:r>
            <a:endParaRPr lang="en-US" sz="1150" dirty="0"/>
          </a:p>
        </p:txBody>
      </p:sp>
      <p:sp>
        <p:nvSpPr>
          <p:cNvPr id="7" name="Text 5"/>
          <p:cNvSpPr/>
          <p:nvPr/>
        </p:nvSpPr>
        <p:spPr>
          <a:xfrm>
            <a:off x="548640" y="6446520"/>
            <a:ext cx="4389120" cy="182880"/>
          </a:xfrm>
          <a:prstGeom prst="rect">
            <a:avLst/>
          </a:prstGeom>
          <a:noFill/>
          <a:ln/>
        </p:spPr>
        <p:txBody>
          <a:bodyPr wrap="square" lIns="0" tIns="0" rIns="0" bIns="0" rtlCol="0" anchor="ctr"/>
          <a:lstStyle/>
          <a:p>
            <a:pPr indent="0" marL="0">
              <a:buNone/>
            </a:pPr>
            <a:r>
              <a:rPr lang="en-US" sz="850" dirty="0">
                <a:solidFill>
                  <a:srgbClr val="64748B"/>
                </a:solidFill>
              </a:rPr>
              <a:t>Analyse du code source - 10 mai 2026</a:t>
            </a:r>
            <a:endParaRPr lang="en-US" sz="850" dirty="0"/>
          </a:p>
        </p:txBody>
      </p:sp>
      <p:sp>
        <p:nvSpPr>
          <p:cNvPr id="8" name="Text 6"/>
          <p:cNvSpPr/>
          <p:nvPr/>
        </p:nvSpPr>
        <p:spPr>
          <a:xfrm>
            <a:off x="11064240" y="6419088"/>
            <a:ext cx="548640" cy="182880"/>
          </a:xfrm>
          <a:prstGeom prst="rect">
            <a:avLst/>
          </a:prstGeom>
          <a:noFill/>
          <a:ln/>
        </p:spPr>
        <p:txBody>
          <a:bodyPr wrap="square" lIns="0" tIns="0" rIns="0" bIns="0" rtlCol="0" anchor="ctr"/>
          <a:lstStyle/>
          <a:p>
            <a:pPr algn="r" indent="0" marL="0">
              <a:buNone/>
            </a:pPr>
            <a:r>
              <a:rPr lang="en-US" sz="900" b="1" dirty="0">
                <a:solidFill>
                  <a:srgbClr val="64748B"/>
                </a:solidFill>
              </a:rPr>
              <a:t>16/17</a:t>
            </a:r>
            <a:endParaRPr lang="en-US" sz="900" dirty="0"/>
          </a:p>
        </p:txBody>
      </p:sp>
      <p:sp>
        <p:nvSpPr>
          <p:cNvPr id="9" name="Shape 7"/>
          <p:cNvSpPr/>
          <p:nvPr/>
        </p:nvSpPr>
        <p:spPr>
          <a:xfrm>
            <a:off x="713232" y="1417320"/>
            <a:ext cx="5303520" cy="1645920"/>
          </a:xfrm>
          <a:prstGeom prst="roundRect">
            <a:avLst>
              <a:gd name="adj" fmla="val 5556"/>
            </a:avLst>
          </a:prstGeom>
          <a:solidFill>
            <a:srgbClr val="FFFFFF"/>
          </a:solidFill>
          <a:ln w="12700">
            <a:solidFill>
              <a:srgbClr val="CBD5E1"/>
            </a:solidFill>
            <a:prstDash val="solid"/>
          </a:ln>
        </p:spPr>
      </p:sp>
      <p:sp>
        <p:nvSpPr>
          <p:cNvPr id="10" name="Shape 8"/>
          <p:cNvSpPr/>
          <p:nvPr/>
        </p:nvSpPr>
        <p:spPr>
          <a:xfrm>
            <a:off x="877824" y="1581912"/>
            <a:ext cx="73152" cy="1316736"/>
          </a:xfrm>
          <a:prstGeom prst="rect">
            <a:avLst/>
          </a:prstGeom>
          <a:solidFill>
            <a:srgbClr val="2563EB"/>
          </a:solidFill>
          <a:ln w="12700">
            <a:solidFill>
              <a:srgbClr val="2563EB">
                <a:alpha val="0"/>
              </a:srgbClr>
            </a:solidFill>
            <a:prstDash val="solid"/>
          </a:ln>
        </p:spPr>
      </p:sp>
      <p:sp>
        <p:nvSpPr>
          <p:cNvPr id="11" name="Text 9"/>
          <p:cNvSpPr/>
          <p:nvPr/>
        </p:nvSpPr>
        <p:spPr>
          <a:xfrm>
            <a:off x="1033272" y="1581912"/>
            <a:ext cx="4846320" cy="219456"/>
          </a:xfrm>
          <a:prstGeom prst="rect">
            <a:avLst/>
          </a:prstGeom>
          <a:noFill/>
          <a:ln/>
        </p:spPr>
        <p:txBody>
          <a:bodyPr wrap="square" lIns="0" tIns="0" rIns="0" bIns="0" rtlCol="0" anchor="ctr"/>
          <a:lstStyle/>
          <a:p>
            <a:pPr indent="0" marL="0">
              <a:buNone/>
            </a:pPr>
            <a:r>
              <a:rPr lang="en-US" sz="1300" b="1" dirty="0">
                <a:solidFill>
                  <a:srgbClr val="0F172A"/>
                </a:solidFill>
              </a:rPr>
              <a:t>1. Harmoniser un existant heterogene</a:t>
            </a:r>
            <a:endParaRPr lang="en-US" sz="1300" dirty="0"/>
          </a:p>
        </p:txBody>
      </p:sp>
      <p:sp>
        <p:nvSpPr>
          <p:cNvPr id="12" name="Text 10"/>
          <p:cNvSpPr/>
          <p:nvPr/>
        </p:nvSpPr>
        <p:spPr>
          <a:xfrm>
            <a:off x="1033272" y="1892808"/>
            <a:ext cx="4892040" cy="1024128"/>
          </a:xfrm>
          <a:prstGeom prst="rect">
            <a:avLst/>
          </a:prstGeom>
          <a:noFill/>
          <a:ln/>
        </p:spPr>
        <p:txBody>
          <a:bodyPr wrap="square" lIns="0" tIns="0" rIns="0" bIns="0" rtlCol="0" anchor="t"/>
          <a:lstStyle/>
          <a:p>
            <a:pPr indent="0" marL="0">
              <a:buNone/>
            </a:pPr>
            <a:r>
              <a:rPr lang="en-US" sz="1050" dirty="0">
                <a:solidFill>
                  <a:srgbClr val="64748B"/>
                </a:solidFill>
              </a:rPr>
              <a:t>• Le code gere des anciens noms de roles, de colonnes et de payloads.</a:t>
            </a:r>
            <a:endParaRPr lang="en-US" sz="1050" dirty="0"/>
          </a:p>
          <a:p>
            <a:pPr indent="0" marL="0">
              <a:buNone/>
            </a:pPr>
            <a:r>
              <a:rPr lang="en-US" sz="1050" dirty="0">
                <a:solidFill>
                  <a:srgbClr val="64748B"/>
                </a:solidFill>
              </a:rPr>
              <a:t>• Solution : migrations de normalisation, alias frontend et conversion des champs legacy.</a:t>
            </a:r>
            <a:endParaRPr lang="en-US" sz="1050" dirty="0"/>
          </a:p>
        </p:txBody>
      </p:sp>
      <p:sp>
        <p:nvSpPr>
          <p:cNvPr id="13" name="Shape 11"/>
          <p:cNvSpPr/>
          <p:nvPr/>
        </p:nvSpPr>
        <p:spPr>
          <a:xfrm>
            <a:off x="6236208" y="1417320"/>
            <a:ext cx="5266944" cy="1645920"/>
          </a:xfrm>
          <a:prstGeom prst="roundRect">
            <a:avLst>
              <a:gd name="adj" fmla="val 5556"/>
            </a:avLst>
          </a:prstGeom>
          <a:solidFill>
            <a:srgbClr val="FFFFFF"/>
          </a:solidFill>
          <a:ln w="12700">
            <a:solidFill>
              <a:srgbClr val="CBD5E1"/>
            </a:solidFill>
            <a:prstDash val="solid"/>
          </a:ln>
        </p:spPr>
      </p:sp>
      <p:sp>
        <p:nvSpPr>
          <p:cNvPr id="14" name="Shape 12"/>
          <p:cNvSpPr/>
          <p:nvPr/>
        </p:nvSpPr>
        <p:spPr>
          <a:xfrm>
            <a:off x="6400800" y="1581912"/>
            <a:ext cx="73152" cy="1316736"/>
          </a:xfrm>
          <a:prstGeom prst="rect">
            <a:avLst/>
          </a:prstGeom>
          <a:solidFill>
            <a:srgbClr val="DC2626"/>
          </a:solidFill>
          <a:ln w="12700">
            <a:solidFill>
              <a:srgbClr val="DC2626">
                <a:alpha val="0"/>
              </a:srgbClr>
            </a:solidFill>
            <a:prstDash val="solid"/>
          </a:ln>
        </p:spPr>
      </p:sp>
      <p:sp>
        <p:nvSpPr>
          <p:cNvPr id="15" name="Text 13"/>
          <p:cNvSpPr/>
          <p:nvPr/>
        </p:nvSpPr>
        <p:spPr>
          <a:xfrm>
            <a:off x="6556248" y="1581912"/>
            <a:ext cx="4809744" cy="219456"/>
          </a:xfrm>
          <a:prstGeom prst="rect">
            <a:avLst/>
          </a:prstGeom>
          <a:noFill/>
          <a:ln/>
        </p:spPr>
        <p:txBody>
          <a:bodyPr wrap="square" lIns="0" tIns="0" rIns="0" bIns="0" rtlCol="0" anchor="ctr"/>
          <a:lstStyle/>
          <a:p>
            <a:pPr indent="0" marL="0">
              <a:buNone/>
            </a:pPr>
            <a:r>
              <a:rPr lang="en-US" sz="1300" b="1" dirty="0">
                <a:solidFill>
                  <a:srgbClr val="0F172A"/>
                </a:solidFill>
              </a:rPr>
              <a:t>2. Limiter proprement le scope technicien</a:t>
            </a:r>
            <a:endParaRPr lang="en-US" sz="1300" dirty="0"/>
          </a:p>
        </p:txBody>
      </p:sp>
      <p:sp>
        <p:nvSpPr>
          <p:cNvPr id="16" name="Text 14"/>
          <p:cNvSpPr/>
          <p:nvPr/>
        </p:nvSpPr>
        <p:spPr>
          <a:xfrm>
            <a:off x="6556248" y="1892808"/>
            <a:ext cx="4855464" cy="1024128"/>
          </a:xfrm>
          <a:prstGeom prst="rect">
            <a:avLst/>
          </a:prstGeom>
          <a:noFill/>
          <a:ln/>
        </p:spPr>
        <p:txBody>
          <a:bodyPr wrap="square" lIns="0" tIns="0" rIns="0" bIns="0" rtlCol="0" anchor="t"/>
          <a:lstStyle/>
          <a:p>
            <a:pPr indent="0" marL="0">
              <a:buNone/>
            </a:pPr>
            <a:r>
              <a:rPr lang="en-US" sz="1050" dirty="0">
                <a:solidFill>
                  <a:srgbClr val="64748B"/>
                </a:solidFill>
              </a:rPr>
              <a:t>• Le technicien ne doit voir que ses taches ou son secteur affecte.</a:t>
            </a:r>
            <a:endParaRPr lang="en-US" sz="1050" dirty="0"/>
          </a:p>
          <a:p>
            <a:pPr indent="0" marL="0">
              <a:buNone/>
            </a:pPr>
            <a:r>
              <a:rPr lang="en-US" sz="1050" dirty="0">
                <a:solidFill>
                  <a:srgbClr val="64748B"/>
                </a:solidFill>
              </a:rPr>
              <a:t>• Solution : OperatorAccess, InterventionPolicy et verifications supplementaires dans les controllers.</a:t>
            </a:r>
            <a:endParaRPr lang="en-US" sz="1050" dirty="0"/>
          </a:p>
        </p:txBody>
      </p:sp>
      <p:sp>
        <p:nvSpPr>
          <p:cNvPr id="17" name="Shape 15"/>
          <p:cNvSpPr/>
          <p:nvPr/>
        </p:nvSpPr>
        <p:spPr>
          <a:xfrm>
            <a:off x="713232" y="3429000"/>
            <a:ext cx="5303520" cy="1645920"/>
          </a:xfrm>
          <a:prstGeom prst="roundRect">
            <a:avLst>
              <a:gd name="adj" fmla="val 5556"/>
            </a:avLst>
          </a:prstGeom>
          <a:solidFill>
            <a:srgbClr val="FFFFFF"/>
          </a:solidFill>
          <a:ln w="12700">
            <a:solidFill>
              <a:srgbClr val="CBD5E1"/>
            </a:solidFill>
            <a:prstDash val="solid"/>
          </a:ln>
        </p:spPr>
      </p:sp>
      <p:sp>
        <p:nvSpPr>
          <p:cNvPr id="18" name="Shape 16"/>
          <p:cNvSpPr/>
          <p:nvPr/>
        </p:nvSpPr>
        <p:spPr>
          <a:xfrm>
            <a:off x="877824" y="3593592"/>
            <a:ext cx="73152" cy="1316736"/>
          </a:xfrm>
          <a:prstGeom prst="rect">
            <a:avLst/>
          </a:prstGeom>
          <a:solidFill>
            <a:srgbClr val="D97706"/>
          </a:solidFill>
          <a:ln w="12700">
            <a:solidFill>
              <a:srgbClr val="D97706">
                <a:alpha val="0"/>
              </a:srgbClr>
            </a:solidFill>
            <a:prstDash val="solid"/>
          </a:ln>
        </p:spPr>
      </p:sp>
      <p:sp>
        <p:nvSpPr>
          <p:cNvPr id="19" name="Text 17"/>
          <p:cNvSpPr/>
          <p:nvPr/>
        </p:nvSpPr>
        <p:spPr>
          <a:xfrm>
            <a:off x="1033272" y="3593592"/>
            <a:ext cx="4846320" cy="219456"/>
          </a:xfrm>
          <a:prstGeom prst="rect">
            <a:avLst/>
          </a:prstGeom>
          <a:noFill/>
          <a:ln/>
        </p:spPr>
        <p:txBody>
          <a:bodyPr wrap="square" lIns="0" tIns="0" rIns="0" bIns="0" rtlCol="0" anchor="ctr"/>
          <a:lstStyle/>
          <a:p>
            <a:pPr indent="0" marL="0">
              <a:buNone/>
            </a:pPr>
            <a:r>
              <a:rPr lang="en-US" sz="1300" b="1" dirty="0">
                <a:solidFill>
                  <a:srgbClr val="0F172A"/>
                </a:solidFill>
              </a:rPr>
              <a:t>3. Garantir la coherence metier</a:t>
            </a:r>
            <a:endParaRPr lang="en-US" sz="1300" dirty="0"/>
          </a:p>
        </p:txBody>
      </p:sp>
      <p:sp>
        <p:nvSpPr>
          <p:cNvPr id="20" name="Text 18"/>
          <p:cNvSpPr/>
          <p:nvPr/>
        </p:nvSpPr>
        <p:spPr>
          <a:xfrm>
            <a:off x="1033272" y="3904488"/>
            <a:ext cx="4892040" cy="1024128"/>
          </a:xfrm>
          <a:prstGeom prst="rect">
            <a:avLst/>
          </a:prstGeom>
          <a:noFill/>
          <a:ln/>
        </p:spPr>
        <p:txBody>
          <a:bodyPr wrap="square" lIns="0" tIns="0" rIns="0" bIns="0" rtlCol="0" anchor="t"/>
          <a:lstStyle/>
          <a:p>
            <a:pPr indent="0" marL="0">
              <a:buNone/>
            </a:pPr>
            <a:r>
              <a:rPr lang="en-US" sz="1050" dirty="0">
                <a:solidFill>
                  <a:srgbClr val="64748B"/>
                </a:solidFill>
              </a:rPr>
              <a:t>• Risque d incoherence entre panne, reparation, relevé et compteur.</a:t>
            </a:r>
            <a:endParaRPr lang="en-US" sz="1050" dirty="0"/>
          </a:p>
          <a:p>
            <a:pPr indent="0" marL="0">
              <a:buNone/>
            </a:pPr>
            <a:r>
              <a:rPr lang="en-US" sz="1050" dirty="0">
                <a:solidFill>
                  <a:srgbClr val="64748B"/>
                </a:solidFill>
              </a:rPr>
              <a:t>• Solution : validations personnalisees, transactions DB, calculs automatiques cote backend.</a:t>
            </a:r>
            <a:endParaRPr lang="en-US" sz="1050" dirty="0"/>
          </a:p>
        </p:txBody>
      </p:sp>
      <p:sp>
        <p:nvSpPr>
          <p:cNvPr id="21" name="Shape 19"/>
          <p:cNvSpPr/>
          <p:nvPr/>
        </p:nvSpPr>
        <p:spPr>
          <a:xfrm>
            <a:off x="6236208" y="3429000"/>
            <a:ext cx="5266944" cy="1645920"/>
          </a:xfrm>
          <a:prstGeom prst="roundRect">
            <a:avLst>
              <a:gd name="adj" fmla="val 5556"/>
            </a:avLst>
          </a:prstGeom>
          <a:solidFill>
            <a:srgbClr val="FFFFFF"/>
          </a:solidFill>
          <a:ln w="12700">
            <a:solidFill>
              <a:srgbClr val="CBD5E1"/>
            </a:solidFill>
            <a:prstDash val="solid"/>
          </a:ln>
        </p:spPr>
      </p:sp>
      <p:sp>
        <p:nvSpPr>
          <p:cNvPr id="22" name="Shape 20"/>
          <p:cNvSpPr/>
          <p:nvPr/>
        </p:nvSpPr>
        <p:spPr>
          <a:xfrm>
            <a:off x="6400800" y="3593592"/>
            <a:ext cx="73152" cy="1316736"/>
          </a:xfrm>
          <a:prstGeom prst="rect">
            <a:avLst/>
          </a:prstGeom>
          <a:solidFill>
            <a:srgbClr val="059669"/>
          </a:solidFill>
          <a:ln w="12700">
            <a:solidFill>
              <a:srgbClr val="059669">
                <a:alpha val="0"/>
              </a:srgbClr>
            </a:solidFill>
            <a:prstDash val="solid"/>
          </a:ln>
        </p:spPr>
      </p:sp>
      <p:sp>
        <p:nvSpPr>
          <p:cNvPr id="23" name="Text 21"/>
          <p:cNvSpPr/>
          <p:nvPr/>
        </p:nvSpPr>
        <p:spPr>
          <a:xfrm>
            <a:off x="6556248" y="3593592"/>
            <a:ext cx="4809744" cy="219456"/>
          </a:xfrm>
          <a:prstGeom prst="rect">
            <a:avLst/>
          </a:prstGeom>
          <a:noFill/>
          <a:ln/>
        </p:spPr>
        <p:txBody>
          <a:bodyPr wrap="square" lIns="0" tIns="0" rIns="0" bIns="0" rtlCol="0" anchor="ctr"/>
          <a:lstStyle/>
          <a:p>
            <a:pPr indent="0" marL="0">
              <a:buNone/>
            </a:pPr>
            <a:r>
              <a:rPr lang="en-US" sz="1300" b="1" dirty="0">
                <a:solidFill>
                  <a:srgbClr val="0F172A"/>
                </a:solidFill>
              </a:rPr>
              <a:t>4. Garder de la traçabilite</a:t>
            </a:r>
            <a:endParaRPr lang="en-US" sz="1300" dirty="0"/>
          </a:p>
        </p:txBody>
      </p:sp>
      <p:sp>
        <p:nvSpPr>
          <p:cNvPr id="24" name="Text 22"/>
          <p:cNvSpPr/>
          <p:nvPr/>
        </p:nvSpPr>
        <p:spPr>
          <a:xfrm>
            <a:off x="6556248" y="3904488"/>
            <a:ext cx="4855464" cy="1024128"/>
          </a:xfrm>
          <a:prstGeom prst="rect">
            <a:avLst/>
          </a:prstGeom>
          <a:noFill/>
          <a:ln/>
        </p:spPr>
        <p:txBody>
          <a:bodyPr wrap="square" lIns="0" tIns="0" rIns="0" bIns="0" rtlCol="0" anchor="t"/>
          <a:lstStyle/>
          <a:p>
            <a:pPr indent="0" marL="0">
              <a:buNone/>
            </a:pPr>
            <a:r>
              <a:rPr lang="en-US" sz="1050" dirty="0">
                <a:solidFill>
                  <a:srgbClr val="64748B"/>
                </a:solidFill>
              </a:rPr>
              <a:t>• Besoin de suivre les actions sensibles et les etats du systeme.</a:t>
            </a:r>
            <a:endParaRPr lang="en-US" sz="1050" dirty="0"/>
          </a:p>
          <a:p>
            <a:pPr indent="0" marL="0">
              <a:buNone/>
            </a:pPr>
            <a:r>
              <a:rPr lang="en-US" sz="1050" dirty="0">
                <a:solidFill>
                  <a:srgbClr val="64748B"/>
                </a:solidFill>
              </a:rPr>
              <a:t>• Solution : ActivityLog, tests API, dashboards et exports de rapports.</a:t>
            </a:r>
            <a:endParaRPr lang="en-US" sz="1050" dirty="0"/>
          </a:p>
        </p:txBody>
      </p:sp>
      <p:sp>
        <p:nvSpPr>
          <p:cNvPr id="25" name="Shape 23"/>
          <p:cNvSpPr/>
          <p:nvPr/>
        </p:nvSpPr>
        <p:spPr>
          <a:xfrm>
            <a:off x="713232" y="5440680"/>
            <a:ext cx="10789920" cy="640080"/>
          </a:xfrm>
          <a:prstGeom prst="roundRect">
            <a:avLst>
              <a:gd name="adj" fmla="val 11429"/>
            </a:avLst>
          </a:prstGeom>
          <a:solidFill>
            <a:srgbClr val="DBEAFE"/>
          </a:solidFill>
          <a:ln w="12700">
            <a:solidFill>
              <a:srgbClr val="DBEAFE"/>
            </a:solidFill>
            <a:prstDash val="solid"/>
          </a:ln>
        </p:spPr>
      </p:sp>
      <p:sp>
        <p:nvSpPr>
          <p:cNvPr id="26" name="Text 24"/>
          <p:cNvSpPr/>
          <p:nvPr/>
        </p:nvSpPr>
        <p:spPr>
          <a:xfrm>
            <a:off x="914400" y="5632704"/>
            <a:ext cx="10332720" cy="182880"/>
          </a:xfrm>
          <a:prstGeom prst="rect">
            <a:avLst/>
          </a:prstGeom>
          <a:noFill/>
          <a:ln/>
        </p:spPr>
        <p:txBody>
          <a:bodyPr wrap="square" lIns="0" tIns="0" rIns="0" bIns="0" rtlCol="0" anchor="ctr"/>
          <a:lstStyle/>
          <a:p>
            <a:pPr algn="ctr" indent="0" marL="0">
              <a:buNone/>
            </a:pPr>
            <a:r>
              <a:rPr lang="en-US" sz="1080" b="1" dirty="0">
                <a:solidFill>
                  <a:srgbClr val="2563EB"/>
                </a:solidFill>
              </a:rPr>
              <a:t>Ces difficultes montrent un projet qui a deja connu plusieurs iterations reelles, avec des besoins de migration, de securisation et de stabilisation.</a:t>
            </a:r>
            <a:endParaRPr lang="en-US" sz="108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563EB"/>
          </a:solidFill>
          <a:ln w="12700">
            <a:solidFill>
              <a:srgbClr val="2563EB">
                <a:alpha val="0"/>
              </a:srgbClr>
            </a:solidFill>
            <a:prstDash val="solid"/>
          </a:ln>
        </p:spPr>
      </p:sp>
      <p:sp>
        <p:nvSpPr>
          <p:cNvPr id="3" name="Shape 1"/>
          <p:cNvSpPr/>
          <p:nvPr/>
        </p:nvSpPr>
        <p:spPr>
          <a:xfrm>
            <a:off x="9738360" y="310896"/>
            <a:ext cx="1874520" cy="310896"/>
          </a:xfrm>
          <a:prstGeom prst="roundRect">
            <a:avLst>
              <a:gd name="adj" fmla="val 23529"/>
            </a:avLst>
          </a:prstGeom>
          <a:solidFill>
            <a:srgbClr val="DBEAFE"/>
          </a:solidFill>
          <a:ln w="12700">
            <a:solidFill>
              <a:srgbClr val="DBEAFE">
                <a:alpha val="0"/>
              </a:srgbClr>
            </a:solidFill>
            <a:prstDash val="solid"/>
          </a:ln>
        </p:spPr>
      </p:sp>
      <p:sp>
        <p:nvSpPr>
          <p:cNvPr id="4" name="Text 2"/>
          <p:cNvSpPr/>
          <p:nvPr/>
        </p:nvSpPr>
        <p:spPr>
          <a:xfrm>
            <a:off x="9893808" y="374904"/>
            <a:ext cx="1554480" cy="164592"/>
          </a:xfrm>
          <a:prstGeom prst="rect">
            <a:avLst/>
          </a:prstGeom>
          <a:noFill/>
          <a:ln/>
        </p:spPr>
        <p:txBody>
          <a:bodyPr wrap="square" lIns="0" tIns="0" rIns="0" bIns="0" rtlCol="0" anchor="ctr"/>
          <a:lstStyle/>
          <a:p>
            <a:pPr algn="ctr" indent="0" marL="0">
              <a:buNone/>
            </a:pPr>
            <a:r>
              <a:rPr lang="en-US" sz="850" b="1" dirty="0">
                <a:solidFill>
                  <a:srgbClr val="2563EB"/>
                </a:solidFill>
              </a:rPr>
              <a:t>CONCLUSION</a:t>
            </a:r>
            <a:endParaRPr lang="en-US" sz="850" dirty="0"/>
          </a:p>
        </p:txBody>
      </p:sp>
      <p:sp>
        <p:nvSpPr>
          <p:cNvPr id="5" name="Text 3"/>
          <p:cNvSpPr/>
          <p:nvPr/>
        </p:nvSpPr>
        <p:spPr>
          <a:xfrm>
            <a:off x="548640" y="329184"/>
            <a:ext cx="7498080" cy="411480"/>
          </a:xfrm>
          <a:prstGeom prst="rect">
            <a:avLst/>
          </a:prstGeom>
          <a:noFill/>
          <a:ln/>
        </p:spPr>
        <p:txBody>
          <a:bodyPr wrap="square" lIns="0" tIns="0" rIns="0" bIns="0" rtlCol="0" anchor="ctr"/>
          <a:lstStyle/>
          <a:p>
            <a:pPr indent="0" marL="0">
              <a:buNone/>
            </a:pPr>
            <a:r>
              <a:rPr lang="en-US" sz="2400" b="1" dirty="0">
                <a:solidFill>
                  <a:srgbClr val="0F172A"/>
                </a:solidFill>
              </a:rPr>
              <a:t>Conclusion generale</a:t>
            </a:r>
            <a:endParaRPr lang="en-US" sz="2400" dirty="0"/>
          </a:p>
        </p:txBody>
      </p:sp>
      <p:sp>
        <p:nvSpPr>
          <p:cNvPr id="6" name="Text 4"/>
          <p:cNvSpPr/>
          <p:nvPr/>
        </p:nvSpPr>
        <p:spPr>
          <a:xfrm>
            <a:off x="566928" y="768096"/>
            <a:ext cx="7863840" cy="329184"/>
          </a:xfrm>
          <a:prstGeom prst="rect">
            <a:avLst/>
          </a:prstGeom>
          <a:noFill/>
          <a:ln/>
        </p:spPr>
        <p:txBody>
          <a:bodyPr wrap="square" lIns="0" tIns="0" rIns="0" bIns="0" rtlCol="0" anchor="ctr"/>
          <a:lstStyle/>
          <a:p>
            <a:pPr indent="0" marL="0">
              <a:buNone/>
            </a:pPr>
            <a:r>
              <a:rPr lang="en-US" sz="1150" dirty="0">
                <a:solidFill>
                  <a:srgbClr val="64748B"/>
                </a:solidFill>
              </a:rPr>
              <a:t>Le projet constitue une base web metier solide pour le suivi des reclamations et des interventions SRM-FM Taza.</a:t>
            </a:r>
            <a:endParaRPr lang="en-US" sz="1150" dirty="0"/>
          </a:p>
        </p:txBody>
      </p:sp>
      <p:sp>
        <p:nvSpPr>
          <p:cNvPr id="7" name="Text 5"/>
          <p:cNvSpPr/>
          <p:nvPr/>
        </p:nvSpPr>
        <p:spPr>
          <a:xfrm>
            <a:off x="548640" y="6446520"/>
            <a:ext cx="4389120" cy="182880"/>
          </a:xfrm>
          <a:prstGeom prst="rect">
            <a:avLst/>
          </a:prstGeom>
          <a:noFill/>
          <a:ln/>
        </p:spPr>
        <p:txBody>
          <a:bodyPr wrap="square" lIns="0" tIns="0" rIns="0" bIns="0" rtlCol="0" anchor="ctr"/>
          <a:lstStyle/>
          <a:p>
            <a:pPr indent="0" marL="0">
              <a:buNone/>
            </a:pPr>
            <a:r>
              <a:rPr lang="en-US" sz="850" dirty="0">
                <a:solidFill>
                  <a:srgbClr val="64748B"/>
                </a:solidFill>
              </a:rPr>
              <a:t>Analyse du code source - 10 mai 2026</a:t>
            </a:r>
            <a:endParaRPr lang="en-US" sz="850" dirty="0"/>
          </a:p>
        </p:txBody>
      </p:sp>
      <p:sp>
        <p:nvSpPr>
          <p:cNvPr id="8" name="Text 6"/>
          <p:cNvSpPr/>
          <p:nvPr/>
        </p:nvSpPr>
        <p:spPr>
          <a:xfrm>
            <a:off x="11064240" y="6419088"/>
            <a:ext cx="548640" cy="182880"/>
          </a:xfrm>
          <a:prstGeom prst="rect">
            <a:avLst/>
          </a:prstGeom>
          <a:noFill/>
          <a:ln/>
        </p:spPr>
        <p:txBody>
          <a:bodyPr wrap="square" lIns="0" tIns="0" rIns="0" bIns="0" rtlCol="0" anchor="ctr"/>
          <a:lstStyle/>
          <a:p>
            <a:pPr algn="r" indent="0" marL="0">
              <a:buNone/>
            </a:pPr>
            <a:r>
              <a:rPr lang="en-US" sz="900" b="1" dirty="0">
                <a:solidFill>
                  <a:srgbClr val="64748B"/>
                </a:solidFill>
              </a:rPr>
              <a:t>17/17</a:t>
            </a:r>
            <a:endParaRPr lang="en-US" sz="900" dirty="0"/>
          </a:p>
        </p:txBody>
      </p:sp>
      <p:sp>
        <p:nvSpPr>
          <p:cNvPr id="9" name="Shape 7"/>
          <p:cNvSpPr/>
          <p:nvPr/>
        </p:nvSpPr>
        <p:spPr>
          <a:xfrm>
            <a:off x="713232" y="1417320"/>
            <a:ext cx="3657600" cy="2148840"/>
          </a:xfrm>
          <a:prstGeom prst="roundRect">
            <a:avLst>
              <a:gd name="adj" fmla="val 4255"/>
            </a:avLst>
          </a:prstGeom>
          <a:solidFill>
            <a:srgbClr val="FFFFFF"/>
          </a:solidFill>
          <a:ln w="12700">
            <a:solidFill>
              <a:srgbClr val="CBD5E1"/>
            </a:solidFill>
            <a:prstDash val="solid"/>
          </a:ln>
        </p:spPr>
      </p:sp>
      <p:sp>
        <p:nvSpPr>
          <p:cNvPr id="10" name="Shape 8"/>
          <p:cNvSpPr/>
          <p:nvPr/>
        </p:nvSpPr>
        <p:spPr>
          <a:xfrm>
            <a:off x="877824" y="1581912"/>
            <a:ext cx="73152" cy="1819656"/>
          </a:xfrm>
          <a:prstGeom prst="rect">
            <a:avLst/>
          </a:prstGeom>
          <a:solidFill>
            <a:srgbClr val="2563EB"/>
          </a:solidFill>
          <a:ln w="12700">
            <a:solidFill>
              <a:srgbClr val="2563EB">
                <a:alpha val="0"/>
              </a:srgbClr>
            </a:solidFill>
            <a:prstDash val="solid"/>
          </a:ln>
        </p:spPr>
      </p:sp>
      <p:sp>
        <p:nvSpPr>
          <p:cNvPr id="11" name="Text 9"/>
          <p:cNvSpPr/>
          <p:nvPr/>
        </p:nvSpPr>
        <p:spPr>
          <a:xfrm>
            <a:off x="1033272" y="1581912"/>
            <a:ext cx="3200400" cy="219456"/>
          </a:xfrm>
          <a:prstGeom prst="rect">
            <a:avLst/>
          </a:prstGeom>
          <a:noFill/>
          <a:ln/>
        </p:spPr>
        <p:txBody>
          <a:bodyPr wrap="square" lIns="0" tIns="0" rIns="0" bIns="0" rtlCol="0" anchor="ctr"/>
          <a:lstStyle/>
          <a:p>
            <a:pPr indent="0" marL="0">
              <a:buNone/>
            </a:pPr>
            <a:r>
              <a:rPr lang="en-US" sz="1300" b="1" dirty="0">
                <a:solidFill>
                  <a:srgbClr val="0F172A"/>
                </a:solidFill>
              </a:rPr>
              <a:t>Bilan du stage</a:t>
            </a:r>
            <a:endParaRPr lang="en-US" sz="1300" dirty="0"/>
          </a:p>
        </p:txBody>
      </p:sp>
      <p:sp>
        <p:nvSpPr>
          <p:cNvPr id="12" name="Text 10"/>
          <p:cNvSpPr/>
          <p:nvPr/>
        </p:nvSpPr>
        <p:spPr>
          <a:xfrm>
            <a:off x="1033272" y="1892808"/>
            <a:ext cx="3246120" cy="1527048"/>
          </a:xfrm>
          <a:prstGeom prst="rect">
            <a:avLst/>
          </a:prstGeom>
          <a:noFill/>
          <a:ln/>
        </p:spPr>
        <p:txBody>
          <a:bodyPr wrap="square" lIns="0" tIns="0" rIns="0" bIns="0" rtlCol="0" anchor="t"/>
          <a:lstStyle/>
          <a:p>
            <a:pPr indent="0" marL="0">
              <a:buNone/>
            </a:pPr>
            <a:r>
              <a:rPr lang="en-US" sz="1050" dirty="0">
                <a:solidFill>
                  <a:srgbClr val="64748B"/>
                </a:solidFill>
              </a:rPr>
              <a:t>• Mise en place d une application full stack coherente et securisee.</a:t>
            </a:r>
            <a:endParaRPr lang="en-US" sz="1050" dirty="0"/>
          </a:p>
          <a:p>
            <a:pPr indent="0" marL="0">
              <a:buNone/>
            </a:pPr>
            <a:r>
              <a:rPr lang="en-US" sz="1050" dirty="0">
                <a:solidFill>
                  <a:srgbClr val="64748B"/>
                </a:solidFill>
              </a:rPr>
              <a:t>• Couverture des besoins de reference, de terrain, de supervision et de reporting.</a:t>
            </a:r>
            <a:endParaRPr lang="en-US" sz="1050" dirty="0"/>
          </a:p>
        </p:txBody>
      </p:sp>
      <p:sp>
        <p:nvSpPr>
          <p:cNvPr id="13" name="Shape 11"/>
          <p:cNvSpPr/>
          <p:nvPr/>
        </p:nvSpPr>
        <p:spPr>
          <a:xfrm>
            <a:off x="4553712" y="1417320"/>
            <a:ext cx="3383280" cy="2148840"/>
          </a:xfrm>
          <a:prstGeom prst="roundRect">
            <a:avLst>
              <a:gd name="adj" fmla="val 4255"/>
            </a:avLst>
          </a:prstGeom>
          <a:solidFill>
            <a:srgbClr val="FFFFFF"/>
          </a:solidFill>
          <a:ln w="12700">
            <a:solidFill>
              <a:srgbClr val="CBD5E1"/>
            </a:solidFill>
            <a:prstDash val="solid"/>
          </a:ln>
        </p:spPr>
      </p:sp>
      <p:sp>
        <p:nvSpPr>
          <p:cNvPr id="14" name="Shape 12"/>
          <p:cNvSpPr/>
          <p:nvPr/>
        </p:nvSpPr>
        <p:spPr>
          <a:xfrm>
            <a:off x="4718304" y="1581912"/>
            <a:ext cx="73152" cy="1819656"/>
          </a:xfrm>
          <a:prstGeom prst="rect">
            <a:avLst/>
          </a:prstGeom>
          <a:solidFill>
            <a:srgbClr val="0891B2"/>
          </a:solidFill>
          <a:ln w="12700">
            <a:solidFill>
              <a:srgbClr val="0891B2">
                <a:alpha val="0"/>
              </a:srgbClr>
            </a:solidFill>
            <a:prstDash val="solid"/>
          </a:ln>
        </p:spPr>
      </p:sp>
      <p:sp>
        <p:nvSpPr>
          <p:cNvPr id="15" name="Text 13"/>
          <p:cNvSpPr/>
          <p:nvPr/>
        </p:nvSpPr>
        <p:spPr>
          <a:xfrm>
            <a:off x="4873752" y="1581912"/>
            <a:ext cx="2926080" cy="219456"/>
          </a:xfrm>
          <a:prstGeom prst="rect">
            <a:avLst/>
          </a:prstGeom>
          <a:noFill/>
          <a:ln/>
        </p:spPr>
        <p:txBody>
          <a:bodyPr wrap="square" lIns="0" tIns="0" rIns="0" bIns="0" rtlCol="0" anchor="ctr"/>
          <a:lstStyle/>
          <a:p>
            <a:pPr indent="0" marL="0">
              <a:buNone/>
            </a:pPr>
            <a:r>
              <a:rPr lang="en-US" sz="1300" b="1" dirty="0">
                <a:solidFill>
                  <a:srgbClr val="0F172A"/>
                </a:solidFill>
              </a:rPr>
              <a:t>Competences acquises</a:t>
            </a:r>
            <a:endParaRPr lang="en-US" sz="1300" dirty="0"/>
          </a:p>
        </p:txBody>
      </p:sp>
      <p:sp>
        <p:nvSpPr>
          <p:cNvPr id="16" name="Text 14"/>
          <p:cNvSpPr/>
          <p:nvPr/>
        </p:nvSpPr>
        <p:spPr>
          <a:xfrm>
            <a:off x="4873752" y="1892808"/>
            <a:ext cx="2971800" cy="1527048"/>
          </a:xfrm>
          <a:prstGeom prst="rect">
            <a:avLst/>
          </a:prstGeom>
          <a:noFill/>
          <a:ln/>
        </p:spPr>
        <p:txBody>
          <a:bodyPr wrap="square" lIns="0" tIns="0" rIns="0" bIns="0" rtlCol="0" anchor="t"/>
          <a:lstStyle/>
          <a:p>
            <a:pPr indent="0" marL="0">
              <a:buNone/>
            </a:pPr>
            <a:r>
              <a:rPr lang="en-US" sz="1050" dirty="0">
                <a:solidFill>
                  <a:srgbClr val="64748B"/>
                </a:solidFill>
              </a:rPr>
              <a:t>• React / Vite / Tailwind</a:t>
            </a:r>
            <a:endParaRPr lang="en-US" sz="1050" dirty="0"/>
          </a:p>
          <a:p>
            <a:pPr indent="0" marL="0">
              <a:buNone/>
            </a:pPr>
            <a:r>
              <a:rPr lang="en-US" sz="1050" dirty="0">
                <a:solidFill>
                  <a:srgbClr val="64748B"/>
                </a:solidFill>
              </a:rPr>
              <a:t>• Laravel / API REST / Sanctum</a:t>
            </a:r>
            <a:endParaRPr lang="en-US" sz="1050" dirty="0"/>
          </a:p>
          <a:p>
            <a:pPr indent="0" marL="0">
              <a:buNone/>
            </a:pPr>
            <a:r>
              <a:rPr lang="en-US" sz="1050" dirty="0">
                <a:solidFill>
                  <a:srgbClr val="64748B"/>
                </a:solidFill>
              </a:rPr>
              <a:t>• MySQL / migrations / tests</a:t>
            </a:r>
            <a:endParaRPr lang="en-US" sz="1050" dirty="0"/>
          </a:p>
          <a:p>
            <a:pPr indent="0" marL="0">
              <a:buNone/>
            </a:pPr>
            <a:r>
              <a:rPr lang="en-US" sz="1050" dirty="0">
                <a:solidFill>
                  <a:srgbClr val="64748B"/>
                </a:solidFill>
              </a:rPr>
              <a:t>• RBAC / cartographie / exports</a:t>
            </a:r>
            <a:endParaRPr lang="en-US" sz="1050" dirty="0"/>
          </a:p>
        </p:txBody>
      </p:sp>
      <p:sp>
        <p:nvSpPr>
          <p:cNvPr id="17" name="Shape 15"/>
          <p:cNvSpPr/>
          <p:nvPr/>
        </p:nvSpPr>
        <p:spPr>
          <a:xfrm>
            <a:off x="8119872" y="1417320"/>
            <a:ext cx="3383280" cy="2148840"/>
          </a:xfrm>
          <a:prstGeom prst="roundRect">
            <a:avLst>
              <a:gd name="adj" fmla="val 4255"/>
            </a:avLst>
          </a:prstGeom>
          <a:solidFill>
            <a:srgbClr val="FFFFFF"/>
          </a:solidFill>
          <a:ln w="12700">
            <a:solidFill>
              <a:srgbClr val="CBD5E1"/>
            </a:solidFill>
            <a:prstDash val="solid"/>
          </a:ln>
        </p:spPr>
      </p:sp>
      <p:sp>
        <p:nvSpPr>
          <p:cNvPr id="18" name="Shape 16"/>
          <p:cNvSpPr/>
          <p:nvPr/>
        </p:nvSpPr>
        <p:spPr>
          <a:xfrm>
            <a:off x="8284464" y="1581912"/>
            <a:ext cx="73152" cy="1819656"/>
          </a:xfrm>
          <a:prstGeom prst="rect">
            <a:avLst/>
          </a:prstGeom>
          <a:solidFill>
            <a:srgbClr val="059669"/>
          </a:solidFill>
          <a:ln w="12700">
            <a:solidFill>
              <a:srgbClr val="059669">
                <a:alpha val="0"/>
              </a:srgbClr>
            </a:solidFill>
            <a:prstDash val="solid"/>
          </a:ln>
        </p:spPr>
      </p:sp>
      <p:sp>
        <p:nvSpPr>
          <p:cNvPr id="19" name="Text 17"/>
          <p:cNvSpPr/>
          <p:nvPr/>
        </p:nvSpPr>
        <p:spPr>
          <a:xfrm>
            <a:off x="8439912" y="1581912"/>
            <a:ext cx="2926080" cy="219456"/>
          </a:xfrm>
          <a:prstGeom prst="rect">
            <a:avLst/>
          </a:prstGeom>
          <a:noFill/>
          <a:ln/>
        </p:spPr>
        <p:txBody>
          <a:bodyPr wrap="square" lIns="0" tIns="0" rIns="0" bIns="0" rtlCol="0" anchor="ctr"/>
          <a:lstStyle/>
          <a:p>
            <a:pPr indent="0" marL="0">
              <a:buNone/>
            </a:pPr>
            <a:r>
              <a:rPr lang="en-US" sz="1300" b="1" dirty="0">
                <a:solidFill>
                  <a:srgbClr val="0F172A"/>
                </a:solidFill>
              </a:rPr>
              <a:t>Verification finale</a:t>
            </a:r>
            <a:endParaRPr lang="en-US" sz="1300" dirty="0"/>
          </a:p>
        </p:txBody>
      </p:sp>
      <p:sp>
        <p:nvSpPr>
          <p:cNvPr id="20" name="Text 18"/>
          <p:cNvSpPr/>
          <p:nvPr/>
        </p:nvSpPr>
        <p:spPr>
          <a:xfrm>
            <a:off x="8439912" y="1892808"/>
            <a:ext cx="2971800" cy="1527048"/>
          </a:xfrm>
          <a:prstGeom prst="rect">
            <a:avLst/>
          </a:prstGeom>
          <a:noFill/>
          <a:ln/>
        </p:spPr>
        <p:txBody>
          <a:bodyPr wrap="square" lIns="0" tIns="0" rIns="0" bIns="0" rtlCol="0" anchor="t"/>
          <a:lstStyle/>
          <a:p>
            <a:pPr indent="0" marL="0">
              <a:buNone/>
            </a:pPr>
            <a:r>
              <a:rPr lang="en-US" sz="1050" dirty="0">
                <a:solidFill>
                  <a:srgbClr val="64748B"/>
                </a:solidFill>
              </a:rPr>
              <a:t>• 15 tests backend passes.</a:t>
            </a:r>
            <a:endParaRPr lang="en-US" sz="1050" dirty="0"/>
          </a:p>
          <a:p>
            <a:pPr indent="0" marL="0">
              <a:buNone/>
            </a:pPr>
            <a:r>
              <a:rPr lang="en-US" sz="1050" dirty="0">
                <a:solidFill>
                  <a:srgbClr val="64748B"/>
                </a:solidFill>
              </a:rPr>
              <a:t>• Build frontend production execute avec succes.</a:t>
            </a:r>
            <a:endParaRPr lang="en-US" sz="1050" dirty="0"/>
          </a:p>
          <a:p>
            <a:pPr indent="0" marL="0">
              <a:buNone/>
            </a:pPr>
            <a:r>
              <a:rPr lang="en-US" sz="1050" dirty="0">
                <a:solidFill>
                  <a:srgbClr val="64748B"/>
                </a:solidFill>
              </a:rPr>
              <a:t>• Presentation generee directement depuis cette analyse.</a:t>
            </a:r>
            <a:endParaRPr lang="en-US" sz="1050" dirty="0"/>
          </a:p>
        </p:txBody>
      </p:sp>
      <p:sp>
        <p:nvSpPr>
          <p:cNvPr id="21" name="Shape 19"/>
          <p:cNvSpPr/>
          <p:nvPr/>
        </p:nvSpPr>
        <p:spPr>
          <a:xfrm>
            <a:off x="713232" y="3886200"/>
            <a:ext cx="10789920" cy="1828800"/>
          </a:xfrm>
          <a:prstGeom prst="roundRect">
            <a:avLst>
              <a:gd name="adj" fmla="val 5000"/>
            </a:avLst>
          </a:prstGeom>
          <a:solidFill>
            <a:srgbClr val="FFFFFF"/>
          </a:solidFill>
          <a:ln w="12700">
            <a:solidFill>
              <a:srgbClr val="CBD5E1"/>
            </a:solidFill>
            <a:prstDash val="solid"/>
          </a:ln>
        </p:spPr>
      </p:sp>
      <p:sp>
        <p:nvSpPr>
          <p:cNvPr id="22" name="Shape 20"/>
          <p:cNvSpPr/>
          <p:nvPr/>
        </p:nvSpPr>
        <p:spPr>
          <a:xfrm>
            <a:off x="877824" y="4050792"/>
            <a:ext cx="73152" cy="1499616"/>
          </a:xfrm>
          <a:prstGeom prst="rect">
            <a:avLst/>
          </a:prstGeom>
          <a:solidFill>
            <a:srgbClr val="D97706"/>
          </a:solidFill>
          <a:ln w="12700">
            <a:solidFill>
              <a:srgbClr val="D97706">
                <a:alpha val="0"/>
              </a:srgbClr>
            </a:solidFill>
            <a:prstDash val="solid"/>
          </a:ln>
        </p:spPr>
      </p:sp>
      <p:sp>
        <p:nvSpPr>
          <p:cNvPr id="23" name="Text 21"/>
          <p:cNvSpPr/>
          <p:nvPr/>
        </p:nvSpPr>
        <p:spPr>
          <a:xfrm>
            <a:off x="1033272" y="4050792"/>
            <a:ext cx="10332720" cy="219456"/>
          </a:xfrm>
          <a:prstGeom prst="rect">
            <a:avLst/>
          </a:prstGeom>
          <a:noFill/>
          <a:ln/>
        </p:spPr>
        <p:txBody>
          <a:bodyPr wrap="square" lIns="0" tIns="0" rIns="0" bIns="0" rtlCol="0" anchor="ctr"/>
          <a:lstStyle/>
          <a:p>
            <a:pPr indent="0" marL="0">
              <a:buNone/>
            </a:pPr>
            <a:r>
              <a:rPr lang="en-US" sz="1300" b="1" dirty="0">
                <a:solidFill>
                  <a:srgbClr val="0F172A"/>
                </a:solidFill>
              </a:rPr>
              <a:t>Perspectives d amelioration realistes</a:t>
            </a:r>
            <a:endParaRPr lang="en-US" sz="1300" dirty="0"/>
          </a:p>
        </p:txBody>
      </p:sp>
      <p:sp>
        <p:nvSpPr>
          <p:cNvPr id="24" name="Text 22"/>
          <p:cNvSpPr/>
          <p:nvPr/>
        </p:nvSpPr>
        <p:spPr>
          <a:xfrm>
            <a:off x="1033272" y="4361688"/>
            <a:ext cx="10378440" cy="1207008"/>
          </a:xfrm>
          <a:prstGeom prst="rect">
            <a:avLst/>
          </a:prstGeom>
          <a:noFill/>
          <a:ln/>
        </p:spPr>
        <p:txBody>
          <a:bodyPr wrap="square" lIns="0" tIns="0" rIns="0" bIns="0" rtlCol="0" anchor="t"/>
          <a:lstStyle/>
          <a:p>
            <a:pPr indent="0" marL="0">
              <a:buNone/>
            </a:pPr>
            <a:r>
              <a:rPr lang="en-US" sz="1050" dirty="0">
                <a:solidFill>
                  <a:srgbClr val="64748B"/>
                </a:solidFill>
              </a:rPr>
              <a:t>• Raccorder le module Releves au routage principal du frontend.</a:t>
            </a:r>
            <a:endParaRPr lang="en-US" sz="1050" dirty="0"/>
          </a:p>
          <a:p>
            <a:pPr indent="0" marL="0">
              <a:buNone/>
            </a:pPr>
            <a:r>
              <a:rPr lang="en-US" sz="1050" dirty="0">
                <a:solidFill>
                  <a:srgbClr val="64748B"/>
                </a:solidFill>
              </a:rPr>
              <a:t>• Aligner la route frontend viewer/reports avec la politique reelle d export cote API.</a:t>
            </a:r>
            <a:endParaRPr lang="en-US" sz="1050" dirty="0"/>
          </a:p>
          <a:p>
            <a:pPr indent="0" marL="0">
              <a:buNone/>
            </a:pPr>
            <a:r>
              <a:rPr lang="en-US" sz="1050" dirty="0">
                <a:solidFill>
                  <a:srgbClr val="64748B"/>
                </a:solidFill>
              </a:rPr>
              <a:t>• Reduire le bundle frontend par code splitting : le build signale un chunk principal &gt; 500 kB.</a:t>
            </a:r>
            <a:endParaRPr lang="en-US" sz="1050" dirty="0"/>
          </a:p>
          <a:p>
            <a:pPr indent="0" marL="0">
              <a:buNone/>
            </a:pPr>
            <a:r>
              <a:rPr lang="en-US" sz="1050" dirty="0">
                <a:solidFill>
                  <a:srgbClr val="64748B"/>
                </a:solidFill>
              </a:rPr>
              <a:t>• Remplacer a terme le polling de notifications par un mecanisme temps reel si le besoin metier grandit.</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Rapport de stage - RADEETA Management System</dc:title>
  <dc:subject>Rapport de stage professionnel genere a partir du code source du projet RADEETA Management System</dc:subject>
  <dc:creator>OpenAI Codex</dc:creator>
  <cp:lastModifiedBy>OpenAI Codex</cp:lastModifiedBy>
  <cp:revision>1</cp:revision>
  <dcterms:created xsi:type="dcterms:W3CDTF">2026-05-10T07:42:30Z</dcterms:created>
  <dcterms:modified xsi:type="dcterms:W3CDTF">2026-05-10T07:42:30Z</dcterms:modified>
</cp:coreProperties>
</file>